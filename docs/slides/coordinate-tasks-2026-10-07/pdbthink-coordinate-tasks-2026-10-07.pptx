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describes the coordinate-task training and evaluation release, not the separate sequence-prediction tracks. All counts are pinned. No Snowball learning improvement is claimed: the final slides propose experiments.</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sees sanitised coordinate text and a question. Gold is computed from those exact coordinates after rotation, rounding and any permitted crop. The scorer runs outside the model. RLVR means reinforcement learning with verifiable rewards. These tasks do not ask for structure prediction from sequence.</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groups here are for presentation. S05 is a global fold-class task; S02 identifies a chemical modification. The exact task definitions live in the pinned source snapshot. We reuse those definitions but generate new semantic tasks on a benchmark-disjoint source pool.</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pdbthink-g01-00686a997cee6bd5ebce. Train split, task release v1.3.0. Full original prompt, hidden gold and checksums are in evidence.json. The example was selected from the first train shard for a compact visual, not as a representative random sample. Independently parsed fixed-width columns and math.dist gave 10.903025359963 Å; packaged gold is 10.903 Å. Answer 10.90 satisfies tolerance ±0.02 Å. The complete model input has 54 atoms; this slide is explicitly an excerpt, not a new evaluation prompt.</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acquisition touches the network. Stable identifiers determine seeds. Question proposals identify parameters; they are not accepted as gold. The oracle runs on the final rotated, rounded and permitted-cropped structures. A separate text parser reconstructs the displayed PDB and invokes the oracle again. Ambiguities and failed margins are rejected into the ledger. A rotated copy alone never creates a new semantic instance. All 100,000 packaged tasks passed coordinate recomputation and solution verification in the release audit.</a:t>
            </a:r>
          </a:p>
          <a:p/>
          <a:p>
            <a:r>
              <a:t>Evidence: https://github.com/Open-Athena/pdbthink/tree/0a49f3b0fb6dbcb356de4a5819326fbf44f75180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Exclusions cover entry IDs, exact full-entity and observed-chain protein sequences, and RCSB 30% sequence clusters associated with configured benchmark sources. Every protein partner is audited. Entries connected by sequences, clusters or two-state pairs form one source group. Groups are deterministically assigned to a target 90/5/5 split, giving the displayed actual counts. All families occur in all three splits. Zero audited overlap is relative to that frozen inventory; it is not a claim of freedom from foundation-model pretraining.</a:t>
            </a:r>
          </a:p>
          <a:p/>
          <a:p>
            <a:r>
              <a:t>Evidence: https://huggingface.co/datasets/open-athena/pdbthink-coordinate-tasks/blob/3734406cb97b1702844319f9a5d860cbbf8fe660/manifest.json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semantic tasks, not independent proteins. The pool has 2,671 PDB entries in 1,867 source groups. The expanded release increases questions per source, not tenfold independent structures. The nine large families sum to 88,152 tasks. Use family-aware sampling and source-group-aware evaluation; a row-weighted average can obscure low-frequency families.</a:t>
            </a:r>
          </a:p>
          <a:p/>
          <a:p>
            <a:r>
              <a:t>Evidence: https://huggingface.co/datasets/open-athena/pdbthink-coordinate-tasks/blob/3734406cb97b1702844319f9a5d860cbbf8fe660/manifest.json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task_binary contains the instruction, prompt.json, task.toml, Dockerfile and hidden test verifier. Gold and tests are evaluator-only; they must not be forwarded to the model. solution_binary contains the oracle final answer and is used only for offline mechanical checks. CoordinateNoToolsAgent sends system/user messages with tools explicitly disabled, retains raw responses, audits tool events and writes answer.txt on the host. Generic terminal agents violate this protocol. Contact-set reward requires the full correct set; partial-set F1 is diagnostic only.</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 scoring 1.1.0 compares exact rational differences of the decimal representations of parsed values, retaining the original tolerance. The numeric parser itself still parses floats. The teacher audit found 11 affected responses across two tasks. Prompt v5 states G04's overlap/radii, covalent-neighbour and metal exclusions, unconditional sulfur SG–SG exclusion, and residue-pair ranking. All 232 G04 prompts changed. The correction audit tested the actual packaged verifier in Docker. Historical GLM v1.0.0 traces remain on task v1.2.0 and are not evaluations of the revised G04 question.</a:t>
            </a:r>
          </a:p>
          <a:p/>
          <a:p>
            <a:r>
              <a:t>Evidence: https://huggingface.co/datasets/open-athena/pdbthink-coordinate-tasks/blob/3734406cb97b1702844319f9a5d860cbbf8fe660/audits/contract_revision/regressions.json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Snowball checkpoint: open-athena/Snowball-67B-A2B-5.7T-Mixed-RLVR-Step38 at cfc1d845dae89b067cdc7250d0164abefa5a69cf. The native window is 32,768 tokens. 8K headroom means prompt plus generation prefix is at most 24,576 tokens. This is a cohort filter, not an imposed generation cap. Actual SFT eligibility includes the teacher completion, template delimiters and end token. Across all splits, 30,418 tasks qualify: 28,045 train, 1,003 validation and 1,370 test. T01 has zero 8K-headroom tasks. The train cohort covers 18 families; all-split eligible tasks span 487 source groups.</a:t>
            </a:r>
          </a:p>
          <a:p/>
          <a:p>
            <a:r>
              <a:t>Evidence: https://huggingface.co/datasets/open-athena/pdbthink-coordinate-tasks/blob/3734406cb97b1702844319f9a5d860cbbf8fe660/snowball_context.json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cohort is training-only and spans 438 source groups. Tools are explicitly disabled; the endpoint uses tools:null and tool_choice:none. High reasoning effort, temperature 1.0, top-p 0.95. Each retry uses the identical prompt and a fresh deterministic seed, with no previous answers, gold or verifier feedback. Stop at first native-verifier success or ten scored attempts. Transport errors are separate. Teacher generation receives its full remaining served context of 262,144 tokens, rather than an 8,192-token cap. The teacher's immutable served weight revision is unavailable; the tokenizer, task release and request policy are pinned.</a:t>
            </a:r>
          </a:p>
          <a:p/>
          <a:p>
            <a:r>
              <a:t>Evidence: https://huggingface.co/datasets/open-athena/pdbthink-glm53-teacher-traces/tree/91baf80abe4cd10e3258bbcc0addafd4d3d32b22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 denominator is the 2,156 tasks that failed the first attempt; the right-hand headline percentages instead use all 28,045 tasks in the eligible training cohort. Success counts by first successful attempt: {"1": 25889, "2": 1388, "3": 282, "4": 105, "5": 76, "6": 45, "7": 35, "8": 25, "9": 23, "10": 14}. These are observed adaptive-run yields, not a fixed-sample pass@k estimator. First-try accuracy is 92.31%, by three attempts 98.27%, by ten 99.42%. By attempts two, three and ten, retries recovered 1,388, 1,670 and 1,993 initially failed tasks respectively. 163 tasks exhausted ten attempts under the frozen verifier. Eleven numeric boundary rejections across two tasks and an underspecified clash rule were later audited; historical scores remain unchanged. Correct final answers do not verify every reasoning step, and retries can find categorical labels by chance.</a:t>
            </a:r>
          </a:p>
          <a:p/>
          <a:p>
            <a:r>
              <a:t>Evidence: https://huggingface.co/datasets/open-athena/pdbthink-glm53-teacher-traces/blob/91baf80abe4cd10e3258bbcc0addafd4d3d32b22/summary.json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Families are selected for lower first-attempt success, not as a representative subset. All results are historical task-v1.2.0 native-verifier results. Interface contacts have only 12 tasks, ligand contacts 53, clashes 58 and metal coordination 92; avoid broad conclusions from those denominators. Solvent exposure and secondary structure account for 128 of the 163 exhausted tasks. G04 results predate the clarified SG–SG exclusion. The full family table is included later.</a:t>
            </a:r>
          </a:p>
          <a:p/>
          <a:p>
            <a:r>
              <a:t>Evidence: https://huggingface.co/datasets/open-athena/pdbthink-glm53-teacher-traces/blob/91baf80abe4cd10e3258bbcc0addafd4d3d32b22/summary.json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describe the historical teacher release. Of 28,045 cohort tasks, 27,882 have a native-verifier success. 3,360 first-correct responses exceed Snowball's 32,768-token conversation limit, leaving 24,522 SFT examples. Of those, 22,094 have assistant completion length at most 8,192 Snowball tokens. No trace is truncated. The 8K subset is stricter than whole-conversation fit and is not the teacher's generation cap. 22,862 SFT examples have a separately returned reasoning field; 1,660 are answer-only targets with no invented reasoning. I01 contributes zero SFT examples, G04 twelve, and T01 has no eligible prompts.</a:t>
            </a:r>
          </a:p>
          <a:p/>
          <a:p>
            <a:r>
              <a:t>Evidence: https://huggingface.co/datasets/open-athena/pdbthink-glm53-teacher-traces/blob/91baf80abe4cd10e3258bbcc0addafd4d3d32b22/summary.json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Recommendations, not observed results. First make a separately versioned teacher revision: replay numeric scoring with task v1.3, regenerate G04 against the clarified prompt, and retain the historical release. For an initial SFT run, start from the completion_within_8k subset after that reconciliation, apply exact full-sequence token checks, and use assistant-only loss with the pinned thinking-enabled Snowball template. Compare a row-proportional mixture with a family-aware mixture while retaining parsing anchors. Then compare SFT+RL with SFT-only under matched evaluation and a recorded training budget. Do not select RL families solely from teacher failures; use held-out Snowball validation results. Family and source sampling need attention because tasks share structures.</a:t>
            </a:r>
          </a:p>
          <a:p/>
          <a:p>
            <a:r>
              <a:t>Evidence: https://huggingface.co/datasets/open-athena/pdbthink-glm53-teacher-traces/tree/91baf80abe4cd10e3258bbcc0addafd4d3d32b22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Recommendations only. Start with the fixed v1.3 8K-headroom cohort: 1,003 validation and 1,370 test tasks. Use validation for mixture and checkpoint choices and reserve test for final comparisons. There are no S06, I01 or T01 tasks in either held-out 8K subset. Across the combined held-out subsets, G04 has only five tasks and S07 only three. Report that coverage rather than an all-19-family headline; acquire new independently grouped short instances to improve it. Exact split/family counts were derived from the release's snowball_context.parquet and saved in evidence.json. Report both macro family accuracy and task-weighted accuracy, group-aware uncertainty, schema/format failures, truncation and output tokens. Evaluations must use the largest supported output budget fitting each exact prompt and keep tool use explicitly disabled. Original PDBThink transfer evaluation is separate from the new held-out task pool. Selection effects in teacher retries and repeated sources prevent interpreting the teacher's 99.42% adaptive yield as the student's target single-attempt accuracy.</a:t>
            </a:r>
          </a:p>
          <a:p/>
          <a:p>
            <a:r>
              <a:t>Evidence: https://huggingface.co/datasets/open-athena/pdbthink-coordinate-tasks/blob/3734406cb97b1702844319f9a5d860cbbf8fe660/snowball_context.json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Task-pool totals are all splits in task v1.3.0. Eligible train is the v1.2.0 teacher cohort, whose task identities are identical to the v1.3.0 8K training cohort. First and by-ten percentages are historical native-verifier outcomes. SFT counts are first-correct conversations fitting Snowball. The teacher source summary and task manifest supply every cell. Avoid conflating these denominators.</a:t>
            </a:r>
          </a:p>
          <a:p/>
          <a:p>
            <a:r>
              <a:t>Evidence: https://huggingface.co/datasets/open-athena/pdbthink-glm53-teacher-traces/blob/91baf80abe4cd10e3258bbcc0addafd4d3d32b22/summary.json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snippets identify released datasets only; they do not invoke models. Task archives must be unpacked on the host; only prompt.json system/user content may be sent to the model. The bundled no-tools Harbor adapter is CoordinateNoToolsAgent. For SFT, use messages with the pinned Snowball template and enable_thinking=True, mask system/user tokens, and check exact full conversation length. The teacher dataset uses v1.2.0 task prompts and rewards; reconcile this in a new release before claiming a v1.3 teacher run. Full immutable revisions appear in the following slide and in evidence.json.</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release: https://huggingface.co/datasets/open-athena/pdbthink-coordinate-tasks/tree/3734406cb97b1702844319f9a5d860cbbf8fe660</a:t>
            </a:r>
          </a:p>
          <a:p>
            <a:r>
              <a:t>Manifest: https://huggingface.co/datasets/open-athena/pdbthink-coordinate-tasks/blob/3734406cb97b1702844319f9a5d860cbbf8fe660/manifest.json</a:t>
            </a:r>
          </a:p>
          <a:p>
            <a:r>
              <a:t>Context audit: https://huggingface.co/datasets/open-athena/pdbthink-coordinate-tasks/blob/3734406cb97b1702844319f9a5d860cbbf8fe660/snowball_context.json</a:t>
            </a:r>
          </a:p>
          <a:p>
            <a:r>
              <a:t>Correction evidence: https://huggingface.co/datasets/open-athena/pdbthink-coordinate-tasks/blob/3734406cb97b1702844319f9a5d860cbbf8fe660/audits/contract_revision/regressions.json</a:t>
            </a:r>
          </a:p>
          <a:p>
            <a:r>
              <a:t>Teacher release: https://huggingface.co/datasets/open-athena/pdbthink-glm53-teacher-traces/tree/91baf80abe4cd10e3258bbcc0addafd4d3d32b22</a:t>
            </a:r>
          </a:p>
          <a:p>
            <a:r>
              <a:t>Teacher summary: https://huggingface.co/datasets/open-athena/pdbthink-glm53-teacher-traces/blob/91baf80abe4cd10e3258bbcc0addafd4d3d32b22/summary.json</a:t>
            </a:r>
          </a:p>
          <a:p>
            <a:r>
              <a:t>Generator code: https://github.com/Open-Athena/pdbthink/tree/0a49f3b0fb6dbcb356de4a5819326fbf44f75180</a:t>
            </a:r>
          </a:p>
          <a:p>
            <a:r>
              <a:t>Snowball tokenizer revision: cfc1d845dae89b067cdc7250d0164abefa5a69cf. The teacher's immutable served weight revision is unavailable. All figures refer to these pins rather than a moving main branch.</a:t>
            </a:r>
          </a:p>
          <a:p/>
          <a:p>
            <a:r>
              <a:t>Evidence: https://huggingface.co/datasets/open-athena/pdbthink-coordinate-tasks/tree/3734406cb97b1702844319f9a5d860cbbf8fe660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Open-Athena/pdbthink/tree/0a49f3b0fb6dbcb356de4a5819326fbf44f75180"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blob/3734406cb97b1702844319f9a5d860cbbf8fe660/manifest.json"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blob/3734406cb97b1702844319f9a5d860cbbf8fe660/manifest.json"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blob/3734406cb97b1702844319f9a5d860cbbf8fe660/audits/contract_revision/regressions.json"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blob/3734406cb97b1702844319f9a5d860cbbf8fe660/snowball_context.json"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glm53-teacher-traces/tree/91baf80abe4cd10e3258bbcc0addafd4d3d32b22"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glm53-teacher-traces/blob/91baf80abe4cd10e3258bbcc0addafd4d3d32b22/summary.json"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glm53-teacher-traces/blob/91baf80abe4cd10e3258bbcc0addafd4d3d32b22/summary.json"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glm53-teacher-traces/blob/91baf80abe4cd10e3258bbcc0addafd4d3d32b22/summary.json"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glm53-teacher-traces/tree/91baf80abe4cd10e3258bbcc0addafd4d3d32b22"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blob/3734406cb97b1702844319f9a5d860cbbf8fe660/snowball_context.json"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glm53-teacher-traces/blob/91baf80abe4cd10e3258bbcc0addafd4d3d32b22/summary.json"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open-athena/pdbthink-coordinate-tasks/tree/3734406cb97b1702844319f9a5d860cbbf8fe660" TargetMode="External"/><Relationship Id="rId3" Type="http://schemas.openxmlformats.org/officeDocument/2006/relationships/notesSlide" Target="../notesSlides/notesSlide19.xml"/><Relationship Id="rId4" Type="http://schemas.openxmlformats.org/officeDocument/2006/relationships/hyperlink" Target="https://huggingface.co/datasets/open-athena/pdbthink-glm53-teacher-traces/tree/91baf80abe4cd10e3258bbcc0addafd4d3d32b22" TargetMode="External"/><Relationship Id="rId5" Type="http://schemas.openxmlformats.org/officeDocument/2006/relationships/hyperlink" Target="https://huggingface.co/datasets/open-athena/pdbthink-coordinate-tasks/blob/3734406cb97b1702844319f9a5d860cbbf8fe660/snowball_context.js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82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91E1CD"/>
                </a:solidFill>
                <a:latin typeface="Arial"/>
              </a:rPr>
              <a:t>OPEN ATHENA · TECHNICAL BRIEFING · 7 OCTOBER 2026</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FFFFFF"/>
                </a:solidFill>
                <a:latin typeface="Arial"/>
              </a:rPr>
              <a:t/>
            </a:r>
          </a:p>
        </p:txBody>
      </p:sp>
      <p:cxnSp>
        <p:nvCxnSpPr>
          <p:cNvPr id="4" name="Connector 3"/>
          <p:cNvCxnSpPr/>
          <p:nvPr/>
        </p:nvCxnSpPr>
        <p:spPr>
          <a:xfrm>
            <a:off x="530352" y="6473952"/>
            <a:ext cx="11100816" cy="0"/>
          </a:xfrm>
          <a:prstGeom prst="line">
            <a:avLst/>
          </a:prstGeom>
          <a:ln w="7620">
            <a:solidFill>
              <a:srgbClr val="36505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A8BBC0"/>
                </a:solidFill>
                <a:latin typeface="Arial"/>
              </a:rPr>
              <a:t>OPEN ATHENA  /  PDBTHINK COORDINATE TASKS</a:t>
            </a:r>
          </a:p>
        </p:txBody>
      </p:sp>
      <p:sp>
        <p:nvSpPr>
          <p:cNvPr id="6" name="TextBox 5">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A8BBC0"/>
                </a:solidFill>
                <a:latin typeface="Arial"/>
              </a:rPr>
              <a:t>Task release v1.3.0</a:t>
            </a:r>
          </a:p>
        </p:txBody>
      </p:sp>
      <p:sp>
        <p:nvSpPr>
          <p:cNvPr id="7" name="TextBox 6"/>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A8BBC0"/>
                </a:solidFill>
                <a:latin typeface="Arial"/>
              </a:rPr>
              <a:t>01</a:t>
            </a:r>
          </a:p>
        </p:txBody>
      </p:sp>
      <p:sp>
        <p:nvSpPr>
          <p:cNvPr id="8" name="TextBox 7"/>
          <p:cNvSpPr txBox="1"/>
          <p:nvPr/>
        </p:nvSpPr>
        <p:spPr>
          <a:xfrm>
            <a:off x="621792" y="1207008"/>
            <a:ext cx="7040880" cy="868680"/>
          </a:xfrm>
          <a:prstGeom prst="rect">
            <a:avLst/>
          </a:prstGeom>
          <a:noFill/>
        </p:spPr>
        <p:txBody>
          <a:bodyPr wrap="square" lIns="0" rIns="0" tIns="0" bIns="0" anchor="t">
            <a:spAutoFit/>
          </a:bodyPr>
          <a:lstStyle/>
          <a:p>
            <a:pPr algn="l">
              <a:lnSpc>
                <a:spcPct val="112000"/>
              </a:lnSpc>
              <a:spcBef>
                <a:spcPts val="0"/>
              </a:spcBef>
              <a:spcAft>
                <a:spcPts val="0"/>
              </a:spcAft>
            </a:pPr>
            <a:r>
              <a:rPr sz="5400" b="1">
                <a:solidFill>
                  <a:srgbClr val="FFFFFF"/>
                </a:solidFill>
                <a:latin typeface="Arial"/>
              </a:rPr>
              <a:t>PDBThink</a:t>
            </a:r>
          </a:p>
        </p:txBody>
      </p:sp>
      <p:sp>
        <p:nvSpPr>
          <p:cNvPr id="9" name="TextBox 8"/>
          <p:cNvSpPr txBox="1"/>
          <p:nvPr/>
        </p:nvSpPr>
        <p:spPr>
          <a:xfrm>
            <a:off x="621792" y="2093976"/>
            <a:ext cx="7452360" cy="777240"/>
          </a:xfrm>
          <a:prstGeom prst="rect">
            <a:avLst/>
          </a:prstGeom>
          <a:noFill/>
        </p:spPr>
        <p:txBody>
          <a:bodyPr wrap="square" lIns="0" rIns="0" tIns="0" bIns="0" anchor="t">
            <a:spAutoFit/>
          </a:bodyPr>
          <a:lstStyle/>
          <a:p>
            <a:pPr algn="l">
              <a:lnSpc>
                <a:spcPct val="112000"/>
              </a:lnSpc>
              <a:spcBef>
                <a:spcPts val="0"/>
              </a:spcBef>
              <a:spcAft>
                <a:spcPts val="0"/>
              </a:spcAft>
            </a:pPr>
            <a:r>
              <a:rPr sz="4200" b="1">
                <a:solidFill>
                  <a:srgbClr val="91E1CD"/>
                </a:solidFill>
                <a:latin typeface="Arial"/>
              </a:rPr>
              <a:t>Coordinate Tasks</a:t>
            </a:r>
          </a:p>
        </p:txBody>
      </p:sp>
      <p:sp>
        <p:nvSpPr>
          <p:cNvPr id="10" name="TextBox 9"/>
          <p:cNvSpPr txBox="1"/>
          <p:nvPr/>
        </p:nvSpPr>
        <p:spPr>
          <a:xfrm>
            <a:off x="658368" y="3127248"/>
            <a:ext cx="6492240" cy="969264"/>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FFFFFF"/>
                </a:solidFill>
                <a:latin typeface="Arial"/>
              </a:rPr>
              <a:t>A verified task pool for Snowball</a:t>
            </a:r>
          </a:p>
          <a:p>
            <a:pPr algn="l">
              <a:lnSpc>
                <a:spcPct val="112000"/>
              </a:lnSpc>
              <a:spcBef>
                <a:spcPts val="0"/>
              </a:spcBef>
              <a:spcAft>
                <a:spcPts val="0"/>
              </a:spcAft>
            </a:pPr>
            <a:r>
              <a:rPr sz="2300" b="0">
                <a:solidFill>
                  <a:srgbClr val="FFFFFF"/>
                </a:solidFill>
                <a:latin typeface="Arial"/>
              </a:rPr>
              <a:t>evaluation, RL and teacher-generated SFT</a:t>
            </a:r>
          </a:p>
        </p:txBody>
      </p:sp>
      <p:sp>
        <p:nvSpPr>
          <p:cNvPr id="11" name="Rounded Rectangle 10"/>
          <p:cNvSpPr/>
          <p:nvPr/>
        </p:nvSpPr>
        <p:spPr>
          <a:xfrm>
            <a:off x="658368" y="4389120"/>
            <a:ext cx="1828800" cy="292608"/>
          </a:xfrm>
          <a:prstGeom prst="roundRect">
            <a:avLst>
              <a:gd name="adj" fmla="val 3500"/>
            </a:avLst>
          </a:prstGeom>
          <a:solidFill>
            <a:srgbClr val="244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4443983"/>
            <a:ext cx="1664208"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91E1CD"/>
                </a:solidFill>
                <a:latin typeface="Arial"/>
              </a:rPr>
              <a:t>TASK RELEASE  v1.3.0</a:t>
            </a:r>
          </a:p>
        </p:txBody>
      </p:sp>
      <p:sp>
        <p:nvSpPr>
          <p:cNvPr id="13" name="TextBox 12"/>
          <p:cNvSpPr txBox="1"/>
          <p:nvPr/>
        </p:nvSpPr>
        <p:spPr>
          <a:xfrm>
            <a:off x="658368" y="5074920"/>
            <a:ext cx="2331720" cy="530352"/>
          </a:xfrm>
          <a:prstGeom prst="rect">
            <a:avLst/>
          </a:prstGeom>
          <a:noFill/>
        </p:spPr>
        <p:txBody>
          <a:bodyPr wrap="square" lIns="0" rIns="0" tIns="0" bIns="0" anchor="t">
            <a:spAutoFit/>
          </a:bodyPr>
          <a:lstStyle/>
          <a:p>
            <a:pPr algn="l">
              <a:lnSpc>
                <a:spcPct val="112000"/>
              </a:lnSpc>
              <a:spcBef>
                <a:spcPts val="0"/>
              </a:spcBef>
              <a:spcAft>
                <a:spcPts val="0"/>
              </a:spcAft>
            </a:pPr>
            <a:r>
              <a:rPr sz="3300" b="1">
                <a:solidFill>
                  <a:srgbClr val="FFFFFF"/>
                </a:solidFill>
                <a:latin typeface="Arial"/>
              </a:rPr>
              <a:t>100,000</a:t>
            </a:r>
          </a:p>
        </p:txBody>
      </p:sp>
      <p:sp>
        <p:nvSpPr>
          <p:cNvPr id="14" name="TextBox 13"/>
          <p:cNvSpPr txBox="1"/>
          <p:nvPr/>
        </p:nvSpPr>
        <p:spPr>
          <a:xfrm>
            <a:off x="658368" y="5678424"/>
            <a:ext cx="2468880" cy="35661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A8BBC0"/>
                </a:solidFill>
                <a:latin typeface="Arial"/>
              </a:rPr>
              <a:t>coordinate tasks</a:t>
            </a:r>
          </a:p>
        </p:txBody>
      </p:sp>
      <p:sp>
        <p:nvSpPr>
          <p:cNvPr id="15" name="TextBox 14"/>
          <p:cNvSpPr txBox="1"/>
          <p:nvPr/>
        </p:nvSpPr>
        <p:spPr>
          <a:xfrm>
            <a:off x="3063240" y="5074920"/>
            <a:ext cx="2331720" cy="530352"/>
          </a:xfrm>
          <a:prstGeom prst="rect">
            <a:avLst/>
          </a:prstGeom>
          <a:noFill/>
        </p:spPr>
        <p:txBody>
          <a:bodyPr wrap="square" lIns="0" rIns="0" tIns="0" bIns="0" anchor="t">
            <a:spAutoFit/>
          </a:bodyPr>
          <a:lstStyle/>
          <a:p>
            <a:pPr algn="l">
              <a:lnSpc>
                <a:spcPct val="112000"/>
              </a:lnSpc>
              <a:spcBef>
                <a:spcPts val="0"/>
              </a:spcBef>
              <a:spcAft>
                <a:spcPts val="0"/>
              </a:spcAft>
            </a:pPr>
            <a:r>
              <a:rPr sz="3300" b="1">
                <a:solidFill>
                  <a:srgbClr val="FFFFFF"/>
                </a:solidFill>
                <a:latin typeface="Arial"/>
              </a:rPr>
              <a:t>19</a:t>
            </a:r>
          </a:p>
        </p:txBody>
      </p:sp>
      <p:sp>
        <p:nvSpPr>
          <p:cNvPr id="16" name="TextBox 15"/>
          <p:cNvSpPr txBox="1"/>
          <p:nvPr/>
        </p:nvSpPr>
        <p:spPr>
          <a:xfrm>
            <a:off x="3063240" y="5678424"/>
            <a:ext cx="2468880" cy="35661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A8BBC0"/>
                </a:solidFill>
                <a:latin typeface="Arial"/>
              </a:rPr>
              <a:t>problem families</a:t>
            </a:r>
          </a:p>
        </p:txBody>
      </p:sp>
      <p:sp>
        <p:nvSpPr>
          <p:cNvPr id="17" name="TextBox 16"/>
          <p:cNvSpPr txBox="1"/>
          <p:nvPr/>
        </p:nvSpPr>
        <p:spPr>
          <a:xfrm>
            <a:off x="5468112" y="5074920"/>
            <a:ext cx="2331720" cy="530352"/>
          </a:xfrm>
          <a:prstGeom prst="rect">
            <a:avLst/>
          </a:prstGeom>
          <a:noFill/>
        </p:spPr>
        <p:txBody>
          <a:bodyPr wrap="square" lIns="0" rIns="0" tIns="0" bIns="0" anchor="t">
            <a:spAutoFit/>
          </a:bodyPr>
          <a:lstStyle/>
          <a:p>
            <a:pPr algn="l">
              <a:lnSpc>
                <a:spcPct val="112000"/>
              </a:lnSpc>
              <a:spcBef>
                <a:spcPts val="0"/>
              </a:spcBef>
              <a:spcAft>
                <a:spcPts val="0"/>
              </a:spcAft>
            </a:pPr>
            <a:r>
              <a:rPr sz="3300" b="1">
                <a:solidFill>
                  <a:srgbClr val="FFFFFF"/>
                </a:solidFill>
                <a:latin typeface="Arial"/>
              </a:rPr>
              <a:t>28,045</a:t>
            </a:r>
          </a:p>
        </p:txBody>
      </p:sp>
      <p:sp>
        <p:nvSpPr>
          <p:cNvPr id="18" name="TextBox 17"/>
          <p:cNvSpPr txBox="1"/>
          <p:nvPr/>
        </p:nvSpPr>
        <p:spPr>
          <a:xfrm>
            <a:off x="5468112" y="5678424"/>
            <a:ext cx="2468880" cy="35661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A8BBC0"/>
                </a:solidFill>
                <a:latin typeface="Arial"/>
              </a:rPr>
              <a:t>8K-headroom train tasks</a:t>
            </a:r>
          </a:p>
        </p:txBody>
      </p:sp>
      <p:cxnSp>
        <p:nvCxnSpPr>
          <p:cNvPr id="19" name="Connector 18"/>
          <p:cNvCxnSpPr/>
          <p:nvPr/>
        </p:nvCxnSpPr>
        <p:spPr>
          <a:xfrm>
            <a:off x="9789836" y="5386972"/>
            <a:ext cx="224409" cy="84280"/>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88225" y="5144069"/>
            <a:ext cx="1611" cy="242903"/>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9788225" y="5071380"/>
            <a:ext cx="84905" cy="7268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678059" y="5386972"/>
            <a:ext cx="111777" cy="11771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90524" y="5018665"/>
            <a:ext cx="97701" cy="12540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690524" y="4785968"/>
            <a:ext cx="4484" cy="232697"/>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497246" y="4678513"/>
            <a:ext cx="197762" cy="107455"/>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312215" y="4678513"/>
            <a:ext cx="185031" cy="40021"/>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9497246" y="4540655"/>
            <a:ext cx="40691" cy="13785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66630" y="4397154"/>
            <a:ext cx="171307" cy="143501"/>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366630" y="4333826"/>
            <a:ext cx="53648" cy="6332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9420278" y="4229344"/>
            <a:ext cx="201565" cy="104482"/>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48665" y="4196529"/>
            <a:ext cx="17965" cy="200625"/>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348665" y="4174078"/>
            <a:ext cx="125636" cy="22451"/>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621843" y="4208835"/>
            <a:ext cx="113637" cy="2050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735480" y="4072888"/>
            <a:ext cx="213351" cy="135947"/>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9735480" y="4208835"/>
            <a:ext cx="66548" cy="22910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567361" y="4074206"/>
            <a:ext cx="168119" cy="13462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198180" y="4046685"/>
            <a:ext cx="150485" cy="14984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85569" y="3833877"/>
            <a:ext cx="12611" cy="21280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9185569" y="3734873"/>
            <a:ext cx="225215" cy="9900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9410784" y="3713848"/>
            <a:ext cx="85188" cy="21025"/>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006716" y="3686469"/>
            <a:ext cx="178853" cy="14740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782958" y="3686469"/>
            <a:ext cx="223758" cy="3654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006716" y="3448452"/>
            <a:ext cx="57897" cy="238017"/>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755626" y="3630899"/>
            <a:ext cx="27332" cy="9211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410784" y="3679615"/>
            <a:ext cx="101387" cy="5525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512171" y="3583084"/>
            <a:ext cx="216426" cy="96531"/>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715609" y="3367404"/>
            <a:ext cx="12988" cy="215680"/>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715609" y="3327297"/>
            <a:ext cx="135543" cy="40107"/>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9728597" y="3562045"/>
            <a:ext cx="75719" cy="2103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641185" y="3562045"/>
            <a:ext cx="163131" cy="108993"/>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9440852" y="3679615"/>
            <a:ext cx="71319" cy="30822"/>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9440852" y="3671038"/>
            <a:ext cx="200333" cy="3939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53187" y="3229136"/>
            <a:ext cx="162422" cy="13826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486682" y="3043662"/>
            <a:ext cx="66505" cy="18547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9486682" y="2895369"/>
            <a:ext cx="182837" cy="148293"/>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661879" y="2787626"/>
            <a:ext cx="7640" cy="107743"/>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669519" y="2889613"/>
            <a:ext cx="166205" cy="575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835724" y="2767439"/>
            <a:ext cx="194541" cy="12217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0030265" y="2555953"/>
            <a:ext cx="2725" cy="21148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0032990" y="2438085"/>
            <a:ext cx="157785" cy="11786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10030265" y="2767439"/>
            <a:ext cx="206196" cy="138343"/>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863520" y="2504349"/>
            <a:ext cx="169470" cy="5160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862446" y="2316603"/>
            <a:ext cx="1074" cy="18774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638360" y="2201084"/>
            <a:ext cx="224086" cy="11551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470721" y="2201084"/>
            <a:ext cx="167639" cy="104378"/>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9862446" y="2316603"/>
            <a:ext cx="57596" cy="65945"/>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9638360" y="1986959"/>
            <a:ext cx="1731" cy="214125"/>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450490" y="1832983"/>
            <a:ext cx="189601" cy="15397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344320" y="1802204"/>
            <a:ext cx="106170" cy="30779"/>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19104" y="1618488"/>
            <a:ext cx="25216" cy="183716"/>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277292" y="1832983"/>
            <a:ext cx="173198" cy="65273"/>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9277292" y="1898256"/>
            <a:ext cx="88969" cy="94"/>
          </a:xfrm>
          <a:prstGeom prst="line">
            <a:avLst/>
          </a:prstGeom>
          <a:ln w="13970">
            <a:solidFill>
              <a:srgbClr val="3D646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9486682" y="3043662"/>
            <a:ext cx="208326" cy="1742306"/>
          </a:xfrm>
          <a:prstGeom prst="line">
            <a:avLst/>
          </a:prstGeom>
          <a:ln w="30480">
            <a:solidFill>
              <a:srgbClr val="F3BD74"/>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10162428" y="240973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0208115" y="2877435"/>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004644" y="2527606"/>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0001918" y="2739093"/>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834099" y="2288256"/>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9835173" y="2476003"/>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611745" y="1958612"/>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290758" y="159014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891695" y="2354202"/>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633533" y="275927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807378" y="286126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315974" y="177385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422144" y="180463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9610014" y="217273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641173" y="2867022"/>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822805" y="329895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9920484" y="404454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442375" y="2277115"/>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248946" y="186990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337915" y="1870003"/>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687263" y="333905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418102" y="2975082"/>
            <a:ext cx="137160" cy="137160"/>
          </a:xfrm>
          <a:prstGeom prst="ellipse">
            <a:avLst/>
          </a:prstGeom>
          <a:solidFill>
            <a:srgbClr val="F3B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773682" y="440959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707133" y="418048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539015" y="4045860"/>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524840" y="3200790"/>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700250" y="355473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775970" y="353369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467625" y="368550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593497" y="420099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83825" y="365126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612838" y="3642692"/>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382438" y="3706526"/>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391932" y="430547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844784" y="5043033"/>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412506" y="3682090"/>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036266" y="3420106"/>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445955" y="414573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509590" y="451230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320318" y="4168183"/>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338283" y="4368808"/>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157223" y="380553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985898" y="5442905"/>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626428" y="4717388"/>
            <a:ext cx="137160" cy="137160"/>
          </a:xfrm>
          <a:prstGeom prst="ellipse">
            <a:avLst/>
          </a:prstGeom>
          <a:solidFill>
            <a:srgbClr val="F3B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759878" y="5115722"/>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169833" y="401833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8978369" y="3658122"/>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468900" y="465016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662177" y="499031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761490" y="5358625"/>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9649712" y="5476341"/>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8754612" y="3694669"/>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283868" y="4690187"/>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727279" y="3602553"/>
            <a:ext cx="56692" cy="56692"/>
          </a:xfrm>
          <a:prstGeom prst="ellipse">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7635240" y="6007608"/>
            <a:ext cx="3703320" cy="228600"/>
          </a:xfrm>
          <a:prstGeom prst="rect">
            <a:avLst/>
          </a:prstGeom>
          <a:noFill/>
        </p:spPr>
        <p:txBody>
          <a:bodyPr wrap="square" lIns="0" rIns="0" tIns="0" bIns="0" anchor="t">
            <a:spAutoFit/>
          </a:bodyPr>
          <a:lstStyle/>
          <a:p>
            <a:pPr algn="ctr">
              <a:lnSpc>
                <a:spcPct val="112000"/>
              </a:lnSpc>
              <a:spcBef>
                <a:spcPts val="0"/>
              </a:spcBef>
              <a:spcAft>
                <a:spcPts val="0"/>
              </a:spcAft>
            </a:pPr>
            <a:r>
              <a:rPr sz="1000" b="0">
                <a:solidFill>
                  <a:srgbClr val="A8BBC0"/>
                </a:solidFill>
                <a:latin typeface="Arial"/>
              </a:rPr>
              <a:t>Geometry from an actual released task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01 / SCIENTIFIC CONTRACT</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The answer must follow from the displayed coordinates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One structure (or two states), one question, one tool-free response, one deterministic reward.</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release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02</a:t>
            </a:r>
          </a:p>
        </p:txBody>
      </p:sp>
      <p:sp>
        <p:nvSpPr>
          <p:cNvPr id="9" name="Rounded Rectangle 8"/>
          <p:cNvSpPr/>
          <p:nvPr/>
        </p:nvSpPr>
        <p:spPr>
          <a:xfrm>
            <a:off x="594360" y="2148840"/>
            <a:ext cx="2560320" cy="146304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304288"/>
            <a:ext cx="457200" cy="32004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01</a:t>
            </a:r>
          </a:p>
        </p:txBody>
      </p:sp>
      <p:sp>
        <p:nvSpPr>
          <p:cNvPr id="11" name="TextBox 10"/>
          <p:cNvSpPr txBox="1"/>
          <p:nvPr/>
        </p:nvSpPr>
        <p:spPr>
          <a:xfrm>
            <a:off x="740664" y="2715768"/>
            <a:ext cx="2286000" cy="329184"/>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Coordinate text</a:t>
            </a:r>
          </a:p>
        </p:txBody>
      </p:sp>
      <p:sp>
        <p:nvSpPr>
          <p:cNvPr id="12" name="TextBox 11"/>
          <p:cNvSpPr txBox="1"/>
          <p:nvPr/>
        </p:nvSpPr>
        <p:spPr>
          <a:xfrm>
            <a:off x="740664" y="3209544"/>
            <a:ext cx="2286000" cy="26517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586E72"/>
                </a:solidFill>
                <a:latin typeface="Arial"/>
              </a:rPr>
              <a:t>Sanitised PDB records</a:t>
            </a:r>
          </a:p>
        </p:txBody>
      </p:sp>
      <p:sp>
        <p:nvSpPr>
          <p:cNvPr id="13" name="TextBox 12"/>
          <p:cNvSpPr txBox="1"/>
          <p:nvPr/>
        </p:nvSpPr>
        <p:spPr>
          <a:xfrm>
            <a:off x="3218688" y="2688336"/>
            <a:ext cx="237744" cy="4572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067D79"/>
                </a:solidFill>
                <a:latin typeface="Arial"/>
              </a:rPr>
              <a:t>→</a:t>
            </a:r>
          </a:p>
        </p:txBody>
      </p:sp>
      <p:sp>
        <p:nvSpPr>
          <p:cNvPr id="14" name="Rounded Rectangle 13"/>
          <p:cNvSpPr/>
          <p:nvPr/>
        </p:nvSpPr>
        <p:spPr>
          <a:xfrm>
            <a:off x="3474720" y="2148840"/>
            <a:ext cx="2560320" cy="146304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2304288"/>
            <a:ext cx="457200" cy="32004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02</a:t>
            </a:r>
          </a:p>
        </p:txBody>
      </p:sp>
      <p:sp>
        <p:nvSpPr>
          <p:cNvPr id="16" name="TextBox 15"/>
          <p:cNvSpPr txBox="1"/>
          <p:nvPr/>
        </p:nvSpPr>
        <p:spPr>
          <a:xfrm>
            <a:off x="3621024" y="2715768"/>
            <a:ext cx="2286000" cy="329184"/>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Model</a:t>
            </a:r>
          </a:p>
        </p:txBody>
      </p:sp>
      <p:sp>
        <p:nvSpPr>
          <p:cNvPr id="17" name="TextBox 16"/>
          <p:cNvSpPr txBox="1"/>
          <p:nvPr/>
        </p:nvSpPr>
        <p:spPr>
          <a:xfrm>
            <a:off x="3621024" y="3209544"/>
            <a:ext cx="2286000" cy="26517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586E72"/>
                </a:solidFill>
                <a:latin typeface="Arial"/>
              </a:rPr>
              <a:t>Tools explicitly disabled</a:t>
            </a:r>
          </a:p>
        </p:txBody>
      </p:sp>
      <p:sp>
        <p:nvSpPr>
          <p:cNvPr id="18" name="TextBox 17"/>
          <p:cNvSpPr txBox="1"/>
          <p:nvPr/>
        </p:nvSpPr>
        <p:spPr>
          <a:xfrm>
            <a:off x="6099048" y="2688336"/>
            <a:ext cx="237744" cy="4572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067D79"/>
                </a:solidFill>
                <a:latin typeface="Arial"/>
              </a:rPr>
              <a:t>→</a:t>
            </a:r>
          </a:p>
        </p:txBody>
      </p:sp>
      <p:sp>
        <p:nvSpPr>
          <p:cNvPr id="19" name="Rounded Rectangle 18"/>
          <p:cNvSpPr/>
          <p:nvPr/>
        </p:nvSpPr>
        <p:spPr>
          <a:xfrm>
            <a:off x="6355080" y="2148840"/>
            <a:ext cx="2560320" cy="146304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2304288"/>
            <a:ext cx="457200" cy="32004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03</a:t>
            </a:r>
          </a:p>
        </p:txBody>
      </p:sp>
      <p:sp>
        <p:nvSpPr>
          <p:cNvPr id="21" name="TextBox 20"/>
          <p:cNvSpPr txBox="1"/>
          <p:nvPr/>
        </p:nvSpPr>
        <p:spPr>
          <a:xfrm>
            <a:off x="6501384" y="2715768"/>
            <a:ext cx="2286000" cy="329184"/>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Final answer</a:t>
            </a:r>
          </a:p>
        </p:txBody>
      </p:sp>
      <p:sp>
        <p:nvSpPr>
          <p:cNvPr id="22" name="TextBox 21"/>
          <p:cNvSpPr txBox="1"/>
          <p:nvPr/>
        </p:nvSpPr>
        <p:spPr>
          <a:xfrm>
            <a:off x="6501384" y="3209544"/>
            <a:ext cx="2286000" cy="26517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586E72"/>
                </a:solidFill>
                <a:latin typeface="Arial"/>
              </a:rPr>
              <a:t>Typed answer schema</a:t>
            </a:r>
          </a:p>
        </p:txBody>
      </p:sp>
      <p:sp>
        <p:nvSpPr>
          <p:cNvPr id="23" name="TextBox 22"/>
          <p:cNvSpPr txBox="1"/>
          <p:nvPr/>
        </p:nvSpPr>
        <p:spPr>
          <a:xfrm>
            <a:off x="8979408" y="2688336"/>
            <a:ext cx="237744" cy="4572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067D79"/>
                </a:solidFill>
                <a:latin typeface="Arial"/>
              </a:rPr>
              <a:t>→</a:t>
            </a:r>
          </a:p>
        </p:txBody>
      </p:sp>
      <p:sp>
        <p:nvSpPr>
          <p:cNvPr id="24" name="Rounded Rectangle 23"/>
          <p:cNvSpPr/>
          <p:nvPr/>
        </p:nvSpPr>
        <p:spPr>
          <a:xfrm>
            <a:off x="9235440" y="2148840"/>
            <a:ext cx="2560320" cy="146304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81744" y="2304288"/>
            <a:ext cx="457200" cy="32004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04</a:t>
            </a:r>
          </a:p>
        </p:txBody>
      </p:sp>
      <p:sp>
        <p:nvSpPr>
          <p:cNvPr id="26" name="TextBox 25"/>
          <p:cNvSpPr txBox="1"/>
          <p:nvPr/>
        </p:nvSpPr>
        <p:spPr>
          <a:xfrm>
            <a:off x="9381744" y="2715768"/>
            <a:ext cx="2286000" cy="329184"/>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Verifier</a:t>
            </a:r>
          </a:p>
        </p:txBody>
      </p:sp>
      <p:sp>
        <p:nvSpPr>
          <p:cNvPr id="27" name="TextBox 26"/>
          <p:cNvSpPr txBox="1"/>
          <p:nvPr/>
        </p:nvSpPr>
        <p:spPr>
          <a:xfrm>
            <a:off x="9381744" y="3209544"/>
            <a:ext cx="2286000" cy="265176"/>
          </a:xfrm>
          <a:prstGeom prst="rect">
            <a:avLst/>
          </a:prstGeom>
          <a:noFill/>
        </p:spPr>
        <p:txBody>
          <a:bodyPr wrap="square" lIns="0" rIns="0" tIns="0" bIns="0" anchor="t">
            <a:spAutoFit/>
          </a:bodyPr>
          <a:lstStyle/>
          <a:p>
            <a:pPr algn="l">
              <a:lnSpc>
                <a:spcPct val="112000"/>
              </a:lnSpc>
              <a:spcBef>
                <a:spcPts val="0"/>
              </a:spcBef>
              <a:spcAft>
                <a:spcPts val="0"/>
              </a:spcAft>
            </a:pPr>
            <a:r>
              <a:rPr sz="1250" b="0">
                <a:solidFill>
                  <a:srgbClr val="586E72"/>
                </a:solidFill>
                <a:latin typeface="Arial"/>
              </a:rPr>
              <a:t>Exact 0/1 reward</a:t>
            </a:r>
          </a:p>
        </p:txBody>
      </p:sp>
      <p:sp>
        <p:nvSpPr>
          <p:cNvPr id="28" name="Rounded Rectangle 27"/>
          <p:cNvSpPr/>
          <p:nvPr/>
        </p:nvSpPr>
        <p:spPr>
          <a:xfrm>
            <a:off x="594360" y="4270248"/>
            <a:ext cx="3337560" cy="150876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4270248"/>
            <a:ext cx="41148" cy="1508760"/>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4434840"/>
            <a:ext cx="297180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Evaluation</a:t>
            </a:r>
          </a:p>
        </p:txBody>
      </p:sp>
      <p:sp>
        <p:nvSpPr>
          <p:cNvPr id="31" name="TextBox 30"/>
          <p:cNvSpPr txBox="1"/>
          <p:nvPr/>
        </p:nvSpPr>
        <p:spPr>
          <a:xfrm>
            <a:off x="786384" y="4965192"/>
            <a:ext cx="2944368" cy="704087"/>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Measure held-out coordinate reasoning by family.</a:t>
            </a:r>
          </a:p>
        </p:txBody>
      </p:sp>
      <p:sp>
        <p:nvSpPr>
          <p:cNvPr id="32" name="Rounded Rectangle 31"/>
          <p:cNvSpPr/>
          <p:nvPr/>
        </p:nvSpPr>
        <p:spPr>
          <a:xfrm>
            <a:off x="4434840" y="4270248"/>
            <a:ext cx="3337560" cy="150876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34840" y="4270248"/>
            <a:ext cx="41148" cy="1508760"/>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26864" y="4434840"/>
            <a:ext cx="297180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RL</a:t>
            </a:r>
          </a:p>
        </p:txBody>
      </p:sp>
      <p:sp>
        <p:nvSpPr>
          <p:cNvPr id="35" name="TextBox 34"/>
          <p:cNvSpPr txBox="1"/>
          <p:nvPr/>
        </p:nvSpPr>
        <p:spPr>
          <a:xfrm>
            <a:off x="4626864" y="4965192"/>
            <a:ext cx="2944368" cy="704087"/>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Use executable rewards without a model judge.</a:t>
            </a:r>
          </a:p>
        </p:txBody>
      </p:sp>
      <p:sp>
        <p:nvSpPr>
          <p:cNvPr id="36" name="Rounded Rectangle 35"/>
          <p:cNvSpPr/>
          <p:nvPr/>
        </p:nvSpPr>
        <p:spPr>
          <a:xfrm>
            <a:off x="8275320" y="4270248"/>
            <a:ext cx="3337560" cy="150876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75320" y="4270248"/>
            <a:ext cx="41148" cy="1508760"/>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7344" y="4434840"/>
            <a:ext cx="297180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SFT</a:t>
            </a:r>
          </a:p>
        </p:txBody>
      </p:sp>
      <p:sp>
        <p:nvSpPr>
          <p:cNvPr id="39" name="TextBox 38"/>
          <p:cNvSpPr txBox="1"/>
          <p:nvPr/>
        </p:nvSpPr>
        <p:spPr>
          <a:xfrm>
            <a:off x="8467344" y="4965192"/>
            <a:ext cx="2944368" cy="704087"/>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Keep verified teacher answers that fit the student.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02 / TASK COVERAGE</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Nineteen families span parsing, geometry and structure</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All active coordinate families are present. Sequence prediction and retired MECH tasks are excluded.</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release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03</a:t>
            </a:r>
          </a:p>
        </p:txBody>
      </p:sp>
      <p:sp>
        <p:nvSpPr>
          <p:cNvPr id="9" name="Rounded Rectangle 8"/>
          <p:cNvSpPr/>
          <p:nvPr/>
        </p:nvSpPr>
        <p:spPr>
          <a:xfrm>
            <a:off x="566928" y="2057400"/>
            <a:ext cx="2148840" cy="396849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057400"/>
            <a:ext cx="2148840" cy="50292"/>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304288"/>
            <a:ext cx="1874519"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PARSING</a:t>
            </a:r>
          </a:p>
        </p:txBody>
      </p:sp>
      <p:sp>
        <p:nvSpPr>
          <p:cNvPr id="12" name="TextBox 11"/>
          <p:cNvSpPr txBox="1"/>
          <p:nvPr/>
        </p:nvSpPr>
        <p:spPr>
          <a:xfrm>
            <a:off x="704088" y="282549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P01</a:t>
            </a:r>
          </a:p>
        </p:txBody>
      </p:sp>
      <p:sp>
        <p:nvSpPr>
          <p:cNvPr id="13" name="TextBox 12"/>
          <p:cNvSpPr txBox="1"/>
          <p:nvPr/>
        </p:nvSpPr>
        <p:spPr>
          <a:xfrm>
            <a:off x="1197864" y="281635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Chain identifiers</a:t>
            </a:r>
          </a:p>
        </p:txBody>
      </p:sp>
      <p:sp>
        <p:nvSpPr>
          <p:cNvPr id="14" name="TextBox 13"/>
          <p:cNvSpPr txBox="1"/>
          <p:nvPr/>
        </p:nvSpPr>
        <p:spPr>
          <a:xfrm>
            <a:off x="704088" y="341985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P02</a:t>
            </a:r>
          </a:p>
        </p:txBody>
      </p:sp>
      <p:sp>
        <p:nvSpPr>
          <p:cNvPr id="15" name="TextBox 14"/>
          <p:cNvSpPr txBox="1"/>
          <p:nvPr/>
        </p:nvSpPr>
        <p:spPr>
          <a:xfrm>
            <a:off x="1197864" y="341071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Residue counting</a:t>
            </a:r>
          </a:p>
        </p:txBody>
      </p:sp>
      <p:sp>
        <p:nvSpPr>
          <p:cNvPr id="16" name="TextBox 15"/>
          <p:cNvSpPr txBox="1"/>
          <p:nvPr/>
        </p:nvSpPr>
        <p:spPr>
          <a:xfrm>
            <a:off x="704088" y="4014215"/>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P03</a:t>
            </a:r>
          </a:p>
        </p:txBody>
      </p:sp>
      <p:sp>
        <p:nvSpPr>
          <p:cNvPr id="17" name="TextBox 16"/>
          <p:cNvSpPr txBox="1"/>
          <p:nvPr/>
        </p:nvSpPr>
        <p:spPr>
          <a:xfrm>
            <a:off x="1197864" y="400507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Atom coordinates</a:t>
            </a:r>
          </a:p>
        </p:txBody>
      </p:sp>
      <p:sp>
        <p:nvSpPr>
          <p:cNvPr id="18" name="Rounded Rectangle 17"/>
          <p:cNvSpPr/>
          <p:nvPr/>
        </p:nvSpPr>
        <p:spPr>
          <a:xfrm>
            <a:off x="2898648" y="2057400"/>
            <a:ext cx="2148840" cy="396849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98648" y="2057400"/>
            <a:ext cx="2148840" cy="50292"/>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44952" y="2304288"/>
            <a:ext cx="1874519"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GEOMETRY</a:t>
            </a:r>
          </a:p>
        </p:txBody>
      </p:sp>
      <p:sp>
        <p:nvSpPr>
          <p:cNvPr id="21" name="TextBox 20"/>
          <p:cNvSpPr txBox="1"/>
          <p:nvPr/>
        </p:nvSpPr>
        <p:spPr>
          <a:xfrm>
            <a:off x="3035808" y="282549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G01</a:t>
            </a:r>
          </a:p>
        </p:txBody>
      </p:sp>
      <p:sp>
        <p:nvSpPr>
          <p:cNvPr id="22" name="TextBox 21"/>
          <p:cNvSpPr txBox="1"/>
          <p:nvPr/>
        </p:nvSpPr>
        <p:spPr>
          <a:xfrm>
            <a:off x="3529584" y="281635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Atom distance</a:t>
            </a:r>
          </a:p>
        </p:txBody>
      </p:sp>
      <p:sp>
        <p:nvSpPr>
          <p:cNvPr id="23" name="TextBox 22"/>
          <p:cNvSpPr txBox="1"/>
          <p:nvPr/>
        </p:nvSpPr>
        <p:spPr>
          <a:xfrm>
            <a:off x="3035808" y="341985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G02</a:t>
            </a:r>
          </a:p>
        </p:txBody>
      </p:sp>
      <p:sp>
        <p:nvSpPr>
          <p:cNvPr id="24" name="TextBox 23"/>
          <p:cNvSpPr txBox="1"/>
          <p:nvPr/>
        </p:nvSpPr>
        <p:spPr>
          <a:xfrm>
            <a:off x="3529584" y="341071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Nearest eligible atom</a:t>
            </a:r>
          </a:p>
        </p:txBody>
      </p:sp>
      <p:sp>
        <p:nvSpPr>
          <p:cNvPr id="25" name="TextBox 24"/>
          <p:cNvSpPr txBox="1"/>
          <p:nvPr/>
        </p:nvSpPr>
        <p:spPr>
          <a:xfrm>
            <a:off x="3035808" y="4014215"/>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G03</a:t>
            </a:r>
          </a:p>
        </p:txBody>
      </p:sp>
      <p:sp>
        <p:nvSpPr>
          <p:cNvPr id="26" name="TextBox 25"/>
          <p:cNvSpPr txBox="1"/>
          <p:nvPr/>
        </p:nvSpPr>
        <p:spPr>
          <a:xfrm>
            <a:off x="3529584" y="400507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Nearest residue</a:t>
            </a:r>
          </a:p>
        </p:txBody>
      </p:sp>
      <p:sp>
        <p:nvSpPr>
          <p:cNvPr id="27" name="TextBox 26"/>
          <p:cNvSpPr txBox="1"/>
          <p:nvPr/>
        </p:nvSpPr>
        <p:spPr>
          <a:xfrm>
            <a:off x="3035808" y="460857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G04</a:t>
            </a:r>
          </a:p>
        </p:txBody>
      </p:sp>
      <p:sp>
        <p:nvSpPr>
          <p:cNvPr id="28" name="TextBox 27"/>
          <p:cNvSpPr txBox="1"/>
          <p:nvPr/>
        </p:nvSpPr>
        <p:spPr>
          <a:xfrm>
            <a:off x="3529584" y="459943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Steric clash</a:t>
            </a:r>
          </a:p>
        </p:txBody>
      </p:sp>
      <p:sp>
        <p:nvSpPr>
          <p:cNvPr id="29" name="Rounded Rectangle 28"/>
          <p:cNvSpPr/>
          <p:nvPr/>
        </p:nvSpPr>
        <p:spPr>
          <a:xfrm>
            <a:off x="5230368" y="2057400"/>
            <a:ext cx="2148840" cy="396849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30368" y="2057400"/>
            <a:ext cx="2148840" cy="50292"/>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672" y="2304288"/>
            <a:ext cx="1874519"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STRUCTURE</a:t>
            </a:r>
          </a:p>
        </p:txBody>
      </p:sp>
      <p:sp>
        <p:nvSpPr>
          <p:cNvPr id="32" name="TextBox 31"/>
          <p:cNvSpPr txBox="1"/>
          <p:nvPr/>
        </p:nvSpPr>
        <p:spPr>
          <a:xfrm>
            <a:off x="5367528" y="282549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S02</a:t>
            </a:r>
          </a:p>
        </p:txBody>
      </p:sp>
      <p:sp>
        <p:nvSpPr>
          <p:cNvPr id="33" name="TextBox 32"/>
          <p:cNvSpPr txBox="1"/>
          <p:nvPr/>
        </p:nvSpPr>
        <p:spPr>
          <a:xfrm>
            <a:off x="5861304" y="281635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Phosphorylation</a:t>
            </a:r>
          </a:p>
        </p:txBody>
      </p:sp>
      <p:sp>
        <p:nvSpPr>
          <p:cNvPr id="34" name="TextBox 33"/>
          <p:cNvSpPr txBox="1"/>
          <p:nvPr/>
        </p:nvSpPr>
        <p:spPr>
          <a:xfrm>
            <a:off x="5367528" y="341985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S03</a:t>
            </a:r>
          </a:p>
        </p:txBody>
      </p:sp>
      <p:sp>
        <p:nvSpPr>
          <p:cNvPr id="35" name="TextBox 34"/>
          <p:cNvSpPr txBox="1"/>
          <p:nvPr/>
        </p:nvSpPr>
        <p:spPr>
          <a:xfrm>
            <a:off x="5861304" y="341071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Solvent exposure</a:t>
            </a:r>
          </a:p>
        </p:txBody>
      </p:sp>
      <p:sp>
        <p:nvSpPr>
          <p:cNvPr id="36" name="TextBox 35"/>
          <p:cNvSpPr txBox="1"/>
          <p:nvPr/>
        </p:nvSpPr>
        <p:spPr>
          <a:xfrm>
            <a:off x="5367528" y="4014215"/>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S04</a:t>
            </a:r>
          </a:p>
        </p:txBody>
      </p:sp>
      <p:sp>
        <p:nvSpPr>
          <p:cNvPr id="37" name="TextBox 36"/>
          <p:cNvSpPr txBox="1"/>
          <p:nvPr/>
        </p:nvSpPr>
        <p:spPr>
          <a:xfrm>
            <a:off x="5861304" y="400507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Secondary structure</a:t>
            </a:r>
          </a:p>
        </p:txBody>
      </p:sp>
      <p:sp>
        <p:nvSpPr>
          <p:cNvPr id="38" name="TextBox 37"/>
          <p:cNvSpPr txBox="1"/>
          <p:nvPr/>
        </p:nvSpPr>
        <p:spPr>
          <a:xfrm>
            <a:off x="5367528" y="460857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S05</a:t>
            </a:r>
          </a:p>
        </p:txBody>
      </p:sp>
      <p:sp>
        <p:nvSpPr>
          <p:cNvPr id="39" name="TextBox 38"/>
          <p:cNvSpPr txBox="1"/>
          <p:nvPr/>
        </p:nvSpPr>
        <p:spPr>
          <a:xfrm>
            <a:off x="5861304" y="459943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Fold class</a:t>
            </a:r>
          </a:p>
        </p:txBody>
      </p:sp>
      <p:sp>
        <p:nvSpPr>
          <p:cNvPr id="40" name="TextBox 39"/>
          <p:cNvSpPr txBox="1"/>
          <p:nvPr/>
        </p:nvSpPr>
        <p:spPr>
          <a:xfrm>
            <a:off x="5367528" y="520293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S09</a:t>
            </a:r>
          </a:p>
        </p:txBody>
      </p:sp>
      <p:sp>
        <p:nvSpPr>
          <p:cNvPr id="41" name="TextBox 40"/>
          <p:cNvSpPr txBox="1"/>
          <p:nvPr/>
        </p:nvSpPr>
        <p:spPr>
          <a:xfrm>
            <a:off x="5861304" y="519379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Side-chain rotamer</a:t>
            </a:r>
          </a:p>
        </p:txBody>
      </p:sp>
      <p:sp>
        <p:nvSpPr>
          <p:cNvPr id="42" name="Rounded Rectangle 41"/>
          <p:cNvSpPr/>
          <p:nvPr/>
        </p:nvSpPr>
        <p:spPr>
          <a:xfrm>
            <a:off x="7562088" y="2057400"/>
            <a:ext cx="2148840" cy="396849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62088" y="2057400"/>
            <a:ext cx="2148840" cy="50292"/>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08392" y="2304288"/>
            <a:ext cx="1874519"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INTERACTIONS</a:t>
            </a:r>
          </a:p>
        </p:txBody>
      </p:sp>
      <p:sp>
        <p:nvSpPr>
          <p:cNvPr id="45" name="TextBox 44"/>
          <p:cNvSpPr txBox="1"/>
          <p:nvPr/>
        </p:nvSpPr>
        <p:spPr>
          <a:xfrm>
            <a:off x="7699248" y="282549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S01</a:t>
            </a:r>
          </a:p>
        </p:txBody>
      </p:sp>
      <p:sp>
        <p:nvSpPr>
          <p:cNvPr id="46" name="TextBox 45"/>
          <p:cNvSpPr txBox="1"/>
          <p:nvPr/>
        </p:nvSpPr>
        <p:spPr>
          <a:xfrm>
            <a:off x="8193023" y="281635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Salt bridges</a:t>
            </a:r>
          </a:p>
        </p:txBody>
      </p:sp>
      <p:sp>
        <p:nvSpPr>
          <p:cNvPr id="47" name="TextBox 46"/>
          <p:cNvSpPr txBox="1"/>
          <p:nvPr/>
        </p:nvSpPr>
        <p:spPr>
          <a:xfrm>
            <a:off x="7699248" y="341985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S06</a:t>
            </a:r>
          </a:p>
        </p:txBody>
      </p:sp>
      <p:sp>
        <p:nvSpPr>
          <p:cNvPr id="48" name="TextBox 47"/>
          <p:cNvSpPr txBox="1"/>
          <p:nvPr/>
        </p:nvSpPr>
        <p:spPr>
          <a:xfrm>
            <a:off x="8193023" y="341071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Ligand contacts</a:t>
            </a:r>
          </a:p>
        </p:txBody>
      </p:sp>
      <p:sp>
        <p:nvSpPr>
          <p:cNvPr id="49" name="TextBox 48"/>
          <p:cNvSpPr txBox="1"/>
          <p:nvPr/>
        </p:nvSpPr>
        <p:spPr>
          <a:xfrm>
            <a:off x="7699248" y="4014215"/>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S07</a:t>
            </a:r>
          </a:p>
        </p:txBody>
      </p:sp>
      <p:sp>
        <p:nvSpPr>
          <p:cNvPr id="50" name="TextBox 49"/>
          <p:cNvSpPr txBox="1"/>
          <p:nvPr/>
        </p:nvSpPr>
        <p:spPr>
          <a:xfrm>
            <a:off x="8193023" y="400507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Metal coordination</a:t>
            </a:r>
          </a:p>
        </p:txBody>
      </p:sp>
      <p:sp>
        <p:nvSpPr>
          <p:cNvPr id="51" name="TextBox 50"/>
          <p:cNvSpPr txBox="1"/>
          <p:nvPr/>
        </p:nvSpPr>
        <p:spPr>
          <a:xfrm>
            <a:off x="7699248" y="460857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S08</a:t>
            </a:r>
          </a:p>
        </p:txBody>
      </p:sp>
      <p:sp>
        <p:nvSpPr>
          <p:cNvPr id="52" name="TextBox 51"/>
          <p:cNvSpPr txBox="1"/>
          <p:nvPr/>
        </p:nvSpPr>
        <p:spPr>
          <a:xfrm>
            <a:off x="8193023" y="459943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Disulfide partner</a:t>
            </a:r>
          </a:p>
        </p:txBody>
      </p:sp>
      <p:sp>
        <p:nvSpPr>
          <p:cNvPr id="53" name="Rounded Rectangle 52"/>
          <p:cNvSpPr/>
          <p:nvPr/>
        </p:nvSpPr>
        <p:spPr>
          <a:xfrm>
            <a:off x="9893807" y="2057400"/>
            <a:ext cx="2148840" cy="396849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93807" y="2057400"/>
            <a:ext cx="2148840" cy="50292"/>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40111" y="2304288"/>
            <a:ext cx="1874519"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Arial"/>
              </a:rPr>
              <a:t>RELATIONSHIPS</a:t>
            </a:r>
          </a:p>
        </p:txBody>
      </p:sp>
      <p:sp>
        <p:nvSpPr>
          <p:cNvPr id="56" name="TextBox 55"/>
          <p:cNvSpPr txBox="1"/>
          <p:nvPr/>
        </p:nvSpPr>
        <p:spPr>
          <a:xfrm>
            <a:off x="10030967" y="282549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I01</a:t>
            </a:r>
          </a:p>
        </p:txBody>
      </p:sp>
      <p:sp>
        <p:nvSpPr>
          <p:cNvPr id="57" name="TextBox 56"/>
          <p:cNvSpPr txBox="1"/>
          <p:nvPr/>
        </p:nvSpPr>
        <p:spPr>
          <a:xfrm>
            <a:off x="10524743" y="281635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Interface contacts</a:t>
            </a:r>
          </a:p>
        </p:txBody>
      </p:sp>
      <p:sp>
        <p:nvSpPr>
          <p:cNvPr id="58" name="TextBox 57"/>
          <p:cNvSpPr txBox="1"/>
          <p:nvPr/>
        </p:nvSpPr>
        <p:spPr>
          <a:xfrm>
            <a:off x="10030967" y="3419856"/>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N01</a:t>
            </a:r>
          </a:p>
        </p:txBody>
      </p:sp>
      <p:sp>
        <p:nvSpPr>
          <p:cNvPr id="59" name="TextBox 58"/>
          <p:cNvSpPr txBox="1"/>
          <p:nvPr/>
        </p:nvSpPr>
        <p:spPr>
          <a:xfrm>
            <a:off x="10524743" y="341071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Shared contact</a:t>
            </a:r>
          </a:p>
        </p:txBody>
      </p:sp>
      <p:sp>
        <p:nvSpPr>
          <p:cNvPr id="60" name="TextBox 59"/>
          <p:cNvSpPr txBox="1"/>
          <p:nvPr/>
        </p:nvSpPr>
        <p:spPr>
          <a:xfrm>
            <a:off x="10030967" y="4014215"/>
            <a:ext cx="466344" cy="228600"/>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067D79"/>
                </a:solidFill>
                <a:latin typeface="Liberation Mono"/>
              </a:rPr>
              <a:t>T01</a:t>
            </a:r>
          </a:p>
        </p:txBody>
      </p:sp>
      <p:sp>
        <p:nvSpPr>
          <p:cNvPr id="61" name="TextBox 60"/>
          <p:cNvSpPr txBox="1"/>
          <p:nvPr/>
        </p:nvSpPr>
        <p:spPr>
          <a:xfrm>
            <a:off x="10524743" y="4005072"/>
            <a:ext cx="1371600" cy="47548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142E35"/>
                </a:solidFill>
                <a:latin typeface="Arial"/>
              </a:rPr>
              <a:t>Two-state contacts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03 / A REAL RELEASED TASK</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Read two atoms; calculate their distance</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G01 · 54 displayed atoms · only the two relevant PDB records are excerpted below.</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release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04</a:t>
            </a:r>
          </a:p>
        </p:txBody>
      </p:sp>
      <p:sp>
        <p:nvSpPr>
          <p:cNvPr id="9" name="Rounded Rectangle 8"/>
          <p:cNvSpPr/>
          <p:nvPr/>
        </p:nvSpPr>
        <p:spPr>
          <a:xfrm>
            <a:off x="594360" y="2011680"/>
            <a:ext cx="7498079" cy="1508760"/>
          </a:xfrm>
          <a:prstGeom prst="roundRect">
            <a:avLst>
              <a:gd name="adj" fmla="val 3500"/>
            </a:avLst>
          </a:prstGeom>
          <a:solidFill>
            <a:srgbClr val="10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67128"/>
            <a:ext cx="7132320" cy="210312"/>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91E1CD"/>
                </a:solidFill>
                <a:latin typeface="Arial"/>
              </a:rPr>
              <a:t>EXCERPT FROM THE MODEL INPUT</a:t>
            </a:r>
          </a:p>
        </p:txBody>
      </p:sp>
      <p:sp>
        <p:nvSpPr>
          <p:cNvPr id="11" name="TextBox 10"/>
          <p:cNvSpPr txBox="1"/>
          <p:nvPr/>
        </p:nvSpPr>
        <p:spPr>
          <a:xfrm>
            <a:off x="768096" y="2615184"/>
            <a:ext cx="7150608" cy="649224"/>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FFFFFF"/>
                </a:solidFill>
                <a:latin typeface="Liberation Mono"/>
              </a:rPr>
              <a:t>ATOM      7  CA  GLY P  44      -0.514   7.195   2.794</a:t>
            </a:r>
          </a:p>
          <a:p>
            <a:pPr algn="l">
              <a:lnSpc>
                <a:spcPct val="112000"/>
              </a:lnSpc>
              <a:spcBef>
                <a:spcPts val="0"/>
              </a:spcBef>
              <a:spcAft>
                <a:spcPts val="0"/>
              </a:spcAft>
            </a:pPr>
            <a:r>
              <a:rPr sz="1400" b="0">
                <a:solidFill>
                  <a:srgbClr val="FFFFFF"/>
                </a:solidFill>
                <a:latin typeface="Liberation Mono"/>
              </a:rPr>
              <a:t>ATOM     36  CA  GLY P  48      -0.079  -3.046  -0.922</a:t>
            </a:r>
          </a:p>
        </p:txBody>
      </p:sp>
      <p:sp>
        <p:nvSpPr>
          <p:cNvPr id="12" name="TextBox 11"/>
          <p:cNvSpPr txBox="1"/>
          <p:nvPr/>
        </p:nvSpPr>
        <p:spPr>
          <a:xfrm>
            <a:off x="713232" y="3776472"/>
            <a:ext cx="1691640" cy="320040"/>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67D79"/>
                </a:solidFill>
                <a:latin typeface="Arial"/>
              </a:rPr>
              <a:t>P:G44:CA</a:t>
            </a:r>
          </a:p>
        </p:txBody>
      </p:sp>
      <p:sp>
        <p:nvSpPr>
          <p:cNvPr id="13" name="TextBox 12"/>
          <p:cNvSpPr txBox="1"/>
          <p:nvPr/>
        </p:nvSpPr>
        <p:spPr>
          <a:xfrm>
            <a:off x="2414016" y="3803904"/>
            <a:ext cx="4846320" cy="29260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42E35"/>
                </a:solidFill>
                <a:latin typeface="Liberation Mono"/>
              </a:rPr>
              <a:t>(−0.514,  7.195,  2.794)</a:t>
            </a:r>
          </a:p>
        </p:txBody>
      </p:sp>
      <p:sp>
        <p:nvSpPr>
          <p:cNvPr id="14" name="TextBox 13"/>
          <p:cNvSpPr txBox="1"/>
          <p:nvPr/>
        </p:nvSpPr>
        <p:spPr>
          <a:xfrm>
            <a:off x="713232" y="4352544"/>
            <a:ext cx="1691640" cy="320040"/>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67D79"/>
                </a:solidFill>
                <a:latin typeface="Arial"/>
              </a:rPr>
              <a:t>P:G48:CA</a:t>
            </a:r>
          </a:p>
        </p:txBody>
      </p:sp>
      <p:sp>
        <p:nvSpPr>
          <p:cNvPr id="15" name="TextBox 14"/>
          <p:cNvSpPr txBox="1"/>
          <p:nvPr/>
        </p:nvSpPr>
        <p:spPr>
          <a:xfrm>
            <a:off x="2414016" y="4379976"/>
            <a:ext cx="4846320" cy="29260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42E35"/>
                </a:solidFill>
                <a:latin typeface="Liberation Mono"/>
              </a:rPr>
              <a:t>(−0.079, −3.046, −0.922)</a:t>
            </a:r>
          </a:p>
        </p:txBody>
      </p:sp>
      <p:sp>
        <p:nvSpPr>
          <p:cNvPr id="16" name="TextBox 15"/>
          <p:cNvSpPr txBox="1"/>
          <p:nvPr/>
        </p:nvSpPr>
        <p:spPr>
          <a:xfrm>
            <a:off x="713232" y="5093208"/>
            <a:ext cx="7315200" cy="45720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142E35"/>
                </a:solidFill>
                <a:latin typeface="Arial"/>
              </a:rPr>
              <a:t>d = √(0.435² + 10.241² + 3.716²) = 10.903 Å</a:t>
            </a:r>
          </a:p>
        </p:txBody>
      </p:sp>
      <p:sp>
        <p:nvSpPr>
          <p:cNvPr id="17" name="Rounded Rectangle 16"/>
          <p:cNvSpPr/>
          <p:nvPr/>
        </p:nvSpPr>
        <p:spPr>
          <a:xfrm>
            <a:off x="713232" y="5797296"/>
            <a:ext cx="3675887" cy="29260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852159"/>
            <a:ext cx="3511295"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FINAL: 10.90     →     reward = 1</a:t>
            </a:r>
          </a:p>
        </p:txBody>
      </p:sp>
      <p:cxnSp>
        <p:nvCxnSpPr>
          <p:cNvPr id="19" name="Connector 18"/>
          <p:cNvCxnSpPr/>
          <p:nvPr/>
        </p:nvCxnSpPr>
        <p:spPr>
          <a:xfrm>
            <a:off x="10093539" y="5250909"/>
            <a:ext cx="170022" cy="63854"/>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92318" y="5066874"/>
            <a:ext cx="1221" cy="184035"/>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0092318" y="5011801"/>
            <a:ext cx="64328" cy="5507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08851" y="5250909"/>
            <a:ext cx="84688" cy="89187"/>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18295" y="4971862"/>
            <a:ext cx="74023" cy="9501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0018295" y="4795560"/>
            <a:ext cx="3397" cy="17630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871859" y="4714147"/>
            <a:ext cx="149833" cy="8141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731670" y="4714147"/>
            <a:ext cx="140189" cy="3032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9871859" y="4609699"/>
            <a:ext cx="30829" cy="104448"/>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72897" y="4500976"/>
            <a:ext cx="129791" cy="10872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772897" y="4452995"/>
            <a:ext cx="40647" cy="4798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9813544" y="4373835"/>
            <a:ext cx="152715" cy="7916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59286" y="4348973"/>
            <a:ext cx="13611" cy="15200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759286" y="4331963"/>
            <a:ext cx="95188" cy="1701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966259" y="4358296"/>
            <a:ext cx="86097" cy="15539"/>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052356" y="4255297"/>
            <a:ext cx="161644" cy="102999"/>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0052356" y="4358296"/>
            <a:ext cx="50420" cy="173584"/>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924981" y="4256295"/>
            <a:ext cx="127375" cy="10200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645272" y="4235444"/>
            <a:ext cx="114014" cy="113529"/>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635717" y="4074211"/>
            <a:ext cx="9555" cy="16123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9635717" y="3999201"/>
            <a:ext cx="170634" cy="7501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9806351" y="3983271"/>
            <a:ext cx="64542" cy="1593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0210" y="3962527"/>
            <a:ext cx="135507" cy="111684"/>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330681" y="3962527"/>
            <a:ext cx="169529" cy="2769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500210" y="3782195"/>
            <a:ext cx="43865" cy="18033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309972" y="3920425"/>
            <a:ext cx="20709" cy="6979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806351" y="3957334"/>
            <a:ext cx="76816" cy="41867"/>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883167" y="3884199"/>
            <a:ext cx="163974" cy="73135"/>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037301" y="3720789"/>
            <a:ext cx="9840" cy="16341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037301" y="3690402"/>
            <a:ext cx="102693" cy="30387"/>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047141" y="3868258"/>
            <a:ext cx="57369" cy="1594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980913" y="3868258"/>
            <a:ext cx="123597" cy="82579"/>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9829132" y="3957334"/>
            <a:ext cx="54035" cy="2335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9829132" y="3950837"/>
            <a:ext cx="151781" cy="2985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914242" y="3616031"/>
            <a:ext cx="123059" cy="104758"/>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863855" y="3475507"/>
            <a:ext cx="50387" cy="140524"/>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9863855" y="3363153"/>
            <a:ext cx="138526" cy="112354"/>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996592" y="3281522"/>
            <a:ext cx="5789" cy="8163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0002381" y="3358792"/>
            <a:ext cx="125925" cy="436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0128306" y="3266227"/>
            <a:ext cx="147393" cy="92565"/>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0275699" y="3105995"/>
            <a:ext cx="2065" cy="16023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0277764" y="3016693"/>
            <a:ext cx="119544" cy="8930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10275699" y="3266227"/>
            <a:ext cx="156224" cy="104815"/>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149365" y="3066898"/>
            <a:ext cx="128399" cy="39097"/>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148551" y="2924652"/>
            <a:ext cx="814" cy="142246"/>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978773" y="2837130"/>
            <a:ext cx="169778" cy="8752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851762" y="2837130"/>
            <a:ext cx="127011" cy="7908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10148551" y="2924652"/>
            <a:ext cx="43637" cy="49964"/>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9978773" y="2674899"/>
            <a:ext cx="1312" cy="16223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6434" y="2558240"/>
            <a:ext cx="143651" cy="116659"/>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755995" y="2534920"/>
            <a:ext cx="80439" cy="23320"/>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736890" y="2395728"/>
            <a:ext cx="19105" cy="139192"/>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705211" y="2558240"/>
            <a:ext cx="131223" cy="49453"/>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9705211" y="2607693"/>
            <a:ext cx="67408" cy="71"/>
          </a:xfrm>
          <a:prstGeom prst="line">
            <a:avLst/>
          </a:prstGeom>
          <a:ln w="13970">
            <a:solidFill>
              <a:srgbClr val="BECFC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9863855" y="3475507"/>
            <a:ext cx="157837" cy="1320053"/>
          </a:xfrm>
          <a:prstGeom prst="line">
            <a:avLst/>
          </a:prstGeom>
          <a:ln w="30480">
            <a:solidFill>
              <a:srgbClr val="D97941"/>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10368962" y="2988347"/>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0403577" y="334269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249417" y="307764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0247352" y="3237881"/>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120205" y="289630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121018" y="303855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951738" y="264655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708544" y="2367381"/>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163842" y="294626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968246" y="3253175"/>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099959" y="333044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727648" y="2506574"/>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808088" y="2529893"/>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9950427" y="2808784"/>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974034" y="333480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0111648" y="366205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0185654" y="4226950"/>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823416" y="2887865"/>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676865" y="2579347"/>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744272" y="2579418"/>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0008955" y="369244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795275" y="3406927"/>
            <a:ext cx="137160" cy="137160"/>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074429" y="4503534"/>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024009" y="4329950"/>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896635" y="422794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885896" y="3587684"/>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0018794" y="385585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076163" y="383991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842547" y="3954925"/>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937913" y="434548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854820" y="3928988"/>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952567" y="3922490"/>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778005" y="3970854"/>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785198" y="442464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0128300" y="4983455"/>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800786" y="3952340"/>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515729" y="3753848"/>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826128" y="430361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874341" y="458135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730940" y="4320627"/>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744551" y="4472630"/>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607371" y="4045865"/>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0235215" y="5286417"/>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953112" y="4726980"/>
            <a:ext cx="137160" cy="137160"/>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0063971" y="5038527"/>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616926" y="4207098"/>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471863" y="3934181"/>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843512" y="4685801"/>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989948" y="4943516"/>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065192" y="522256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9980504" y="531174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302334" y="3961870"/>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703324" y="4716122"/>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9281626" y="3892079"/>
            <a:ext cx="56692" cy="56692"/>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229600" y="5806440"/>
            <a:ext cx="3264408" cy="338328"/>
          </a:xfrm>
          <a:prstGeom prst="rect">
            <a:avLst/>
          </a:prstGeom>
          <a:noFill/>
        </p:spPr>
        <p:txBody>
          <a:bodyPr wrap="square" lIns="0" rIns="0" tIns="0" bIns="0" anchor="t">
            <a:spAutoFit/>
          </a:bodyPr>
          <a:lstStyle/>
          <a:p>
            <a:pPr algn="l">
              <a:lnSpc>
                <a:spcPct val="112000"/>
              </a:lnSpc>
              <a:spcBef>
                <a:spcPts val="0"/>
              </a:spcBef>
              <a:spcAft>
                <a:spcPts val="0"/>
              </a:spcAft>
            </a:pPr>
            <a:r>
              <a:rPr sz="1150" b="0">
                <a:solidFill>
                  <a:srgbClr val="586E72"/>
                </a:solidFill>
                <a:latin typeface="Arial"/>
              </a:rPr>
              <a:t>The orange line joins the queried atoms.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04 / GENERATION PIPELINE</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Check gold against the displayed coordinates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The benchmark’s family generators and operational definitions are reused on new source material.</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Frozen generator source</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05</a:t>
            </a:r>
          </a:p>
        </p:txBody>
      </p:sp>
      <p:sp>
        <p:nvSpPr>
          <p:cNvPr id="9" name="Oval 8"/>
          <p:cNvSpPr/>
          <p:nvPr/>
        </p:nvSpPr>
        <p:spPr>
          <a:xfrm>
            <a:off x="630936" y="2112263"/>
            <a:ext cx="402336" cy="402336"/>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185416"/>
            <a:ext cx="329184" cy="256032"/>
          </a:xfrm>
          <a:prstGeom prst="rect">
            <a:avLst/>
          </a:prstGeom>
          <a:noFill/>
        </p:spPr>
        <p:txBody>
          <a:bodyPr wrap="square" lIns="0" rIns="0" tIns="0" bIns="0" anchor="t">
            <a:spAutoFit/>
          </a:bodyPr>
          <a:lstStyle/>
          <a:p>
            <a:pPr algn="ctr">
              <a:lnSpc>
                <a:spcPct val="112000"/>
              </a:lnSpc>
              <a:spcBef>
                <a:spcPts val="0"/>
              </a:spcBef>
              <a:spcAft>
                <a:spcPts val="0"/>
              </a:spcAft>
            </a:pPr>
            <a:r>
              <a:rPr sz="1700" b="1">
                <a:solidFill>
                  <a:srgbClr val="FFFFFF"/>
                </a:solidFill>
                <a:latin typeface="Arial"/>
              </a:rPr>
              <a:t>1</a:t>
            </a:r>
          </a:p>
        </p:txBody>
      </p:sp>
      <p:cxnSp>
        <p:nvCxnSpPr>
          <p:cNvPr id="11" name="Connector 10"/>
          <p:cNvCxnSpPr/>
          <p:nvPr/>
        </p:nvCxnSpPr>
        <p:spPr>
          <a:xfrm>
            <a:off x="1078992" y="2313432"/>
            <a:ext cx="2240280" cy="0"/>
          </a:xfrm>
          <a:prstGeom prst="line">
            <a:avLst/>
          </a:prstGeom>
          <a:ln w="25400">
            <a:solidFill>
              <a:srgbClr val="D4DD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2816352"/>
            <a:ext cx="2670048" cy="640080"/>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Acquire &amp; exclude</a:t>
            </a:r>
          </a:p>
        </p:txBody>
      </p:sp>
      <p:sp>
        <p:nvSpPr>
          <p:cNvPr id="13" name="TextBox 12"/>
          <p:cNvSpPr txBox="1"/>
          <p:nvPr/>
        </p:nvSpPr>
        <p:spPr>
          <a:xfrm>
            <a:off x="594360" y="3648456"/>
            <a:ext cx="2468880" cy="111556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586E72"/>
                </a:solidFill>
                <a:latin typeface="Arial"/>
              </a:rPr>
              <a:t>Frozen PDB pool; audit every protein partner.</a:t>
            </a:r>
          </a:p>
        </p:txBody>
      </p:sp>
      <p:sp>
        <p:nvSpPr>
          <p:cNvPr id="14" name="Oval 13"/>
          <p:cNvSpPr/>
          <p:nvPr/>
        </p:nvSpPr>
        <p:spPr>
          <a:xfrm>
            <a:off x="3502151" y="2112263"/>
            <a:ext cx="402336" cy="402336"/>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2185416"/>
            <a:ext cx="329184" cy="256032"/>
          </a:xfrm>
          <a:prstGeom prst="rect">
            <a:avLst/>
          </a:prstGeom>
          <a:noFill/>
        </p:spPr>
        <p:txBody>
          <a:bodyPr wrap="square" lIns="0" rIns="0" tIns="0" bIns="0" anchor="t">
            <a:spAutoFit/>
          </a:bodyPr>
          <a:lstStyle/>
          <a:p>
            <a:pPr algn="ctr">
              <a:lnSpc>
                <a:spcPct val="112000"/>
              </a:lnSpc>
              <a:spcBef>
                <a:spcPts val="0"/>
              </a:spcBef>
              <a:spcAft>
                <a:spcPts val="0"/>
              </a:spcAft>
            </a:pPr>
            <a:r>
              <a:rPr sz="1700" b="1">
                <a:solidFill>
                  <a:srgbClr val="FFFFFF"/>
                </a:solidFill>
                <a:latin typeface="Arial"/>
              </a:rPr>
              <a:t>2</a:t>
            </a:r>
          </a:p>
        </p:txBody>
      </p:sp>
      <p:cxnSp>
        <p:nvCxnSpPr>
          <p:cNvPr id="16" name="Connector 15"/>
          <p:cNvCxnSpPr/>
          <p:nvPr/>
        </p:nvCxnSpPr>
        <p:spPr>
          <a:xfrm>
            <a:off x="3950208" y="2313432"/>
            <a:ext cx="2240280" cy="0"/>
          </a:xfrm>
          <a:prstGeom prst="line">
            <a:avLst/>
          </a:prstGeom>
          <a:ln w="25400">
            <a:solidFill>
              <a:srgbClr val="D4DDD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465576" y="2816352"/>
            <a:ext cx="2670048" cy="640080"/>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Propose &amp; render</a:t>
            </a:r>
          </a:p>
        </p:txBody>
      </p:sp>
      <p:sp>
        <p:nvSpPr>
          <p:cNvPr id="18" name="TextBox 17"/>
          <p:cNvSpPr txBox="1"/>
          <p:nvPr/>
        </p:nvSpPr>
        <p:spPr>
          <a:xfrm>
            <a:off x="3465576" y="3648456"/>
            <a:ext cx="2468880" cy="111556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586E72"/>
                </a:solidFill>
                <a:latin typeface="Arial"/>
              </a:rPr>
              <a:t>Choose a question; sanitise, transform and round.</a:t>
            </a:r>
          </a:p>
        </p:txBody>
      </p:sp>
      <p:sp>
        <p:nvSpPr>
          <p:cNvPr id="19" name="Oval 18"/>
          <p:cNvSpPr/>
          <p:nvPr/>
        </p:nvSpPr>
        <p:spPr>
          <a:xfrm>
            <a:off x="6373368" y="2112263"/>
            <a:ext cx="402336" cy="402336"/>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2185416"/>
            <a:ext cx="329184" cy="256032"/>
          </a:xfrm>
          <a:prstGeom prst="rect">
            <a:avLst/>
          </a:prstGeom>
          <a:noFill/>
        </p:spPr>
        <p:txBody>
          <a:bodyPr wrap="square" lIns="0" rIns="0" tIns="0" bIns="0" anchor="t">
            <a:spAutoFit/>
          </a:bodyPr>
          <a:lstStyle/>
          <a:p>
            <a:pPr algn="ctr">
              <a:lnSpc>
                <a:spcPct val="112000"/>
              </a:lnSpc>
              <a:spcBef>
                <a:spcPts val="0"/>
              </a:spcBef>
              <a:spcAft>
                <a:spcPts val="0"/>
              </a:spcAft>
            </a:pPr>
            <a:r>
              <a:rPr sz="1700" b="1">
                <a:solidFill>
                  <a:srgbClr val="FFFFFF"/>
                </a:solidFill>
                <a:latin typeface="Arial"/>
              </a:rPr>
              <a:t>3</a:t>
            </a:r>
          </a:p>
        </p:txBody>
      </p:sp>
      <p:cxnSp>
        <p:nvCxnSpPr>
          <p:cNvPr id="21" name="Connector 20"/>
          <p:cNvCxnSpPr/>
          <p:nvPr/>
        </p:nvCxnSpPr>
        <p:spPr>
          <a:xfrm>
            <a:off x="6821424" y="2313432"/>
            <a:ext cx="2240280" cy="0"/>
          </a:xfrm>
          <a:prstGeom prst="line">
            <a:avLst/>
          </a:prstGeom>
          <a:ln w="25400">
            <a:solidFill>
              <a:srgbClr val="D4DDD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36792" y="2816352"/>
            <a:ext cx="2670048" cy="640080"/>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Recompute gold</a:t>
            </a:r>
          </a:p>
        </p:txBody>
      </p:sp>
      <p:sp>
        <p:nvSpPr>
          <p:cNvPr id="23" name="TextBox 22"/>
          <p:cNvSpPr txBox="1"/>
          <p:nvPr/>
        </p:nvSpPr>
        <p:spPr>
          <a:xfrm>
            <a:off x="6336792" y="3648456"/>
            <a:ext cx="2468880" cy="111556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586E72"/>
                </a:solidFill>
                <a:latin typeface="Arial"/>
              </a:rPr>
              <a:t>Run the family oracle on the displayed geometry.</a:t>
            </a:r>
          </a:p>
        </p:txBody>
      </p:sp>
      <p:sp>
        <p:nvSpPr>
          <p:cNvPr id="24" name="Oval 23"/>
          <p:cNvSpPr/>
          <p:nvPr/>
        </p:nvSpPr>
        <p:spPr>
          <a:xfrm>
            <a:off x="9244584" y="2112263"/>
            <a:ext cx="402336" cy="402336"/>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60" y="2185416"/>
            <a:ext cx="329184" cy="256032"/>
          </a:xfrm>
          <a:prstGeom prst="rect">
            <a:avLst/>
          </a:prstGeom>
          <a:noFill/>
        </p:spPr>
        <p:txBody>
          <a:bodyPr wrap="square" lIns="0" rIns="0" tIns="0" bIns="0" anchor="t">
            <a:spAutoFit/>
          </a:bodyPr>
          <a:lstStyle/>
          <a:p>
            <a:pPr algn="ctr">
              <a:lnSpc>
                <a:spcPct val="112000"/>
              </a:lnSpc>
              <a:spcBef>
                <a:spcPts val="0"/>
              </a:spcBef>
              <a:spcAft>
                <a:spcPts val="0"/>
              </a:spcAft>
            </a:pPr>
            <a:r>
              <a:rPr sz="1700" b="1">
                <a:solidFill>
                  <a:srgbClr val="FFFFFF"/>
                </a:solidFill>
                <a:latin typeface="Arial"/>
              </a:rPr>
              <a:t>4</a:t>
            </a:r>
          </a:p>
        </p:txBody>
      </p:sp>
      <p:sp>
        <p:nvSpPr>
          <p:cNvPr id="26" name="TextBox 25"/>
          <p:cNvSpPr txBox="1"/>
          <p:nvPr/>
        </p:nvSpPr>
        <p:spPr>
          <a:xfrm>
            <a:off x="9208008" y="2816352"/>
            <a:ext cx="2670048" cy="640080"/>
          </a:xfrm>
          <a:prstGeom prst="rect">
            <a:avLst/>
          </a:prstGeom>
          <a:noFill/>
        </p:spPr>
        <p:txBody>
          <a:bodyPr wrap="square" lIns="0" rIns="0" tIns="0" bIns="0" anchor="t">
            <a:spAutoFit/>
          </a:bodyPr>
          <a:lstStyle/>
          <a:p>
            <a:pPr algn="l">
              <a:lnSpc>
                <a:spcPct val="112000"/>
              </a:lnSpc>
              <a:spcBef>
                <a:spcPts val="0"/>
              </a:spcBef>
              <a:spcAft>
                <a:spcPts val="0"/>
              </a:spcAft>
            </a:pPr>
            <a:r>
              <a:rPr sz="2100" b="1">
                <a:solidFill>
                  <a:srgbClr val="142E35"/>
                </a:solidFill>
                <a:latin typeface="Arial"/>
              </a:rPr>
              <a:t>Parse &amp; check</a:t>
            </a:r>
          </a:p>
        </p:txBody>
      </p:sp>
      <p:sp>
        <p:nvSpPr>
          <p:cNvPr id="27" name="TextBox 26"/>
          <p:cNvSpPr txBox="1"/>
          <p:nvPr/>
        </p:nvSpPr>
        <p:spPr>
          <a:xfrm>
            <a:off x="9208008" y="3648456"/>
            <a:ext cx="2468880" cy="111556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586E72"/>
                </a:solidFill>
                <a:latin typeface="Arial"/>
              </a:rPr>
              <a:t>Read the emitted PDB text and rerun the oracle.</a:t>
            </a:r>
          </a:p>
        </p:txBody>
      </p:sp>
      <p:sp>
        <p:nvSpPr>
          <p:cNvPr id="28" name="Rounded Rectangle 27"/>
          <p:cNvSpPr/>
          <p:nvPr/>
        </p:nvSpPr>
        <p:spPr>
          <a:xfrm>
            <a:off x="594360" y="5276088"/>
            <a:ext cx="10972800" cy="768096"/>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422392"/>
            <a:ext cx="2834640" cy="438912"/>
          </a:xfrm>
          <a:prstGeom prst="rect">
            <a:avLst/>
          </a:prstGeom>
          <a:noFill/>
        </p:spPr>
        <p:txBody>
          <a:bodyPr wrap="square" lIns="0" rIns="0" tIns="0" bIns="0" anchor="t">
            <a:spAutoFit/>
          </a:bodyPr>
          <a:lstStyle/>
          <a:p>
            <a:pPr algn="l">
              <a:lnSpc>
                <a:spcPct val="112000"/>
              </a:lnSpc>
              <a:spcBef>
                <a:spcPts val="0"/>
              </a:spcBef>
              <a:spcAft>
                <a:spcPts val="0"/>
              </a:spcAft>
            </a:pPr>
            <a:r>
              <a:rPr sz="2700" b="1">
                <a:solidFill>
                  <a:srgbClr val="067D79"/>
                </a:solidFill>
                <a:latin typeface="Arial"/>
              </a:rPr>
              <a:t>100,000 / 100,000</a:t>
            </a:r>
          </a:p>
        </p:txBody>
      </p:sp>
      <p:sp>
        <p:nvSpPr>
          <p:cNvPr id="30" name="TextBox 29"/>
          <p:cNvSpPr txBox="1"/>
          <p:nvPr/>
        </p:nvSpPr>
        <p:spPr>
          <a:xfrm>
            <a:off x="3749039" y="5513832"/>
            <a:ext cx="7498079" cy="320040"/>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142E35"/>
                </a:solidFill>
                <a:latin typeface="Arial"/>
              </a:rPr>
              <a:t>packaged coordinate checks and oracle-solution checks passed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05 / BENCHMARK SEPARATION</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Hold out related proteins, not random task rows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The release excludes the frozen PDBThink source inventory and keeps related sources in one split.</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manifest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06</a:t>
            </a:r>
          </a:p>
        </p:txBody>
      </p:sp>
      <p:sp>
        <p:nvSpPr>
          <p:cNvPr id="9" name="Rounded Rectangle 8"/>
          <p:cNvSpPr/>
          <p:nvPr/>
        </p:nvSpPr>
        <p:spPr>
          <a:xfrm>
            <a:off x="594360" y="2084831"/>
            <a:ext cx="5266944" cy="75895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76272"/>
            <a:ext cx="484632" cy="47548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067D79"/>
                </a:solidFill>
                <a:latin typeface="Arial"/>
              </a:rPr>
              <a:t>0</a:t>
            </a:r>
          </a:p>
        </p:txBody>
      </p:sp>
      <p:sp>
        <p:nvSpPr>
          <p:cNvPr id="11" name="TextBox 10"/>
          <p:cNvSpPr txBox="1"/>
          <p:nvPr/>
        </p:nvSpPr>
        <p:spPr>
          <a:xfrm>
            <a:off x="1380744" y="2167127"/>
            <a:ext cx="4251960" cy="265176"/>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142E35"/>
                </a:solidFill>
                <a:latin typeface="Arial"/>
              </a:rPr>
              <a:t>Entry identity</a:t>
            </a:r>
          </a:p>
        </p:txBody>
      </p:sp>
      <p:sp>
        <p:nvSpPr>
          <p:cNvPr id="12" name="TextBox 11"/>
          <p:cNvSpPr txBox="1"/>
          <p:nvPr/>
        </p:nvSpPr>
        <p:spPr>
          <a:xfrm>
            <a:off x="1380744" y="2514600"/>
            <a:ext cx="4251960" cy="210312"/>
          </a:xfrm>
          <a:prstGeom prst="rect">
            <a:avLst/>
          </a:prstGeom>
          <a:noFill/>
        </p:spPr>
        <p:txBody>
          <a:bodyPr wrap="square" lIns="0" rIns="0" tIns="0" bIns="0" anchor="t">
            <a:spAutoFit/>
          </a:bodyPr>
          <a:lstStyle/>
          <a:p>
            <a:pPr algn="l">
              <a:lnSpc>
                <a:spcPct val="112000"/>
              </a:lnSpc>
              <a:spcBef>
                <a:spcPts val="0"/>
              </a:spcBef>
              <a:spcAft>
                <a:spcPts val="0"/>
              </a:spcAft>
            </a:pPr>
            <a:r>
              <a:rPr sz="1200" b="0">
                <a:solidFill>
                  <a:srgbClr val="586E72"/>
                </a:solidFill>
                <a:latin typeface="Arial"/>
              </a:rPr>
              <a:t>Every configured benchmark source</a:t>
            </a:r>
          </a:p>
        </p:txBody>
      </p:sp>
      <p:sp>
        <p:nvSpPr>
          <p:cNvPr id="13" name="Rounded Rectangle 12"/>
          <p:cNvSpPr/>
          <p:nvPr/>
        </p:nvSpPr>
        <p:spPr>
          <a:xfrm>
            <a:off x="594360" y="2990088"/>
            <a:ext cx="5266944" cy="75895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081528"/>
            <a:ext cx="484632" cy="47548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067D79"/>
                </a:solidFill>
                <a:latin typeface="Arial"/>
              </a:rPr>
              <a:t>0</a:t>
            </a:r>
          </a:p>
        </p:txBody>
      </p:sp>
      <p:sp>
        <p:nvSpPr>
          <p:cNvPr id="15" name="TextBox 14"/>
          <p:cNvSpPr txBox="1"/>
          <p:nvPr/>
        </p:nvSpPr>
        <p:spPr>
          <a:xfrm>
            <a:off x="1380744" y="3072384"/>
            <a:ext cx="4251960" cy="265176"/>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142E35"/>
                </a:solidFill>
                <a:latin typeface="Arial"/>
              </a:rPr>
              <a:t>Protein sequence</a:t>
            </a:r>
          </a:p>
        </p:txBody>
      </p:sp>
      <p:sp>
        <p:nvSpPr>
          <p:cNvPr id="16" name="TextBox 15"/>
          <p:cNvSpPr txBox="1"/>
          <p:nvPr/>
        </p:nvSpPr>
        <p:spPr>
          <a:xfrm>
            <a:off x="1380744" y="3419856"/>
            <a:ext cx="4251960" cy="210312"/>
          </a:xfrm>
          <a:prstGeom prst="rect">
            <a:avLst/>
          </a:prstGeom>
          <a:noFill/>
        </p:spPr>
        <p:txBody>
          <a:bodyPr wrap="square" lIns="0" rIns="0" tIns="0" bIns="0" anchor="t">
            <a:spAutoFit/>
          </a:bodyPr>
          <a:lstStyle/>
          <a:p>
            <a:pPr algn="l">
              <a:lnSpc>
                <a:spcPct val="112000"/>
              </a:lnSpc>
              <a:spcBef>
                <a:spcPts val="0"/>
              </a:spcBef>
              <a:spcAft>
                <a:spcPts val="0"/>
              </a:spcAft>
            </a:pPr>
            <a:r>
              <a:rPr sz="1200" b="0">
                <a:solidFill>
                  <a:srgbClr val="586E72"/>
                </a:solidFill>
                <a:latin typeface="Arial"/>
              </a:rPr>
              <a:t>Full-entity and observed-chain sequences</a:t>
            </a:r>
          </a:p>
        </p:txBody>
      </p:sp>
      <p:sp>
        <p:nvSpPr>
          <p:cNvPr id="17" name="Rounded Rectangle 16"/>
          <p:cNvSpPr/>
          <p:nvPr/>
        </p:nvSpPr>
        <p:spPr>
          <a:xfrm>
            <a:off x="594360" y="3895344"/>
            <a:ext cx="5266944" cy="75895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986783"/>
            <a:ext cx="484632" cy="47548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067D79"/>
                </a:solidFill>
                <a:latin typeface="Arial"/>
              </a:rPr>
              <a:t>0</a:t>
            </a:r>
          </a:p>
        </p:txBody>
      </p:sp>
      <p:sp>
        <p:nvSpPr>
          <p:cNvPr id="19" name="TextBox 18"/>
          <p:cNvSpPr txBox="1"/>
          <p:nvPr/>
        </p:nvSpPr>
        <p:spPr>
          <a:xfrm>
            <a:off x="1380744" y="3977639"/>
            <a:ext cx="4251960" cy="265176"/>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142E35"/>
                </a:solidFill>
                <a:latin typeface="Arial"/>
              </a:rPr>
              <a:t>Related-source clusters</a:t>
            </a:r>
          </a:p>
        </p:txBody>
      </p:sp>
      <p:sp>
        <p:nvSpPr>
          <p:cNvPr id="20" name="TextBox 19"/>
          <p:cNvSpPr txBox="1"/>
          <p:nvPr/>
        </p:nvSpPr>
        <p:spPr>
          <a:xfrm>
            <a:off x="1380744" y="4325112"/>
            <a:ext cx="4251960" cy="210312"/>
          </a:xfrm>
          <a:prstGeom prst="rect">
            <a:avLst/>
          </a:prstGeom>
          <a:noFill/>
        </p:spPr>
        <p:txBody>
          <a:bodyPr wrap="square" lIns="0" rIns="0" tIns="0" bIns="0" anchor="t">
            <a:spAutoFit/>
          </a:bodyPr>
          <a:lstStyle/>
          <a:p>
            <a:pPr algn="l">
              <a:lnSpc>
                <a:spcPct val="112000"/>
              </a:lnSpc>
              <a:spcBef>
                <a:spcPts val="0"/>
              </a:spcBef>
              <a:spcAft>
                <a:spcPts val="0"/>
              </a:spcAft>
            </a:pPr>
            <a:r>
              <a:rPr sz="1200" b="0">
                <a:solidFill>
                  <a:srgbClr val="586E72"/>
                </a:solidFill>
                <a:latin typeface="Arial"/>
              </a:rPr>
              <a:t>RCSB 30% sequence clusters</a:t>
            </a:r>
          </a:p>
        </p:txBody>
      </p:sp>
      <p:sp>
        <p:nvSpPr>
          <p:cNvPr id="21" name="TextBox 20"/>
          <p:cNvSpPr txBox="1"/>
          <p:nvPr/>
        </p:nvSpPr>
        <p:spPr>
          <a:xfrm>
            <a:off x="640080" y="4919472"/>
            <a:ext cx="5084064" cy="411480"/>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Audited intersections with the benchmark</a:t>
            </a:r>
          </a:p>
        </p:txBody>
      </p:sp>
      <p:sp>
        <p:nvSpPr>
          <p:cNvPr id="22" name="TextBox 21"/>
          <p:cNvSpPr txBox="1"/>
          <p:nvPr/>
        </p:nvSpPr>
        <p:spPr>
          <a:xfrm>
            <a:off x="6428232" y="2066543"/>
            <a:ext cx="4864608" cy="493776"/>
          </a:xfrm>
          <a:prstGeom prst="rect">
            <a:avLst/>
          </a:prstGeom>
          <a:noFill/>
        </p:spPr>
        <p:txBody>
          <a:bodyPr wrap="square" lIns="0" rIns="0" tIns="0" bIns="0" anchor="t">
            <a:spAutoFit/>
          </a:bodyPr>
          <a:lstStyle/>
          <a:p>
            <a:pPr algn="l">
              <a:lnSpc>
                <a:spcPct val="112000"/>
              </a:lnSpc>
              <a:spcBef>
                <a:spcPts val="0"/>
              </a:spcBef>
              <a:spcAft>
                <a:spcPts val="0"/>
              </a:spcAft>
            </a:pPr>
            <a:r>
              <a:rPr sz="2800" b="1">
                <a:solidFill>
                  <a:srgbClr val="142E35"/>
                </a:solidFill>
                <a:latin typeface="Arial"/>
              </a:rPr>
              <a:t>1,867 source groups</a:t>
            </a:r>
          </a:p>
        </p:txBody>
      </p:sp>
      <p:sp>
        <p:nvSpPr>
          <p:cNvPr id="23" name="Oval 22"/>
          <p:cNvSpPr/>
          <p:nvPr/>
        </p:nvSpPr>
        <p:spPr>
          <a:xfrm>
            <a:off x="6501383" y="2962656"/>
            <a:ext cx="128016" cy="128016"/>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2880360"/>
            <a:ext cx="2148840" cy="3657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42E35"/>
                </a:solidFill>
                <a:latin typeface="Arial"/>
              </a:rPr>
              <a:t>Train</a:t>
            </a:r>
          </a:p>
        </p:txBody>
      </p:sp>
      <p:sp>
        <p:nvSpPr>
          <p:cNvPr id="25" name="TextBox 24"/>
          <p:cNvSpPr txBox="1"/>
          <p:nvPr/>
        </p:nvSpPr>
        <p:spPr>
          <a:xfrm>
            <a:off x="9281160" y="2880360"/>
            <a:ext cx="1965960" cy="365760"/>
          </a:xfrm>
          <a:prstGeom prst="rect">
            <a:avLst/>
          </a:prstGeom>
          <a:noFill/>
        </p:spPr>
        <p:txBody>
          <a:bodyPr wrap="square" lIns="0" rIns="0" tIns="0" bIns="0" anchor="t">
            <a:spAutoFit/>
          </a:bodyPr>
          <a:lstStyle/>
          <a:p>
            <a:pPr algn="r">
              <a:lnSpc>
                <a:spcPct val="112000"/>
              </a:lnSpc>
              <a:spcBef>
                <a:spcPts val="0"/>
              </a:spcBef>
              <a:spcAft>
                <a:spcPts val="0"/>
              </a:spcAft>
            </a:pPr>
            <a:r>
              <a:rPr sz="2400" b="1">
                <a:solidFill>
                  <a:srgbClr val="067D79"/>
                </a:solidFill>
                <a:latin typeface="Arial"/>
              </a:rPr>
              <a:t>91,154</a:t>
            </a:r>
          </a:p>
        </p:txBody>
      </p:sp>
      <p:sp>
        <p:nvSpPr>
          <p:cNvPr id="26" name="Oval 25"/>
          <p:cNvSpPr/>
          <p:nvPr/>
        </p:nvSpPr>
        <p:spPr>
          <a:xfrm>
            <a:off x="6501383" y="3666744"/>
            <a:ext cx="128016" cy="128016"/>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3584448"/>
            <a:ext cx="2148840" cy="3657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42E35"/>
                </a:solidFill>
                <a:latin typeface="Arial"/>
              </a:rPr>
              <a:t>Validation</a:t>
            </a:r>
          </a:p>
        </p:txBody>
      </p:sp>
      <p:sp>
        <p:nvSpPr>
          <p:cNvPr id="28" name="TextBox 27"/>
          <p:cNvSpPr txBox="1"/>
          <p:nvPr/>
        </p:nvSpPr>
        <p:spPr>
          <a:xfrm>
            <a:off x="9281160" y="3584448"/>
            <a:ext cx="1965960" cy="365760"/>
          </a:xfrm>
          <a:prstGeom prst="rect">
            <a:avLst/>
          </a:prstGeom>
          <a:noFill/>
        </p:spPr>
        <p:txBody>
          <a:bodyPr wrap="square" lIns="0" rIns="0" tIns="0" bIns="0" anchor="t">
            <a:spAutoFit/>
          </a:bodyPr>
          <a:lstStyle/>
          <a:p>
            <a:pPr algn="r">
              <a:lnSpc>
                <a:spcPct val="112000"/>
              </a:lnSpc>
              <a:spcBef>
                <a:spcPts val="0"/>
              </a:spcBef>
              <a:spcAft>
                <a:spcPts val="0"/>
              </a:spcAft>
            </a:pPr>
            <a:r>
              <a:rPr sz="2400" b="1">
                <a:solidFill>
                  <a:srgbClr val="D97941"/>
                </a:solidFill>
                <a:latin typeface="Arial"/>
              </a:rPr>
              <a:t>4,411</a:t>
            </a:r>
          </a:p>
        </p:txBody>
      </p:sp>
      <p:sp>
        <p:nvSpPr>
          <p:cNvPr id="29" name="Oval 28"/>
          <p:cNvSpPr/>
          <p:nvPr/>
        </p:nvSpPr>
        <p:spPr>
          <a:xfrm>
            <a:off x="6501383" y="4370831"/>
            <a:ext cx="128016" cy="128016"/>
          </a:xfrm>
          <a:prstGeom prst="ellipse">
            <a:avLst/>
          </a:prstGeom>
          <a:solidFill>
            <a:srgbClr val="14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0" y="4288536"/>
            <a:ext cx="2148840" cy="3657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42E35"/>
                </a:solidFill>
                <a:latin typeface="Arial"/>
              </a:rPr>
              <a:t>Test</a:t>
            </a:r>
          </a:p>
        </p:txBody>
      </p:sp>
      <p:sp>
        <p:nvSpPr>
          <p:cNvPr id="31" name="TextBox 30"/>
          <p:cNvSpPr txBox="1"/>
          <p:nvPr/>
        </p:nvSpPr>
        <p:spPr>
          <a:xfrm>
            <a:off x="9281160" y="4288536"/>
            <a:ext cx="1965960" cy="365760"/>
          </a:xfrm>
          <a:prstGeom prst="rect">
            <a:avLst/>
          </a:prstGeom>
          <a:noFill/>
        </p:spPr>
        <p:txBody>
          <a:bodyPr wrap="square" lIns="0" rIns="0" tIns="0" bIns="0" anchor="t">
            <a:spAutoFit/>
          </a:bodyPr>
          <a:lstStyle/>
          <a:p>
            <a:pPr algn="r">
              <a:lnSpc>
                <a:spcPct val="112000"/>
              </a:lnSpc>
              <a:spcBef>
                <a:spcPts val="0"/>
              </a:spcBef>
              <a:spcAft>
                <a:spcPts val="0"/>
              </a:spcAft>
            </a:pPr>
            <a:r>
              <a:rPr sz="2400" b="1">
                <a:solidFill>
                  <a:srgbClr val="142E35"/>
                </a:solidFill>
                <a:latin typeface="Arial"/>
              </a:rPr>
              <a:t>4,435</a:t>
            </a:r>
          </a:p>
        </p:txBody>
      </p:sp>
      <p:sp>
        <p:nvSpPr>
          <p:cNvPr id="32" name="Rounded Rectangle 31"/>
          <p:cNvSpPr/>
          <p:nvPr/>
        </p:nvSpPr>
        <p:spPr>
          <a:xfrm>
            <a:off x="594360" y="5586984"/>
            <a:ext cx="10972800" cy="521207"/>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5715000"/>
            <a:ext cx="10616184" cy="256032"/>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This establishes benchmark separation; it does not establish absence from model pretraining.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06 / DATASET COMPOSITION</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The 100,000 tasks are deliberately broad, but uneven</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Nine abundant families account for 88.2% of tasks. Rare admissible cases limit the remaining families.</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manifest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07</a:t>
            </a:r>
          </a:p>
        </p:txBody>
      </p:sp>
      <p:sp>
        <p:nvSpPr>
          <p:cNvPr id="9" name="TextBox 8"/>
          <p:cNvSpPr txBox="1"/>
          <p:nvPr/>
        </p:nvSpPr>
        <p:spPr>
          <a:xfrm>
            <a:off x="667512" y="1938528"/>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P03</a:t>
            </a:r>
          </a:p>
        </p:txBody>
      </p:sp>
      <p:sp>
        <p:nvSpPr>
          <p:cNvPr id="10" name="Rectangle 9"/>
          <p:cNvSpPr/>
          <p:nvPr/>
        </p:nvSpPr>
        <p:spPr>
          <a:xfrm>
            <a:off x="1380744" y="1961388"/>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33956"/>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12" name="TextBox 11"/>
          <p:cNvSpPr txBox="1"/>
          <p:nvPr/>
        </p:nvSpPr>
        <p:spPr>
          <a:xfrm>
            <a:off x="667512" y="2148840"/>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G01</a:t>
            </a:r>
          </a:p>
        </p:txBody>
      </p:sp>
      <p:sp>
        <p:nvSpPr>
          <p:cNvPr id="13" name="Rectangle 12"/>
          <p:cNvSpPr/>
          <p:nvPr/>
        </p:nvSpPr>
        <p:spPr>
          <a:xfrm>
            <a:off x="1380744" y="2171700"/>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144268"/>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15" name="TextBox 14"/>
          <p:cNvSpPr txBox="1"/>
          <p:nvPr/>
        </p:nvSpPr>
        <p:spPr>
          <a:xfrm>
            <a:off x="667512" y="2359152"/>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G02</a:t>
            </a:r>
          </a:p>
        </p:txBody>
      </p:sp>
      <p:sp>
        <p:nvSpPr>
          <p:cNvPr id="16" name="Rectangle 15"/>
          <p:cNvSpPr/>
          <p:nvPr/>
        </p:nvSpPr>
        <p:spPr>
          <a:xfrm>
            <a:off x="1380744" y="2382012"/>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354580"/>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18" name="TextBox 17"/>
          <p:cNvSpPr txBox="1"/>
          <p:nvPr/>
        </p:nvSpPr>
        <p:spPr>
          <a:xfrm>
            <a:off x="667512" y="2569464"/>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G03</a:t>
            </a:r>
          </a:p>
        </p:txBody>
      </p:sp>
      <p:sp>
        <p:nvSpPr>
          <p:cNvPr id="19" name="Rectangle 18"/>
          <p:cNvSpPr/>
          <p:nvPr/>
        </p:nvSpPr>
        <p:spPr>
          <a:xfrm>
            <a:off x="1380744" y="2592324"/>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564892"/>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21" name="TextBox 20"/>
          <p:cNvSpPr txBox="1"/>
          <p:nvPr/>
        </p:nvSpPr>
        <p:spPr>
          <a:xfrm>
            <a:off x="667512" y="2779776"/>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S01</a:t>
            </a:r>
          </a:p>
        </p:txBody>
      </p:sp>
      <p:sp>
        <p:nvSpPr>
          <p:cNvPr id="22" name="Rectangle 21"/>
          <p:cNvSpPr/>
          <p:nvPr/>
        </p:nvSpPr>
        <p:spPr>
          <a:xfrm>
            <a:off x="1380744" y="2802636"/>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775204"/>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24" name="TextBox 23"/>
          <p:cNvSpPr txBox="1"/>
          <p:nvPr/>
        </p:nvSpPr>
        <p:spPr>
          <a:xfrm>
            <a:off x="667512" y="2990088"/>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S03</a:t>
            </a:r>
          </a:p>
        </p:txBody>
      </p:sp>
      <p:sp>
        <p:nvSpPr>
          <p:cNvPr id="25" name="Rectangle 24"/>
          <p:cNvSpPr/>
          <p:nvPr/>
        </p:nvSpPr>
        <p:spPr>
          <a:xfrm>
            <a:off x="1380744" y="3012948"/>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2985516"/>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27" name="TextBox 26"/>
          <p:cNvSpPr txBox="1"/>
          <p:nvPr/>
        </p:nvSpPr>
        <p:spPr>
          <a:xfrm>
            <a:off x="667512" y="3200400"/>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S04</a:t>
            </a:r>
          </a:p>
        </p:txBody>
      </p:sp>
      <p:sp>
        <p:nvSpPr>
          <p:cNvPr id="28" name="Rectangle 27"/>
          <p:cNvSpPr/>
          <p:nvPr/>
        </p:nvSpPr>
        <p:spPr>
          <a:xfrm>
            <a:off x="1380744" y="3223260"/>
            <a:ext cx="4881318"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3195828"/>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9,795</a:t>
            </a:r>
          </a:p>
        </p:txBody>
      </p:sp>
      <p:sp>
        <p:nvSpPr>
          <p:cNvPr id="30" name="TextBox 29"/>
          <p:cNvSpPr txBox="1"/>
          <p:nvPr/>
        </p:nvSpPr>
        <p:spPr>
          <a:xfrm>
            <a:off x="667512" y="3410712"/>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S09</a:t>
            </a:r>
          </a:p>
        </p:txBody>
      </p:sp>
      <p:sp>
        <p:nvSpPr>
          <p:cNvPr id="31" name="Rectangle 30"/>
          <p:cNvSpPr/>
          <p:nvPr/>
        </p:nvSpPr>
        <p:spPr>
          <a:xfrm>
            <a:off x="1380744" y="3433572"/>
            <a:ext cx="4880820"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3406140"/>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9,794</a:t>
            </a:r>
          </a:p>
        </p:txBody>
      </p:sp>
      <p:sp>
        <p:nvSpPr>
          <p:cNvPr id="33" name="TextBox 32"/>
          <p:cNvSpPr txBox="1"/>
          <p:nvPr/>
        </p:nvSpPr>
        <p:spPr>
          <a:xfrm>
            <a:off x="667512" y="3621024"/>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N01</a:t>
            </a:r>
          </a:p>
        </p:txBody>
      </p:sp>
      <p:sp>
        <p:nvSpPr>
          <p:cNvPr id="34" name="Rectangle 33"/>
          <p:cNvSpPr/>
          <p:nvPr/>
        </p:nvSpPr>
        <p:spPr>
          <a:xfrm>
            <a:off x="1380744" y="3643884"/>
            <a:ext cx="4880321" cy="13258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3616452"/>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9,793</a:t>
            </a:r>
          </a:p>
        </p:txBody>
      </p:sp>
      <p:sp>
        <p:nvSpPr>
          <p:cNvPr id="36" name="TextBox 35"/>
          <p:cNvSpPr txBox="1"/>
          <p:nvPr/>
        </p:nvSpPr>
        <p:spPr>
          <a:xfrm>
            <a:off x="667512" y="3831336"/>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P01</a:t>
            </a:r>
          </a:p>
        </p:txBody>
      </p:sp>
      <p:sp>
        <p:nvSpPr>
          <p:cNvPr id="37" name="Rectangle 36"/>
          <p:cNvSpPr/>
          <p:nvPr/>
        </p:nvSpPr>
        <p:spPr>
          <a:xfrm>
            <a:off x="1380744" y="3854196"/>
            <a:ext cx="1406836"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3826764"/>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2,823</a:t>
            </a:r>
          </a:p>
        </p:txBody>
      </p:sp>
      <p:sp>
        <p:nvSpPr>
          <p:cNvPr id="39" name="TextBox 38"/>
          <p:cNvSpPr txBox="1"/>
          <p:nvPr/>
        </p:nvSpPr>
        <p:spPr>
          <a:xfrm>
            <a:off x="667512" y="4041648"/>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P02</a:t>
            </a:r>
          </a:p>
        </p:txBody>
      </p:sp>
      <p:sp>
        <p:nvSpPr>
          <p:cNvPr id="40" name="Rectangle 39"/>
          <p:cNvSpPr/>
          <p:nvPr/>
        </p:nvSpPr>
        <p:spPr>
          <a:xfrm>
            <a:off x="1380744" y="4064508"/>
            <a:ext cx="1258827"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4037076"/>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2,526</a:t>
            </a:r>
          </a:p>
        </p:txBody>
      </p:sp>
      <p:sp>
        <p:nvSpPr>
          <p:cNvPr id="42" name="TextBox 41"/>
          <p:cNvSpPr txBox="1"/>
          <p:nvPr/>
        </p:nvSpPr>
        <p:spPr>
          <a:xfrm>
            <a:off x="667512" y="4251960"/>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S05</a:t>
            </a:r>
          </a:p>
        </p:txBody>
      </p:sp>
      <p:sp>
        <p:nvSpPr>
          <p:cNvPr id="43" name="Rectangle 42"/>
          <p:cNvSpPr/>
          <p:nvPr/>
        </p:nvSpPr>
        <p:spPr>
          <a:xfrm>
            <a:off x="1380744" y="4274820"/>
            <a:ext cx="927923"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4247388"/>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1,862</a:t>
            </a:r>
          </a:p>
        </p:txBody>
      </p:sp>
      <p:sp>
        <p:nvSpPr>
          <p:cNvPr id="45" name="TextBox 44"/>
          <p:cNvSpPr txBox="1"/>
          <p:nvPr/>
        </p:nvSpPr>
        <p:spPr>
          <a:xfrm>
            <a:off x="667512" y="4462272"/>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T01</a:t>
            </a:r>
          </a:p>
        </p:txBody>
      </p:sp>
      <p:sp>
        <p:nvSpPr>
          <p:cNvPr id="46" name="Rectangle 45"/>
          <p:cNvSpPr/>
          <p:nvPr/>
        </p:nvSpPr>
        <p:spPr>
          <a:xfrm>
            <a:off x="1380744" y="4485132"/>
            <a:ext cx="736059"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4457700"/>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1,477</a:t>
            </a:r>
          </a:p>
        </p:txBody>
      </p:sp>
      <p:sp>
        <p:nvSpPr>
          <p:cNvPr id="48" name="TextBox 47"/>
          <p:cNvSpPr txBox="1"/>
          <p:nvPr/>
        </p:nvSpPr>
        <p:spPr>
          <a:xfrm>
            <a:off x="667512" y="4672584"/>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S08</a:t>
            </a:r>
          </a:p>
        </p:txBody>
      </p:sp>
      <p:sp>
        <p:nvSpPr>
          <p:cNvPr id="49" name="Rectangle 48"/>
          <p:cNvSpPr/>
          <p:nvPr/>
        </p:nvSpPr>
        <p:spPr>
          <a:xfrm>
            <a:off x="1380744" y="4695444"/>
            <a:ext cx="593034"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46520" y="4668012"/>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1,190</a:t>
            </a:r>
          </a:p>
        </p:txBody>
      </p:sp>
      <p:sp>
        <p:nvSpPr>
          <p:cNvPr id="51" name="TextBox 50"/>
          <p:cNvSpPr txBox="1"/>
          <p:nvPr/>
        </p:nvSpPr>
        <p:spPr>
          <a:xfrm>
            <a:off x="667512" y="4882896"/>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S02</a:t>
            </a:r>
          </a:p>
        </p:txBody>
      </p:sp>
      <p:sp>
        <p:nvSpPr>
          <p:cNvPr id="52" name="Rectangle 51"/>
          <p:cNvSpPr/>
          <p:nvPr/>
        </p:nvSpPr>
        <p:spPr>
          <a:xfrm>
            <a:off x="1380744" y="4905756"/>
            <a:ext cx="266117"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46520" y="4878324"/>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534</a:t>
            </a:r>
          </a:p>
        </p:txBody>
      </p:sp>
      <p:sp>
        <p:nvSpPr>
          <p:cNvPr id="54" name="TextBox 53"/>
          <p:cNvSpPr txBox="1"/>
          <p:nvPr/>
        </p:nvSpPr>
        <p:spPr>
          <a:xfrm>
            <a:off x="667512" y="5093208"/>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S07</a:t>
            </a:r>
          </a:p>
        </p:txBody>
      </p:sp>
      <p:sp>
        <p:nvSpPr>
          <p:cNvPr id="55" name="Rectangle 54"/>
          <p:cNvSpPr/>
          <p:nvPr/>
        </p:nvSpPr>
        <p:spPr>
          <a:xfrm>
            <a:off x="1380744" y="5116068"/>
            <a:ext cx="252164"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46520" y="5088636"/>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506</a:t>
            </a:r>
          </a:p>
        </p:txBody>
      </p:sp>
      <p:sp>
        <p:nvSpPr>
          <p:cNvPr id="57" name="TextBox 56"/>
          <p:cNvSpPr txBox="1"/>
          <p:nvPr/>
        </p:nvSpPr>
        <p:spPr>
          <a:xfrm>
            <a:off x="667512" y="5303520"/>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S06</a:t>
            </a:r>
          </a:p>
        </p:txBody>
      </p:sp>
      <p:sp>
        <p:nvSpPr>
          <p:cNvPr id="58" name="Rectangle 57"/>
          <p:cNvSpPr/>
          <p:nvPr/>
        </p:nvSpPr>
        <p:spPr>
          <a:xfrm>
            <a:off x="1380744" y="5326380"/>
            <a:ext cx="202827"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46520" y="5298948"/>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407</a:t>
            </a:r>
          </a:p>
        </p:txBody>
      </p:sp>
      <p:sp>
        <p:nvSpPr>
          <p:cNvPr id="60" name="TextBox 59"/>
          <p:cNvSpPr txBox="1"/>
          <p:nvPr/>
        </p:nvSpPr>
        <p:spPr>
          <a:xfrm>
            <a:off x="667512" y="5513832"/>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I01</a:t>
            </a:r>
          </a:p>
        </p:txBody>
      </p:sp>
      <p:sp>
        <p:nvSpPr>
          <p:cNvPr id="61" name="Rectangle 60"/>
          <p:cNvSpPr/>
          <p:nvPr/>
        </p:nvSpPr>
        <p:spPr>
          <a:xfrm>
            <a:off x="1380744" y="5536692"/>
            <a:ext cx="145019"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46520" y="5509260"/>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291</a:t>
            </a:r>
          </a:p>
        </p:txBody>
      </p:sp>
      <p:sp>
        <p:nvSpPr>
          <p:cNvPr id="63" name="TextBox 62"/>
          <p:cNvSpPr txBox="1"/>
          <p:nvPr/>
        </p:nvSpPr>
        <p:spPr>
          <a:xfrm>
            <a:off x="667512" y="5724144"/>
            <a:ext cx="530352" cy="173736"/>
          </a:xfrm>
          <a:prstGeom prst="rect">
            <a:avLst/>
          </a:prstGeom>
          <a:noFill/>
        </p:spPr>
        <p:txBody>
          <a:bodyPr wrap="square" lIns="0" rIns="0" tIns="0" bIns="0" anchor="t">
            <a:spAutoFit/>
          </a:bodyPr>
          <a:lstStyle/>
          <a:p>
            <a:pPr algn="l">
              <a:lnSpc>
                <a:spcPct val="112000"/>
              </a:lnSpc>
              <a:spcBef>
                <a:spcPts val="0"/>
              </a:spcBef>
              <a:spcAft>
                <a:spcPts val="0"/>
              </a:spcAft>
            </a:pPr>
            <a:r>
              <a:rPr sz="1070" b="1">
                <a:solidFill>
                  <a:srgbClr val="142E35"/>
                </a:solidFill>
                <a:latin typeface="Liberation Mono"/>
              </a:rPr>
              <a:t>G04</a:t>
            </a:r>
          </a:p>
        </p:txBody>
      </p:sp>
      <p:sp>
        <p:nvSpPr>
          <p:cNvPr id="64" name="Rectangle 63"/>
          <p:cNvSpPr/>
          <p:nvPr/>
        </p:nvSpPr>
        <p:spPr>
          <a:xfrm>
            <a:off x="1380744" y="5747004"/>
            <a:ext cx="115616" cy="13258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46520" y="5719572"/>
            <a:ext cx="832104" cy="182880"/>
          </a:xfrm>
          <a:prstGeom prst="rect">
            <a:avLst/>
          </a:prstGeom>
          <a:noFill/>
        </p:spPr>
        <p:txBody>
          <a:bodyPr wrap="square" lIns="0" rIns="0" tIns="0" bIns="0" anchor="t">
            <a:spAutoFit/>
          </a:bodyPr>
          <a:lstStyle/>
          <a:p>
            <a:pPr algn="r">
              <a:lnSpc>
                <a:spcPct val="112000"/>
              </a:lnSpc>
              <a:spcBef>
                <a:spcPts val="0"/>
              </a:spcBef>
              <a:spcAft>
                <a:spcPts val="0"/>
              </a:spcAft>
            </a:pPr>
            <a:r>
              <a:rPr sz="1070" b="0">
                <a:solidFill>
                  <a:srgbClr val="142E35"/>
                </a:solidFill>
                <a:latin typeface="Arial"/>
              </a:rPr>
              <a:t>232</a:t>
            </a:r>
          </a:p>
        </p:txBody>
      </p:sp>
      <p:sp>
        <p:nvSpPr>
          <p:cNvPr id="66" name="TextBox 65"/>
          <p:cNvSpPr txBox="1"/>
          <p:nvPr/>
        </p:nvSpPr>
        <p:spPr>
          <a:xfrm>
            <a:off x="1179576" y="6053328"/>
            <a:ext cx="594360" cy="210312"/>
          </a:xfrm>
          <a:prstGeom prst="rect">
            <a:avLst/>
          </a:prstGeom>
          <a:noFill/>
        </p:spPr>
        <p:txBody>
          <a:bodyPr wrap="square" lIns="0" rIns="0" tIns="0" bIns="0" anchor="t">
            <a:spAutoFit/>
          </a:bodyPr>
          <a:lstStyle/>
          <a:p>
            <a:pPr algn="ctr">
              <a:lnSpc>
                <a:spcPct val="112000"/>
              </a:lnSpc>
              <a:spcBef>
                <a:spcPts val="0"/>
              </a:spcBef>
              <a:spcAft>
                <a:spcPts val="0"/>
              </a:spcAft>
            </a:pPr>
            <a:r>
              <a:rPr sz="1000" b="0">
                <a:solidFill>
                  <a:srgbClr val="586E72"/>
                </a:solidFill>
                <a:latin typeface="Arial"/>
              </a:rPr>
              <a:t>0</a:t>
            </a:r>
          </a:p>
        </p:txBody>
      </p:sp>
      <p:sp>
        <p:nvSpPr>
          <p:cNvPr id="67" name="TextBox 66"/>
          <p:cNvSpPr txBox="1"/>
          <p:nvPr/>
        </p:nvSpPr>
        <p:spPr>
          <a:xfrm>
            <a:off x="3671316" y="6053328"/>
            <a:ext cx="594360" cy="210312"/>
          </a:xfrm>
          <a:prstGeom prst="rect">
            <a:avLst/>
          </a:prstGeom>
          <a:noFill/>
        </p:spPr>
        <p:txBody>
          <a:bodyPr wrap="square" lIns="0" rIns="0" tIns="0" bIns="0" anchor="t">
            <a:spAutoFit/>
          </a:bodyPr>
          <a:lstStyle/>
          <a:p>
            <a:pPr algn="ctr">
              <a:lnSpc>
                <a:spcPct val="112000"/>
              </a:lnSpc>
              <a:spcBef>
                <a:spcPts val="0"/>
              </a:spcBef>
              <a:spcAft>
                <a:spcPts val="0"/>
              </a:spcAft>
            </a:pPr>
            <a:r>
              <a:rPr sz="1000" b="0">
                <a:solidFill>
                  <a:srgbClr val="586E72"/>
                </a:solidFill>
                <a:latin typeface="Arial"/>
              </a:rPr>
              <a:t>5,000</a:t>
            </a:r>
          </a:p>
        </p:txBody>
      </p:sp>
      <p:sp>
        <p:nvSpPr>
          <p:cNvPr id="68" name="TextBox 67"/>
          <p:cNvSpPr txBox="1"/>
          <p:nvPr/>
        </p:nvSpPr>
        <p:spPr>
          <a:xfrm>
            <a:off x="6163056" y="6053328"/>
            <a:ext cx="594360" cy="210312"/>
          </a:xfrm>
          <a:prstGeom prst="rect">
            <a:avLst/>
          </a:prstGeom>
          <a:noFill/>
        </p:spPr>
        <p:txBody>
          <a:bodyPr wrap="square" lIns="0" rIns="0" tIns="0" bIns="0" anchor="t">
            <a:spAutoFit/>
          </a:bodyPr>
          <a:lstStyle/>
          <a:p>
            <a:pPr algn="ctr">
              <a:lnSpc>
                <a:spcPct val="112000"/>
              </a:lnSpc>
              <a:spcBef>
                <a:spcPts val="0"/>
              </a:spcBef>
              <a:spcAft>
                <a:spcPts val="0"/>
              </a:spcAft>
            </a:pPr>
            <a:r>
              <a:rPr sz="1000" b="0">
                <a:solidFill>
                  <a:srgbClr val="586E72"/>
                </a:solidFill>
                <a:latin typeface="Arial"/>
              </a:rPr>
              <a:t>10,000</a:t>
            </a:r>
          </a:p>
        </p:txBody>
      </p:sp>
      <p:cxnSp>
        <p:nvCxnSpPr>
          <p:cNvPr id="69" name="Connector 68"/>
          <p:cNvCxnSpPr/>
          <p:nvPr/>
        </p:nvCxnSpPr>
        <p:spPr>
          <a:xfrm>
            <a:off x="1380744" y="5961888"/>
            <a:ext cx="4983480" cy="0"/>
          </a:xfrm>
          <a:prstGeom prst="line">
            <a:avLst/>
          </a:prstGeom>
          <a:ln w="12700">
            <a:solidFill>
              <a:srgbClr val="D4DDDA"/>
            </a:solidFill>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7808975" y="2084831"/>
            <a:ext cx="3730752" cy="1472184"/>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808975" y="2084831"/>
            <a:ext cx="41148" cy="1472184"/>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001000" y="2249424"/>
            <a:ext cx="3364992"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2,671 PDB entries</a:t>
            </a:r>
          </a:p>
        </p:txBody>
      </p:sp>
      <p:sp>
        <p:nvSpPr>
          <p:cNvPr id="73" name="TextBox 72"/>
          <p:cNvSpPr txBox="1"/>
          <p:nvPr/>
        </p:nvSpPr>
        <p:spPr>
          <a:xfrm>
            <a:off x="8001000" y="2779776"/>
            <a:ext cx="3337560" cy="667512"/>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Multiple questions may use the same source structure.</a:t>
            </a:r>
          </a:p>
        </p:txBody>
      </p:sp>
      <p:sp>
        <p:nvSpPr>
          <p:cNvPr id="74" name="Rounded Rectangle 73"/>
          <p:cNvSpPr/>
          <p:nvPr/>
        </p:nvSpPr>
        <p:spPr>
          <a:xfrm>
            <a:off x="7808975" y="3758184"/>
            <a:ext cx="3730752" cy="166420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808975" y="3758184"/>
            <a:ext cx="41148" cy="1664208"/>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01000" y="3922776"/>
            <a:ext cx="3364992"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D97941"/>
                </a:solidFill>
                <a:latin typeface="Arial"/>
              </a:rPr>
              <a:t>232 steric-clash tasks</a:t>
            </a:r>
          </a:p>
        </p:txBody>
      </p:sp>
      <p:sp>
        <p:nvSpPr>
          <p:cNvPr id="77" name="TextBox 76"/>
          <p:cNvSpPr txBox="1"/>
          <p:nvPr/>
        </p:nvSpPr>
        <p:spPr>
          <a:xfrm>
            <a:off x="8001000" y="4453128"/>
            <a:ext cx="3337560" cy="85953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Compare with 9,795 tasks in each of several abundant families.</a:t>
            </a:r>
          </a:p>
        </p:txBody>
      </p:sp>
      <p:sp>
        <p:nvSpPr>
          <p:cNvPr id="78" name="TextBox 77"/>
          <p:cNvSpPr txBox="1"/>
          <p:nvPr/>
        </p:nvSpPr>
        <p:spPr>
          <a:xfrm>
            <a:off x="7827264" y="5632704"/>
            <a:ext cx="3703320" cy="5669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142E35"/>
                </a:solidFill>
                <a:latin typeface="Arial"/>
              </a:rPr>
              <a:t>Report family-level results alongside aggregate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07 / EXECUTION CONTRACT</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Harbor packages a tool-free model task</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Task Trove-style Parquet rows contain task_binary and a separate solution_binary.</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release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08</a:t>
            </a:r>
          </a:p>
        </p:txBody>
      </p:sp>
      <p:sp>
        <p:nvSpPr>
          <p:cNvPr id="9" name="Rounded Rectangle 8"/>
          <p:cNvSpPr/>
          <p:nvPr/>
        </p:nvSpPr>
        <p:spPr>
          <a:xfrm>
            <a:off x="594360" y="2039112"/>
            <a:ext cx="4800600" cy="3566160"/>
          </a:xfrm>
          <a:prstGeom prst="roundRect">
            <a:avLst>
              <a:gd name="adj" fmla="val 3500"/>
            </a:avLst>
          </a:prstGeom>
          <a:solidFill>
            <a:srgbClr val="10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86000"/>
            <a:ext cx="4343400" cy="24688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91E1CD"/>
                </a:solidFill>
                <a:latin typeface="Arial"/>
              </a:rPr>
              <a:t>MODEL INPUT</a:t>
            </a:r>
          </a:p>
        </p:txBody>
      </p:sp>
      <p:sp>
        <p:nvSpPr>
          <p:cNvPr id="11" name="TextBox 10"/>
          <p:cNvSpPr txBox="1"/>
          <p:nvPr/>
        </p:nvSpPr>
        <p:spPr>
          <a:xfrm>
            <a:off x="822960" y="2834640"/>
            <a:ext cx="4251960" cy="384048"/>
          </a:xfrm>
          <a:prstGeom prst="rect">
            <a:avLst/>
          </a:prstGeom>
          <a:noFill/>
        </p:spPr>
        <p:txBody>
          <a:bodyPr wrap="square" lIns="0" rIns="0" tIns="0" bIns="0" anchor="t">
            <a:spAutoFit/>
          </a:bodyPr>
          <a:lstStyle/>
          <a:p>
            <a:pPr algn="l">
              <a:lnSpc>
                <a:spcPct val="112000"/>
              </a:lnSpc>
              <a:spcBef>
                <a:spcPts val="0"/>
              </a:spcBef>
              <a:spcAft>
                <a:spcPts val="0"/>
              </a:spcAft>
            </a:pPr>
            <a:r>
              <a:rPr sz="2700" b="1">
                <a:solidFill>
                  <a:srgbClr val="FFFFFF"/>
                </a:solidFill>
                <a:latin typeface="Liberation Mono"/>
              </a:rPr>
              <a:t>prompt.json</a:t>
            </a:r>
          </a:p>
        </p:txBody>
      </p:sp>
      <p:sp>
        <p:nvSpPr>
          <p:cNvPr id="12" name="TextBox 11"/>
          <p:cNvSpPr txBox="1"/>
          <p:nvPr/>
        </p:nvSpPr>
        <p:spPr>
          <a:xfrm>
            <a:off x="822960" y="3511296"/>
            <a:ext cx="4270248" cy="1344168"/>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FFFFFF"/>
                </a:solidFill>
                <a:latin typeface="Arial"/>
              </a:rPr>
              <a:t>System instructions</a:t>
            </a:r>
          </a:p>
          <a:p>
            <a:pPr algn="l">
              <a:lnSpc>
                <a:spcPct val="112000"/>
              </a:lnSpc>
              <a:spcBef>
                <a:spcPts val="0"/>
              </a:spcBef>
              <a:spcAft>
                <a:spcPts val="0"/>
              </a:spcAft>
            </a:pPr>
            <a:r>
              <a:rPr sz="1900" b="0">
                <a:solidFill>
                  <a:srgbClr val="FFFFFF"/>
                </a:solidFill>
                <a:latin typeface="Arial"/>
              </a:rPr>
              <a:t>Exact coordinate question</a:t>
            </a:r>
          </a:p>
          <a:p>
            <a:pPr algn="l">
              <a:lnSpc>
                <a:spcPct val="112000"/>
              </a:lnSpc>
              <a:spcBef>
                <a:spcPts val="0"/>
              </a:spcBef>
              <a:spcAft>
                <a:spcPts val="0"/>
              </a:spcAft>
            </a:pPr>
            <a:r>
              <a:rPr sz="1900" b="0">
                <a:solidFill>
                  <a:srgbClr val="FFFFFF"/>
                </a:solidFill>
                <a:latin typeface="Arial"/>
              </a:rPr>
              <a:t>No gold, provenance or source IDs</a:t>
            </a:r>
          </a:p>
        </p:txBody>
      </p:sp>
      <p:sp>
        <p:nvSpPr>
          <p:cNvPr id="13" name="TextBox 12"/>
          <p:cNvSpPr txBox="1"/>
          <p:nvPr/>
        </p:nvSpPr>
        <p:spPr>
          <a:xfrm>
            <a:off x="822960" y="5001768"/>
            <a:ext cx="4251960" cy="301752"/>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91E1CD"/>
                </a:solidFill>
                <a:latin typeface="Arial"/>
              </a:rPr>
              <a:t>One response → FINAL field</a:t>
            </a:r>
          </a:p>
        </p:txBody>
      </p:sp>
      <p:sp>
        <p:nvSpPr>
          <p:cNvPr id="14" name="TextBox 13"/>
          <p:cNvSpPr txBox="1"/>
          <p:nvPr/>
        </p:nvSpPr>
        <p:spPr>
          <a:xfrm>
            <a:off x="5559552" y="3502152"/>
            <a:ext cx="621792" cy="594360"/>
          </a:xfrm>
          <a:prstGeom prst="rect">
            <a:avLst/>
          </a:prstGeom>
          <a:noFill/>
        </p:spPr>
        <p:txBody>
          <a:bodyPr wrap="square" lIns="0" rIns="0" tIns="0" bIns="0" anchor="t">
            <a:spAutoFit/>
          </a:bodyPr>
          <a:lstStyle/>
          <a:p>
            <a:pPr algn="l">
              <a:lnSpc>
                <a:spcPct val="112000"/>
              </a:lnSpc>
              <a:spcBef>
                <a:spcPts val="0"/>
              </a:spcBef>
              <a:spcAft>
                <a:spcPts val="0"/>
              </a:spcAft>
            </a:pPr>
            <a:r>
              <a:rPr sz="3700" b="1">
                <a:solidFill>
                  <a:srgbClr val="067D79"/>
                </a:solidFill>
                <a:latin typeface="Arial"/>
              </a:rPr>
              <a:t>→</a:t>
            </a:r>
          </a:p>
        </p:txBody>
      </p:sp>
      <p:sp>
        <p:nvSpPr>
          <p:cNvPr id="15" name="Rounded Rectangle 14"/>
          <p:cNvSpPr/>
          <p:nvPr/>
        </p:nvSpPr>
        <p:spPr>
          <a:xfrm>
            <a:off x="6336792" y="2039112"/>
            <a:ext cx="5221224" cy="3566160"/>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286000"/>
            <a:ext cx="4617720" cy="24688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67D79"/>
                </a:solidFill>
                <a:latin typeface="Arial"/>
              </a:rPr>
              <a:t>HOST / EVALUATOR</a:t>
            </a:r>
          </a:p>
        </p:txBody>
      </p:sp>
      <p:sp>
        <p:nvSpPr>
          <p:cNvPr id="17" name="TextBox 16"/>
          <p:cNvSpPr txBox="1"/>
          <p:nvPr/>
        </p:nvSpPr>
        <p:spPr>
          <a:xfrm>
            <a:off x="6583680" y="2834640"/>
            <a:ext cx="4617720" cy="640080"/>
          </a:xfrm>
          <a:prstGeom prst="rect">
            <a:avLst/>
          </a:prstGeom>
          <a:noFill/>
        </p:spPr>
        <p:txBody>
          <a:bodyPr wrap="square" lIns="0" rIns="0" tIns="0" bIns="0" anchor="t">
            <a:spAutoFit/>
          </a:bodyPr>
          <a:lstStyle/>
          <a:p>
            <a:pPr algn="l">
              <a:lnSpc>
                <a:spcPct val="112000"/>
              </a:lnSpc>
              <a:spcBef>
                <a:spcPts val="0"/>
              </a:spcBef>
              <a:spcAft>
                <a:spcPts val="0"/>
              </a:spcAft>
            </a:pPr>
            <a:r>
              <a:rPr sz="2400" b="1">
                <a:solidFill>
                  <a:srgbClr val="142E35"/>
                </a:solidFill>
                <a:latin typeface="Arial"/>
              </a:rPr>
              <a:t>Bundled deterministic verifier</a:t>
            </a:r>
          </a:p>
        </p:txBody>
      </p:sp>
      <p:sp>
        <p:nvSpPr>
          <p:cNvPr id="18" name="TextBox 17"/>
          <p:cNvSpPr txBox="1"/>
          <p:nvPr/>
        </p:nvSpPr>
        <p:spPr>
          <a:xfrm>
            <a:off x="6583680" y="3657600"/>
            <a:ext cx="4645152" cy="1289304"/>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42E35"/>
                </a:solidFill>
                <a:latin typeface="Arial"/>
              </a:rPr>
              <a:t>Typed parsing + numerical tolerances</a:t>
            </a:r>
          </a:p>
          <a:p>
            <a:pPr algn="l">
              <a:lnSpc>
                <a:spcPct val="112000"/>
              </a:lnSpc>
              <a:spcBef>
                <a:spcPts val="0"/>
              </a:spcBef>
              <a:spcAft>
                <a:spcPts val="0"/>
              </a:spcAft>
            </a:pPr>
            <a:r>
              <a:rPr sz="1800" b="0">
                <a:solidFill>
                  <a:srgbClr val="142E35"/>
                </a:solidFill>
                <a:latin typeface="Arial"/>
              </a:rPr>
              <a:t>Exact correctness → reward 0 or 1</a:t>
            </a:r>
          </a:p>
          <a:p>
            <a:pPr algn="l">
              <a:lnSpc>
                <a:spcPct val="112000"/>
              </a:lnSpc>
              <a:spcBef>
                <a:spcPts val="0"/>
              </a:spcBef>
              <a:spcAft>
                <a:spcPts val="0"/>
              </a:spcAft>
            </a:pPr>
            <a:r>
              <a:rPr sz="1800" b="0">
                <a:solidFill>
                  <a:srgbClr val="142E35"/>
                </a:solidFill>
                <a:latin typeface="Arial"/>
              </a:rPr>
              <a:t>Partial-credit diagnostics kept separately</a:t>
            </a:r>
          </a:p>
        </p:txBody>
      </p:sp>
      <p:sp>
        <p:nvSpPr>
          <p:cNvPr id="19" name="Rounded Rectangle 18"/>
          <p:cNvSpPr/>
          <p:nvPr/>
        </p:nvSpPr>
        <p:spPr>
          <a:xfrm>
            <a:off x="6583680" y="5120640"/>
            <a:ext cx="3401568" cy="29260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5976" y="5175503"/>
            <a:ext cx="3236976"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ORACLE SOLUTION REMAINS SEPARATE</a:t>
            </a:r>
          </a:p>
        </p:txBody>
      </p:sp>
      <p:sp>
        <p:nvSpPr>
          <p:cNvPr id="21" name="TextBox 20"/>
          <p:cNvSpPr txBox="1"/>
          <p:nvPr/>
        </p:nvSpPr>
        <p:spPr>
          <a:xfrm>
            <a:off x="713232" y="5916168"/>
            <a:ext cx="10744200" cy="35661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586E72"/>
                </a:solidFill>
                <a:latin typeface="Arial"/>
              </a:rPr>
              <a:t>For evaluation, allocate the largest supported output budget that fits the exact native-token prompt.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08 / CURRENT RELEASE</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v1.3 makes the scoring boundary and clash rule explicit</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All 100,000 task identities, displayed coordinates, gold answers and grouped splits are preserved.</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v1.3.0 correction audit</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09</a:t>
            </a:r>
          </a:p>
        </p:txBody>
      </p:sp>
      <p:sp>
        <p:nvSpPr>
          <p:cNvPr id="9" name="Rounded Rectangle 8"/>
          <p:cNvSpPr/>
          <p:nvPr/>
        </p:nvSpPr>
        <p:spPr>
          <a:xfrm>
            <a:off x="594360" y="2103120"/>
            <a:ext cx="5312664" cy="300837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1148" cy="3008376"/>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267712"/>
            <a:ext cx="4946903"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Inclusive numeric tolerance</a:t>
            </a:r>
          </a:p>
        </p:txBody>
      </p:sp>
      <p:sp>
        <p:nvSpPr>
          <p:cNvPr id="12" name="TextBox 11"/>
          <p:cNvSpPr txBox="1"/>
          <p:nvPr/>
        </p:nvSpPr>
        <p:spPr>
          <a:xfrm>
            <a:off x="786384" y="2798063"/>
            <a:ext cx="4919472" cy="2203704"/>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−1.710 vs −1.711 should pass ±0.001.</a:t>
            </a:r>
          </a:p>
          <a:p>
            <a:pPr algn="l">
              <a:lnSpc>
                <a:spcPct val="112000"/>
              </a:lnSpc>
              <a:spcBef>
                <a:spcPts val="0"/>
              </a:spcBef>
              <a:spcAft>
                <a:spcPts val="0"/>
              </a:spcAft>
            </a:pPr>
            <a:r>
              <a:rPr sz="1600" b="0">
                <a:solidFill>
                  <a:srgbClr val="142E35"/>
                </a:solidFill>
                <a:latin typeface="Arial"/>
              </a:rPr>
              <a:t/>
            </a:r>
          </a:p>
          <a:p>
            <a:pPr algn="l">
              <a:lnSpc>
                <a:spcPct val="112000"/>
              </a:lnSpc>
              <a:spcBef>
                <a:spcPts val="0"/>
              </a:spcBef>
              <a:spcAft>
                <a:spcPts val="0"/>
              </a:spcAft>
            </a:pPr>
            <a:r>
              <a:rPr sz="1600" b="0">
                <a:solidFill>
                  <a:srgbClr val="142E35"/>
                </a:solidFill>
                <a:latin typeface="Arial"/>
              </a:rPr>
              <a:t>Scorer 1.1.0 removes binary-subtraction boundary errors; tolerance is unchanged.</a:t>
            </a:r>
          </a:p>
        </p:txBody>
      </p:sp>
      <p:sp>
        <p:nvSpPr>
          <p:cNvPr id="13" name="Rounded Rectangle 12"/>
          <p:cNvSpPr/>
          <p:nvPr/>
        </p:nvSpPr>
        <p:spPr>
          <a:xfrm>
            <a:off x="6144768" y="2103120"/>
            <a:ext cx="5404104" cy="300837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44768" y="2103120"/>
            <a:ext cx="41148" cy="3008376"/>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2267712"/>
            <a:ext cx="5038344"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D97941"/>
                </a:solidFill>
                <a:latin typeface="Arial"/>
              </a:rPr>
              <a:t>Steric-clash exclusions</a:t>
            </a:r>
          </a:p>
        </p:txBody>
      </p:sp>
      <p:sp>
        <p:nvSpPr>
          <p:cNvPr id="16" name="TextBox 15"/>
          <p:cNvSpPr txBox="1"/>
          <p:nvPr/>
        </p:nvSpPr>
        <p:spPr>
          <a:xfrm>
            <a:off x="6336792" y="2798063"/>
            <a:ext cx="5010912" cy="2203704"/>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The question now explicitly excludes every SG–SG pair.</a:t>
            </a:r>
          </a:p>
          <a:p>
            <a:pPr algn="l">
              <a:lnSpc>
                <a:spcPct val="112000"/>
              </a:lnSpc>
              <a:spcBef>
                <a:spcPts val="0"/>
              </a:spcBef>
              <a:spcAft>
                <a:spcPts val="0"/>
              </a:spcAft>
            </a:pPr>
            <a:r>
              <a:rPr sz="1600" b="0">
                <a:solidFill>
                  <a:srgbClr val="142E35"/>
                </a:solidFill>
                <a:latin typeface="Arial"/>
              </a:rPr>
              <a:t/>
            </a:r>
          </a:p>
          <a:p>
            <a:pPr algn="l">
              <a:lnSpc>
                <a:spcPct val="112000"/>
              </a:lnSpc>
              <a:spcBef>
                <a:spcPts val="0"/>
              </a:spcBef>
              <a:spcAft>
                <a:spcPts val="0"/>
              </a:spcAft>
            </a:pPr>
            <a:r>
              <a:rPr sz="1600" b="0">
                <a:solidFill>
                  <a:srgbClr val="142E35"/>
                </a:solidFill>
                <a:latin typeface="Arial"/>
              </a:rPr>
              <a:t>Prompt v5 clarifies all 232 G04 tasks without changing their gold answers.</a:t>
            </a:r>
          </a:p>
        </p:txBody>
      </p:sp>
      <p:sp>
        <p:nvSpPr>
          <p:cNvPr id="17" name="Rounded Rectangle 16"/>
          <p:cNvSpPr/>
          <p:nvPr/>
        </p:nvSpPr>
        <p:spPr>
          <a:xfrm>
            <a:off x="594360" y="5431536"/>
            <a:ext cx="10954512" cy="749808"/>
          </a:xfrm>
          <a:prstGeom prst="roundRect">
            <a:avLst>
              <a:gd name="adj" fmla="val 3500"/>
            </a:avLst>
          </a:prstGeom>
          <a:solidFill>
            <a:srgbClr val="14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605272"/>
            <a:ext cx="2148840" cy="329184"/>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91E1CD"/>
                </a:solidFill>
                <a:latin typeface="Arial"/>
              </a:rPr>
              <a:t>Version boundary</a:t>
            </a:r>
          </a:p>
        </p:txBody>
      </p:sp>
      <p:sp>
        <p:nvSpPr>
          <p:cNvPr id="19" name="TextBox 18"/>
          <p:cNvSpPr txBox="1"/>
          <p:nvPr/>
        </p:nvSpPr>
        <p:spPr>
          <a:xfrm>
            <a:off x="3063240" y="5623560"/>
            <a:ext cx="8257031" cy="365760"/>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FFFFFF"/>
                </a:solidFill>
                <a:latin typeface="Arial"/>
              </a:rPr>
              <a:t>Published GLM traces retain their v1.2 prompts and historical rewards.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82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91E1CD"/>
                </a:solidFill>
                <a:latin typeface="Arial"/>
              </a:rPr>
              <a:t>09 / SNOWBALL CONTEXT</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FFFFFF"/>
                </a:solidFill>
                <a:latin typeface="Arial"/>
              </a:rPr>
              <a:t>28,045 training tasks leave 8K for reasoning and output</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A8BBC0"/>
                </a:solidFill>
                <a:latin typeface="Arial"/>
              </a:rPr>
              <a:t>Exact token counts use Snowball’s pinned tokenizer and thinking-enabled chat template.</a:t>
            </a:r>
          </a:p>
        </p:txBody>
      </p:sp>
      <p:cxnSp>
        <p:nvCxnSpPr>
          <p:cNvPr id="5" name="Connector 4"/>
          <p:cNvCxnSpPr/>
          <p:nvPr/>
        </p:nvCxnSpPr>
        <p:spPr>
          <a:xfrm>
            <a:off x="530352" y="6473952"/>
            <a:ext cx="11100816" cy="0"/>
          </a:xfrm>
          <a:prstGeom prst="line">
            <a:avLst/>
          </a:prstGeom>
          <a:ln w="7620">
            <a:solidFill>
              <a:srgbClr val="3650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A8BBC0"/>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A8BBC0"/>
                </a:solidFill>
                <a:latin typeface="Arial"/>
              </a:rPr>
              <a:t>Snowball native-context audit</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A8BBC0"/>
                </a:solidFill>
                <a:latin typeface="Arial"/>
              </a:rPr>
              <a:t>10</a:t>
            </a:r>
          </a:p>
        </p:txBody>
      </p:sp>
      <p:sp>
        <p:nvSpPr>
          <p:cNvPr id="9" name="Rounded Rectangle 8"/>
          <p:cNvSpPr/>
          <p:nvPr/>
        </p:nvSpPr>
        <p:spPr>
          <a:xfrm>
            <a:off x="676656" y="2112264"/>
            <a:ext cx="8156448" cy="676656"/>
          </a:xfrm>
          <a:prstGeom prst="roundRect">
            <a:avLst>
              <a:gd name="adj" fmla="val 3500"/>
            </a:avLst>
          </a:prstGeom>
          <a:solidFill>
            <a:srgbClr val="224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112264"/>
            <a:ext cx="6117336" cy="676656"/>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93992" y="2112264"/>
            <a:ext cx="2039112" cy="676656"/>
          </a:xfrm>
          <a:prstGeom prst="rect">
            <a:avLst/>
          </a:prstGeom>
          <a:solidFill>
            <a:srgbClr val="F3B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322576"/>
            <a:ext cx="5303520" cy="265176"/>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FFFFFF"/>
                </a:solidFill>
                <a:latin typeface="Arial"/>
              </a:rPr>
              <a:t>Prompt ≤24,576 tokens</a:t>
            </a:r>
          </a:p>
        </p:txBody>
      </p:sp>
      <p:sp>
        <p:nvSpPr>
          <p:cNvPr id="13" name="TextBox 12"/>
          <p:cNvSpPr txBox="1"/>
          <p:nvPr/>
        </p:nvSpPr>
        <p:spPr>
          <a:xfrm>
            <a:off x="6967728" y="2340864"/>
            <a:ext cx="1737360" cy="256032"/>
          </a:xfrm>
          <a:prstGeom prst="rect">
            <a:avLst/>
          </a:prstGeom>
          <a:noFill/>
        </p:spPr>
        <p:txBody>
          <a:bodyPr wrap="square" lIns="0" rIns="0" tIns="0" bIns="0" anchor="t">
            <a:spAutoFit/>
          </a:bodyPr>
          <a:lstStyle/>
          <a:p>
            <a:pPr algn="l">
              <a:lnSpc>
                <a:spcPct val="112000"/>
              </a:lnSpc>
              <a:spcBef>
                <a:spcPts val="0"/>
              </a:spcBef>
              <a:spcAft>
                <a:spcPts val="0"/>
              </a:spcAft>
            </a:pPr>
            <a:r>
              <a:rPr sz="1500" b="1">
                <a:solidFill>
                  <a:srgbClr val="10282F"/>
                </a:solidFill>
                <a:latin typeface="Arial"/>
              </a:rPr>
              <a:t>8,192 reserve</a:t>
            </a:r>
          </a:p>
        </p:txBody>
      </p:sp>
      <p:sp>
        <p:nvSpPr>
          <p:cNvPr id="14" name="TextBox 13"/>
          <p:cNvSpPr txBox="1"/>
          <p:nvPr/>
        </p:nvSpPr>
        <p:spPr>
          <a:xfrm>
            <a:off x="9171432" y="2304288"/>
            <a:ext cx="2103120" cy="329184"/>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FFFFFF"/>
                </a:solidFill>
                <a:latin typeface="Arial"/>
              </a:rPr>
              <a:t>32,768 total</a:t>
            </a:r>
          </a:p>
        </p:txBody>
      </p:sp>
      <p:sp>
        <p:nvSpPr>
          <p:cNvPr id="15" name="TextBox 14"/>
          <p:cNvSpPr txBox="1"/>
          <p:nvPr/>
        </p:nvSpPr>
        <p:spPr>
          <a:xfrm>
            <a:off x="704088" y="3319272"/>
            <a:ext cx="2871216" cy="274320"/>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FFFFFF"/>
                </a:solidFill>
                <a:latin typeface="Arial"/>
              </a:rPr>
              <a:t>All training tasks</a:t>
            </a:r>
          </a:p>
        </p:txBody>
      </p:sp>
      <p:sp>
        <p:nvSpPr>
          <p:cNvPr id="16" name="Rectangle 15"/>
          <p:cNvSpPr/>
          <p:nvPr/>
        </p:nvSpPr>
        <p:spPr>
          <a:xfrm>
            <a:off x="3721608" y="3328415"/>
            <a:ext cx="5148072" cy="246888"/>
          </a:xfrm>
          <a:prstGeom prst="rect">
            <a:avLst/>
          </a:prstGeom>
          <a:solidFill>
            <a:srgbClr val="4D7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1432" y="3273552"/>
            <a:ext cx="1956816" cy="374904"/>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FFFFFF"/>
                </a:solidFill>
                <a:latin typeface="Arial"/>
              </a:rPr>
              <a:t>91,154</a:t>
            </a:r>
          </a:p>
        </p:txBody>
      </p:sp>
      <p:sp>
        <p:nvSpPr>
          <p:cNvPr id="18" name="TextBox 17"/>
          <p:cNvSpPr txBox="1"/>
          <p:nvPr/>
        </p:nvSpPr>
        <p:spPr>
          <a:xfrm>
            <a:off x="704088" y="3922776"/>
            <a:ext cx="2871216" cy="274320"/>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FFFFFF"/>
                </a:solidFill>
                <a:latin typeface="Arial"/>
              </a:rPr>
              <a:t>Prompt alone fits</a:t>
            </a:r>
          </a:p>
        </p:txBody>
      </p:sp>
      <p:sp>
        <p:nvSpPr>
          <p:cNvPr id="19" name="Rectangle 18"/>
          <p:cNvSpPr/>
          <p:nvPr/>
        </p:nvSpPr>
        <p:spPr>
          <a:xfrm>
            <a:off x="3721608" y="3931920"/>
            <a:ext cx="2535914" cy="246888"/>
          </a:xfrm>
          <a:prstGeom prst="rect">
            <a:avLst/>
          </a:prstGeom>
          <a:solidFill>
            <a:srgbClr val="4D7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71432" y="3877056"/>
            <a:ext cx="1956816" cy="374904"/>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FFFFFF"/>
                </a:solidFill>
                <a:latin typeface="Arial"/>
              </a:rPr>
              <a:t>44,902</a:t>
            </a:r>
          </a:p>
        </p:txBody>
      </p:sp>
      <p:sp>
        <p:nvSpPr>
          <p:cNvPr id="21" name="TextBox 20"/>
          <p:cNvSpPr txBox="1"/>
          <p:nvPr/>
        </p:nvSpPr>
        <p:spPr>
          <a:xfrm>
            <a:off x="704088" y="4526280"/>
            <a:ext cx="2871216" cy="274320"/>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FFFFFF"/>
                </a:solidFill>
                <a:latin typeface="Arial"/>
              </a:rPr>
              <a:t>8K headroom</a:t>
            </a:r>
          </a:p>
        </p:txBody>
      </p:sp>
      <p:sp>
        <p:nvSpPr>
          <p:cNvPr id="22" name="Rectangle 21"/>
          <p:cNvSpPr/>
          <p:nvPr/>
        </p:nvSpPr>
        <p:spPr>
          <a:xfrm>
            <a:off x="3721608" y="4535424"/>
            <a:ext cx="1583887" cy="246888"/>
          </a:xfrm>
          <a:prstGeom prst="rect">
            <a:avLst/>
          </a:prstGeom>
          <a:solidFill>
            <a:srgbClr val="91E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1432" y="4480560"/>
            <a:ext cx="1956816" cy="374904"/>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91E1CD"/>
                </a:solidFill>
                <a:latin typeface="Arial"/>
              </a:rPr>
              <a:t>28,045</a:t>
            </a:r>
          </a:p>
        </p:txBody>
      </p:sp>
      <p:sp>
        <p:nvSpPr>
          <p:cNvPr id="24" name="TextBox 23"/>
          <p:cNvSpPr txBox="1"/>
          <p:nvPr/>
        </p:nvSpPr>
        <p:spPr>
          <a:xfrm>
            <a:off x="704088" y="5129783"/>
            <a:ext cx="2871216" cy="274320"/>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FFFFFF"/>
                </a:solidFill>
                <a:latin typeface="Arial"/>
              </a:rPr>
              <a:t>16K headroom</a:t>
            </a:r>
          </a:p>
        </p:txBody>
      </p:sp>
      <p:sp>
        <p:nvSpPr>
          <p:cNvPr id="25" name="Rectangle 24"/>
          <p:cNvSpPr/>
          <p:nvPr/>
        </p:nvSpPr>
        <p:spPr>
          <a:xfrm>
            <a:off x="3721608" y="5138927"/>
            <a:ext cx="925652" cy="246888"/>
          </a:xfrm>
          <a:prstGeom prst="rect">
            <a:avLst/>
          </a:prstGeom>
          <a:solidFill>
            <a:srgbClr val="4D7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432" y="5084064"/>
            <a:ext cx="1956816" cy="374904"/>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FFFFFF"/>
                </a:solidFill>
                <a:latin typeface="Arial"/>
              </a:rPr>
              <a:t>16,390</a:t>
            </a:r>
          </a:p>
        </p:txBody>
      </p:sp>
      <p:sp>
        <p:nvSpPr>
          <p:cNvPr id="27" name="TextBox 26"/>
          <p:cNvSpPr txBox="1"/>
          <p:nvPr/>
        </p:nvSpPr>
        <p:spPr>
          <a:xfrm>
            <a:off x="713232" y="5925312"/>
            <a:ext cx="7571231" cy="329184"/>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A8BBC0"/>
                </a:solidFill>
                <a:latin typeface="Arial"/>
              </a:rPr>
              <a:t>Held-out 8K cohort: 1,003 validation + 1,370 test</a:t>
            </a:r>
          </a:p>
        </p:txBody>
      </p:sp>
      <p:sp>
        <p:nvSpPr>
          <p:cNvPr id="28" name="Rounded Rectangle 27"/>
          <p:cNvSpPr/>
          <p:nvPr/>
        </p:nvSpPr>
        <p:spPr>
          <a:xfrm>
            <a:off x="8897112" y="5870448"/>
            <a:ext cx="2368296" cy="292608"/>
          </a:xfrm>
          <a:prstGeom prst="roundRect">
            <a:avLst>
              <a:gd name="adj" fmla="val 3500"/>
            </a:avLst>
          </a:prstGeom>
          <a:solidFill>
            <a:srgbClr val="244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79408" y="5925312"/>
            <a:ext cx="2203703"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91E1CD"/>
                </a:solidFill>
                <a:latin typeface="Arial"/>
              </a:rPr>
              <a:t>18 FAMILIES · NO T01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10 / TEACHER TRACES</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GLM samples independently until success or ten attempts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Historical run: GLM-5.3 on the 28,045 eligible training tasks from task release v1.2.0.</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Historical GLM traces · tasks v1.2.0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11</a:t>
            </a:r>
          </a:p>
        </p:txBody>
      </p:sp>
      <p:sp>
        <p:nvSpPr>
          <p:cNvPr id="9" name="Rounded Rectangle 8"/>
          <p:cNvSpPr/>
          <p:nvPr/>
        </p:nvSpPr>
        <p:spPr>
          <a:xfrm>
            <a:off x="594360" y="2221992"/>
            <a:ext cx="3429000" cy="262432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221992"/>
            <a:ext cx="41148" cy="262432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386584"/>
            <a:ext cx="306324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Sample</a:t>
            </a:r>
          </a:p>
        </p:txBody>
      </p:sp>
      <p:sp>
        <p:nvSpPr>
          <p:cNvPr id="12" name="TextBox 11"/>
          <p:cNvSpPr txBox="1"/>
          <p:nvPr/>
        </p:nvSpPr>
        <p:spPr>
          <a:xfrm>
            <a:off x="786384" y="2916936"/>
            <a:ext cx="3035808" cy="181965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Frozen prompt</a:t>
            </a:r>
          </a:p>
          <a:p>
            <a:pPr algn="l">
              <a:lnSpc>
                <a:spcPct val="112000"/>
              </a:lnSpc>
              <a:spcBef>
                <a:spcPts val="0"/>
              </a:spcBef>
              <a:spcAft>
                <a:spcPts val="0"/>
              </a:spcAft>
            </a:pPr>
            <a:r>
              <a:rPr sz="1600" b="0">
                <a:solidFill>
                  <a:srgbClr val="142E35"/>
                </a:solidFill>
                <a:latin typeface="Arial"/>
              </a:rPr>
              <a:t>Fresh seed</a:t>
            </a:r>
          </a:p>
          <a:p>
            <a:pPr algn="l">
              <a:lnSpc>
                <a:spcPct val="112000"/>
              </a:lnSpc>
              <a:spcBef>
                <a:spcPts val="0"/>
              </a:spcBef>
              <a:spcAft>
                <a:spcPts val="0"/>
              </a:spcAft>
            </a:pPr>
            <a:r>
              <a:rPr sz="1600" b="0">
                <a:solidFill>
                  <a:srgbClr val="142E35"/>
                </a:solidFill>
                <a:latin typeface="Arial"/>
              </a:rPr>
              <a:t>No tools</a:t>
            </a:r>
          </a:p>
        </p:txBody>
      </p:sp>
      <p:sp>
        <p:nvSpPr>
          <p:cNvPr id="13" name="TextBox 12"/>
          <p:cNvSpPr txBox="1"/>
          <p:nvPr/>
        </p:nvSpPr>
        <p:spPr>
          <a:xfrm>
            <a:off x="4087368" y="3282696"/>
            <a:ext cx="256032" cy="393192"/>
          </a:xfrm>
          <a:prstGeom prst="rect">
            <a:avLst/>
          </a:prstGeom>
          <a:noFill/>
        </p:spPr>
        <p:txBody>
          <a:bodyPr wrap="square" lIns="0" rIns="0" tIns="0" bIns="0" anchor="t">
            <a:spAutoFit/>
          </a:bodyPr>
          <a:lstStyle/>
          <a:p>
            <a:pPr algn="l">
              <a:lnSpc>
                <a:spcPct val="112000"/>
              </a:lnSpc>
              <a:spcBef>
                <a:spcPts val="0"/>
              </a:spcBef>
              <a:spcAft>
                <a:spcPts val="0"/>
              </a:spcAft>
            </a:pPr>
            <a:r>
              <a:rPr sz="2500" b="1">
                <a:solidFill>
                  <a:srgbClr val="067D79"/>
                </a:solidFill>
                <a:latin typeface="Arial"/>
              </a:rPr>
              <a:t>→</a:t>
            </a:r>
          </a:p>
        </p:txBody>
      </p:sp>
      <p:sp>
        <p:nvSpPr>
          <p:cNvPr id="14" name="Rounded Rectangle 13"/>
          <p:cNvSpPr/>
          <p:nvPr/>
        </p:nvSpPr>
        <p:spPr>
          <a:xfrm>
            <a:off x="4389120" y="2221992"/>
            <a:ext cx="3429000" cy="262432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21992"/>
            <a:ext cx="41148" cy="262432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2386584"/>
            <a:ext cx="306324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Score</a:t>
            </a:r>
          </a:p>
        </p:txBody>
      </p:sp>
      <p:sp>
        <p:nvSpPr>
          <p:cNvPr id="17" name="TextBox 16"/>
          <p:cNvSpPr txBox="1"/>
          <p:nvPr/>
        </p:nvSpPr>
        <p:spPr>
          <a:xfrm>
            <a:off x="4581144" y="2916936"/>
            <a:ext cx="3035808" cy="181965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Task’s bundled verifier</a:t>
            </a:r>
          </a:p>
          <a:p>
            <a:pPr algn="l">
              <a:lnSpc>
                <a:spcPct val="112000"/>
              </a:lnSpc>
              <a:spcBef>
                <a:spcPts val="0"/>
              </a:spcBef>
              <a:spcAft>
                <a:spcPts val="0"/>
              </a:spcAft>
            </a:pPr>
            <a:r>
              <a:rPr sz="1600" b="0">
                <a:solidFill>
                  <a:srgbClr val="142E35"/>
                </a:solidFill>
                <a:latin typeface="Arial"/>
              </a:rPr>
              <a:t>Correctness recorded</a:t>
            </a:r>
          </a:p>
          <a:p>
            <a:pPr algn="l">
              <a:lnSpc>
                <a:spcPct val="112000"/>
              </a:lnSpc>
              <a:spcBef>
                <a:spcPts val="0"/>
              </a:spcBef>
              <a:spcAft>
                <a:spcPts val="0"/>
              </a:spcAft>
            </a:pPr>
            <a:r>
              <a:rPr sz="1600" b="0">
                <a:solidFill>
                  <a:srgbClr val="142E35"/>
                </a:solidFill>
                <a:latin typeface="Arial"/>
              </a:rPr>
              <a:t>Raw response retained</a:t>
            </a:r>
          </a:p>
        </p:txBody>
      </p:sp>
      <p:sp>
        <p:nvSpPr>
          <p:cNvPr id="18" name="TextBox 17"/>
          <p:cNvSpPr txBox="1"/>
          <p:nvPr/>
        </p:nvSpPr>
        <p:spPr>
          <a:xfrm>
            <a:off x="7882128" y="3282696"/>
            <a:ext cx="256032" cy="393192"/>
          </a:xfrm>
          <a:prstGeom prst="rect">
            <a:avLst/>
          </a:prstGeom>
          <a:noFill/>
        </p:spPr>
        <p:txBody>
          <a:bodyPr wrap="square" lIns="0" rIns="0" tIns="0" bIns="0" anchor="t">
            <a:spAutoFit/>
          </a:bodyPr>
          <a:lstStyle/>
          <a:p>
            <a:pPr algn="l">
              <a:lnSpc>
                <a:spcPct val="112000"/>
              </a:lnSpc>
              <a:spcBef>
                <a:spcPts val="0"/>
              </a:spcBef>
              <a:spcAft>
                <a:spcPts val="0"/>
              </a:spcAft>
            </a:pPr>
            <a:r>
              <a:rPr sz="2500" b="1">
                <a:solidFill>
                  <a:srgbClr val="067D79"/>
                </a:solidFill>
                <a:latin typeface="Arial"/>
              </a:rPr>
              <a:t>→</a:t>
            </a:r>
          </a:p>
        </p:txBody>
      </p:sp>
      <p:sp>
        <p:nvSpPr>
          <p:cNvPr id="19" name="Rounded Rectangle 18"/>
          <p:cNvSpPr/>
          <p:nvPr/>
        </p:nvSpPr>
        <p:spPr>
          <a:xfrm>
            <a:off x="8183880" y="2221992"/>
            <a:ext cx="3429000" cy="262432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80" y="2221992"/>
            <a:ext cx="41148" cy="262432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75904" y="2386584"/>
            <a:ext cx="306324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Select or retry</a:t>
            </a:r>
          </a:p>
        </p:txBody>
      </p:sp>
      <p:sp>
        <p:nvSpPr>
          <p:cNvPr id="22" name="TextBox 21"/>
          <p:cNvSpPr txBox="1"/>
          <p:nvPr/>
        </p:nvSpPr>
        <p:spPr>
          <a:xfrm>
            <a:off x="8375904" y="2916936"/>
            <a:ext cx="3035808" cy="181965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Stop at first success</a:t>
            </a:r>
          </a:p>
          <a:p>
            <a:pPr algn="l">
              <a:lnSpc>
                <a:spcPct val="112000"/>
              </a:lnSpc>
              <a:spcBef>
                <a:spcPts val="0"/>
              </a:spcBef>
              <a:spcAft>
                <a:spcPts val="0"/>
              </a:spcAft>
            </a:pPr>
            <a:r>
              <a:rPr sz="1600" b="0">
                <a:solidFill>
                  <a:srgbClr val="142E35"/>
                </a:solidFill>
                <a:latin typeface="Arial"/>
              </a:rPr>
              <a:t>Otherwise retry unchanged</a:t>
            </a:r>
          </a:p>
          <a:p>
            <a:pPr algn="l">
              <a:lnSpc>
                <a:spcPct val="112000"/>
              </a:lnSpc>
              <a:spcBef>
                <a:spcPts val="0"/>
              </a:spcBef>
              <a:spcAft>
                <a:spcPts val="0"/>
              </a:spcAft>
            </a:pPr>
            <a:r>
              <a:rPr sz="1600" b="0">
                <a:solidFill>
                  <a:srgbClr val="142E35"/>
                </a:solidFill>
                <a:latin typeface="Arial"/>
              </a:rPr>
              <a:t>Maximum ten attempts</a:t>
            </a:r>
          </a:p>
        </p:txBody>
      </p:sp>
      <p:sp>
        <p:nvSpPr>
          <p:cNvPr id="23" name="Rounded Rectangle 22"/>
          <p:cNvSpPr/>
          <p:nvPr/>
        </p:nvSpPr>
        <p:spPr>
          <a:xfrm>
            <a:off x="594360" y="5239512"/>
            <a:ext cx="11018520" cy="84124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5413248"/>
            <a:ext cx="10469880" cy="41148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067D79"/>
                </a:solidFill>
                <a:latin typeface="Arial"/>
              </a:rPr>
              <a:t>8K selects the student cohort; it does not cap the teacher.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11 / TEACHER YIELD</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Retries recover 1,993 of the 2,156 first-attempt failures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The chart tracks recovery among the 2,156 initially failed tasks · 33,003 total scored attempts.</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GLM results · tasks v1.2.0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12</a:t>
            </a:r>
          </a:p>
        </p:txBody>
      </p:sp>
      <p:cxnSp>
        <p:nvCxnSpPr>
          <p:cNvPr id="9" name="Connector 8"/>
          <p:cNvCxnSpPr/>
          <p:nvPr/>
        </p:nvCxnSpPr>
        <p:spPr>
          <a:xfrm>
            <a:off x="868680" y="5586983"/>
            <a:ext cx="6912864"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2608" y="5495544"/>
            <a:ext cx="457200" cy="192024"/>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586E72"/>
                </a:solidFill>
                <a:latin typeface="Arial"/>
              </a:rPr>
              <a:t>0%</a:t>
            </a:r>
          </a:p>
        </p:txBody>
      </p:sp>
      <p:cxnSp>
        <p:nvCxnSpPr>
          <p:cNvPr id="11" name="Connector 10"/>
          <p:cNvCxnSpPr/>
          <p:nvPr/>
        </p:nvCxnSpPr>
        <p:spPr>
          <a:xfrm>
            <a:off x="868680" y="4770881"/>
            <a:ext cx="6912864"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2608" y="4679442"/>
            <a:ext cx="457200" cy="192024"/>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586E72"/>
                </a:solidFill>
                <a:latin typeface="Arial"/>
              </a:rPr>
              <a:t>25%</a:t>
            </a:r>
          </a:p>
        </p:txBody>
      </p:sp>
      <p:cxnSp>
        <p:nvCxnSpPr>
          <p:cNvPr id="13" name="Connector 12"/>
          <p:cNvCxnSpPr/>
          <p:nvPr/>
        </p:nvCxnSpPr>
        <p:spPr>
          <a:xfrm>
            <a:off x="868680" y="3954779"/>
            <a:ext cx="6912864"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92608" y="3863339"/>
            <a:ext cx="457200" cy="192024"/>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586E72"/>
                </a:solidFill>
                <a:latin typeface="Arial"/>
              </a:rPr>
              <a:t>50%</a:t>
            </a:r>
          </a:p>
        </p:txBody>
      </p:sp>
      <p:cxnSp>
        <p:nvCxnSpPr>
          <p:cNvPr id="15" name="Connector 14"/>
          <p:cNvCxnSpPr/>
          <p:nvPr/>
        </p:nvCxnSpPr>
        <p:spPr>
          <a:xfrm>
            <a:off x="868680" y="3138677"/>
            <a:ext cx="6912864"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2608" y="3047237"/>
            <a:ext cx="457200" cy="192024"/>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586E72"/>
                </a:solidFill>
                <a:latin typeface="Arial"/>
              </a:rPr>
              <a:t>75%</a:t>
            </a:r>
          </a:p>
        </p:txBody>
      </p:sp>
      <p:cxnSp>
        <p:nvCxnSpPr>
          <p:cNvPr id="17" name="Connector 16"/>
          <p:cNvCxnSpPr/>
          <p:nvPr/>
        </p:nvCxnSpPr>
        <p:spPr>
          <a:xfrm>
            <a:off x="868680" y="2322575"/>
            <a:ext cx="6912864"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92608" y="2231135"/>
            <a:ext cx="457200" cy="192024"/>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586E72"/>
                </a:solidFill>
                <a:latin typeface="Arial"/>
              </a:rPr>
              <a:t>100%</a:t>
            </a:r>
          </a:p>
        </p:txBody>
      </p:sp>
      <p:sp>
        <p:nvSpPr>
          <p:cNvPr id="19" name="TextBox 18"/>
          <p:cNvSpPr txBox="1"/>
          <p:nvPr/>
        </p:nvSpPr>
        <p:spPr>
          <a:xfrm>
            <a:off x="713231"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2</a:t>
            </a:r>
          </a:p>
        </p:txBody>
      </p:sp>
      <p:sp>
        <p:nvSpPr>
          <p:cNvPr id="20" name="TextBox 19"/>
          <p:cNvSpPr txBox="1"/>
          <p:nvPr/>
        </p:nvSpPr>
        <p:spPr>
          <a:xfrm>
            <a:off x="1577340"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3</a:t>
            </a:r>
          </a:p>
        </p:txBody>
      </p:sp>
      <p:sp>
        <p:nvSpPr>
          <p:cNvPr id="21" name="TextBox 20"/>
          <p:cNvSpPr txBox="1"/>
          <p:nvPr/>
        </p:nvSpPr>
        <p:spPr>
          <a:xfrm>
            <a:off x="2441448"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4</a:t>
            </a:r>
          </a:p>
        </p:txBody>
      </p:sp>
      <p:sp>
        <p:nvSpPr>
          <p:cNvPr id="22" name="TextBox 21"/>
          <p:cNvSpPr txBox="1"/>
          <p:nvPr/>
        </p:nvSpPr>
        <p:spPr>
          <a:xfrm>
            <a:off x="3305556"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5</a:t>
            </a:r>
          </a:p>
        </p:txBody>
      </p:sp>
      <p:sp>
        <p:nvSpPr>
          <p:cNvPr id="23" name="TextBox 22"/>
          <p:cNvSpPr txBox="1"/>
          <p:nvPr/>
        </p:nvSpPr>
        <p:spPr>
          <a:xfrm>
            <a:off x="4169663"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6</a:t>
            </a:r>
          </a:p>
        </p:txBody>
      </p:sp>
      <p:sp>
        <p:nvSpPr>
          <p:cNvPr id="24" name="TextBox 23"/>
          <p:cNvSpPr txBox="1"/>
          <p:nvPr/>
        </p:nvSpPr>
        <p:spPr>
          <a:xfrm>
            <a:off x="5033772"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7</a:t>
            </a:r>
          </a:p>
        </p:txBody>
      </p:sp>
      <p:sp>
        <p:nvSpPr>
          <p:cNvPr id="25" name="TextBox 24"/>
          <p:cNvSpPr txBox="1"/>
          <p:nvPr/>
        </p:nvSpPr>
        <p:spPr>
          <a:xfrm>
            <a:off x="5897880"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8</a:t>
            </a:r>
          </a:p>
        </p:txBody>
      </p:sp>
      <p:sp>
        <p:nvSpPr>
          <p:cNvPr id="26" name="TextBox 25"/>
          <p:cNvSpPr txBox="1"/>
          <p:nvPr/>
        </p:nvSpPr>
        <p:spPr>
          <a:xfrm>
            <a:off x="6761988"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9</a:t>
            </a:r>
          </a:p>
        </p:txBody>
      </p:sp>
      <p:sp>
        <p:nvSpPr>
          <p:cNvPr id="27" name="TextBox 26"/>
          <p:cNvSpPr txBox="1"/>
          <p:nvPr/>
        </p:nvSpPr>
        <p:spPr>
          <a:xfrm>
            <a:off x="7626096" y="5733288"/>
            <a:ext cx="310896" cy="182880"/>
          </a:xfrm>
          <a:prstGeom prst="rect">
            <a:avLst/>
          </a:prstGeom>
          <a:noFill/>
        </p:spPr>
        <p:txBody>
          <a:bodyPr wrap="square" lIns="0" rIns="0" tIns="0" bIns="0" anchor="t">
            <a:spAutoFit/>
          </a:bodyPr>
          <a:lstStyle/>
          <a:p>
            <a:pPr algn="ctr">
              <a:lnSpc>
                <a:spcPct val="112000"/>
              </a:lnSpc>
              <a:spcBef>
                <a:spcPts val="0"/>
              </a:spcBef>
              <a:spcAft>
                <a:spcPts val="0"/>
              </a:spcAft>
            </a:pPr>
            <a:r>
              <a:rPr sz="1100" b="0">
                <a:solidFill>
                  <a:srgbClr val="586E72"/>
                </a:solidFill>
                <a:latin typeface="Arial"/>
              </a:rPr>
              <a:t>10</a:t>
            </a:r>
          </a:p>
        </p:txBody>
      </p:sp>
      <p:cxnSp>
        <p:nvCxnSpPr>
          <p:cNvPr id="28" name="Connector 27"/>
          <p:cNvCxnSpPr/>
          <p:nvPr/>
        </p:nvCxnSpPr>
        <p:spPr>
          <a:xfrm flipV="1">
            <a:off x="868680" y="3058430"/>
            <a:ext cx="864108" cy="426977"/>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32788" y="2899449"/>
            <a:ext cx="864108" cy="158981"/>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596896" y="2784377"/>
            <a:ext cx="864108" cy="115072"/>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61004" y="2716243"/>
            <a:ext cx="864108" cy="68134"/>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325112" y="2663249"/>
            <a:ext cx="864108" cy="52994"/>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189220" y="2625396"/>
            <a:ext cx="864108" cy="37853"/>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053328" y="2590572"/>
            <a:ext cx="864108" cy="34824"/>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917436" y="2569374"/>
            <a:ext cx="864108" cy="21198"/>
          </a:xfrm>
          <a:prstGeom prst="line">
            <a:avLst/>
          </a:prstGeom>
          <a:ln w="35560">
            <a:solidFill>
              <a:srgbClr val="067D79"/>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21131" y="3437858"/>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685239" y="3010881"/>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549347" y="2851900"/>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13455" y="2736828"/>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277563" y="2668694"/>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141671" y="2615700"/>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005779" y="2577847"/>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69887" y="2543023"/>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733995" y="2521826"/>
            <a:ext cx="95097" cy="95097"/>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3704863"/>
            <a:ext cx="941832" cy="265176"/>
          </a:xfrm>
          <a:prstGeom prst="rect">
            <a:avLst/>
          </a:prstGeom>
          <a:noFill/>
        </p:spPr>
        <p:txBody>
          <a:bodyPr wrap="square" lIns="0" rIns="0" tIns="0" bIns="0" anchor="t">
            <a:spAutoFit/>
          </a:bodyPr>
          <a:lstStyle/>
          <a:p>
            <a:pPr algn="ctr">
              <a:lnSpc>
                <a:spcPct val="112000"/>
              </a:lnSpc>
              <a:spcBef>
                <a:spcPts val="0"/>
              </a:spcBef>
              <a:spcAft>
                <a:spcPts val="0"/>
              </a:spcAft>
            </a:pPr>
            <a:r>
              <a:rPr sz="1500" b="1">
                <a:solidFill>
                  <a:srgbClr val="067D79"/>
                </a:solidFill>
                <a:latin typeface="Arial"/>
              </a:rPr>
              <a:t>64.4%</a:t>
            </a:r>
          </a:p>
        </p:txBody>
      </p:sp>
      <p:sp>
        <p:nvSpPr>
          <p:cNvPr id="46" name="TextBox 45"/>
          <p:cNvSpPr txBox="1"/>
          <p:nvPr/>
        </p:nvSpPr>
        <p:spPr>
          <a:xfrm>
            <a:off x="1568196" y="3296174"/>
            <a:ext cx="941832" cy="265176"/>
          </a:xfrm>
          <a:prstGeom prst="rect">
            <a:avLst/>
          </a:prstGeom>
          <a:noFill/>
        </p:spPr>
        <p:txBody>
          <a:bodyPr wrap="square" lIns="0" rIns="0" tIns="0" bIns="0" anchor="t">
            <a:spAutoFit/>
          </a:bodyPr>
          <a:lstStyle/>
          <a:p>
            <a:pPr algn="ctr">
              <a:lnSpc>
                <a:spcPct val="112000"/>
              </a:lnSpc>
              <a:spcBef>
                <a:spcPts val="0"/>
              </a:spcBef>
              <a:spcAft>
                <a:spcPts val="0"/>
              </a:spcAft>
            </a:pPr>
            <a:r>
              <a:rPr sz="1500" b="1">
                <a:solidFill>
                  <a:srgbClr val="067D79"/>
                </a:solidFill>
                <a:latin typeface="Arial"/>
              </a:rPr>
              <a:t>77.5%</a:t>
            </a:r>
          </a:p>
        </p:txBody>
      </p:sp>
      <p:sp>
        <p:nvSpPr>
          <p:cNvPr id="47" name="TextBox 46"/>
          <p:cNvSpPr txBox="1"/>
          <p:nvPr/>
        </p:nvSpPr>
        <p:spPr>
          <a:xfrm>
            <a:off x="6912864" y="2770542"/>
            <a:ext cx="941832" cy="265176"/>
          </a:xfrm>
          <a:prstGeom prst="rect">
            <a:avLst/>
          </a:prstGeom>
          <a:noFill/>
        </p:spPr>
        <p:txBody>
          <a:bodyPr wrap="square" lIns="0" rIns="0" tIns="0" bIns="0" anchor="t">
            <a:spAutoFit/>
          </a:bodyPr>
          <a:lstStyle/>
          <a:p>
            <a:pPr algn="ctr">
              <a:lnSpc>
                <a:spcPct val="112000"/>
              </a:lnSpc>
              <a:spcBef>
                <a:spcPts val="0"/>
              </a:spcBef>
              <a:spcAft>
                <a:spcPts val="0"/>
              </a:spcAft>
            </a:pPr>
            <a:r>
              <a:rPr sz="1500" b="1">
                <a:solidFill>
                  <a:srgbClr val="067D79"/>
                </a:solidFill>
                <a:latin typeface="Arial"/>
              </a:rPr>
              <a:t>92.4%</a:t>
            </a:r>
          </a:p>
        </p:txBody>
      </p:sp>
      <p:sp>
        <p:nvSpPr>
          <p:cNvPr id="48" name="TextBox 47"/>
          <p:cNvSpPr txBox="1"/>
          <p:nvPr/>
        </p:nvSpPr>
        <p:spPr>
          <a:xfrm>
            <a:off x="3145536" y="5943600"/>
            <a:ext cx="3392424" cy="237744"/>
          </a:xfrm>
          <a:prstGeom prst="rect">
            <a:avLst/>
          </a:prstGeom>
          <a:noFill/>
        </p:spPr>
        <p:txBody>
          <a:bodyPr wrap="square" lIns="0" rIns="0" tIns="0" bIns="0" anchor="t">
            <a:spAutoFit/>
          </a:bodyPr>
          <a:lstStyle/>
          <a:p>
            <a:pPr algn="ctr">
              <a:lnSpc>
                <a:spcPct val="112000"/>
              </a:lnSpc>
              <a:spcBef>
                <a:spcPts val="0"/>
              </a:spcBef>
              <a:spcAft>
                <a:spcPts val="0"/>
              </a:spcAft>
            </a:pPr>
            <a:r>
              <a:rPr sz="1300" b="0">
                <a:solidFill>
                  <a:srgbClr val="586E72"/>
                </a:solidFill>
                <a:latin typeface="Arial"/>
              </a:rPr>
              <a:t>Total attempts per task</a:t>
            </a:r>
          </a:p>
        </p:txBody>
      </p:sp>
      <p:sp>
        <p:nvSpPr>
          <p:cNvPr id="49" name="Rounded Rectangle 48"/>
          <p:cNvSpPr/>
          <p:nvPr/>
        </p:nvSpPr>
        <p:spPr>
          <a:xfrm>
            <a:off x="8229600" y="2148840"/>
            <a:ext cx="3337560" cy="1636776"/>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29600" y="2148840"/>
            <a:ext cx="41148" cy="1636776"/>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21624" y="2313432"/>
            <a:ext cx="297180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92.31% → 99.42%</a:t>
            </a:r>
          </a:p>
        </p:txBody>
      </p:sp>
      <p:sp>
        <p:nvSpPr>
          <p:cNvPr id="52" name="TextBox 51"/>
          <p:cNvSpPr txBox="1"/>
          <p:nvPr/>
        </p:nvSpPr>
        <p:spPr>
          <a:xfrm>
            <a:off x="8421624" y="2843784"/>
            <a:ext cx="2944368" cy="832104"/>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Overall success: first try → within ten attempts.</a:t>
            </a:r>
          </a:p>
        </p:txBody>
      </p:sp>
      <p:sp>
        <p:nvSpPr>
          <p:cNvPr id="53" name="Rounded Rectangle 52"/>
          <p:cNvSpPr/>
          <p:nvPr/>
        </p:nvSpPr>
        <p:spPr>
          <a:xfrm>
            <a:off x="8229600" y="4014215"/>
            <a:ext cx="3337560" cy="1746504"/>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29600" y="4014215"/>
            <a:ext cx="41148" cy="1746504"/>
          </a:xfrm>
          <a:prstGeom prst="rect">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21624" y="4178807"/>
            <a:ext cx="2971800"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D97941"/>
                </a:solidFill>
                <a:latin typeface="Arial"/>
              </a:rPr>
              <a:t>163 remain unsolved</a:t>
            </a:r>
          </a:p>
        </p:txBody>
      </p:sp>
      <p:sp>
        <p:nvSpPr>
          <p:cNvPr id="56" name="TextBox 55"/>
          <p:cNvSpPr txBox="1"/>
          <p:nvPr/>
        </p:nvSpPr>
        <p:spPr>
          <a:xfrm>
            <a:off x="8421624" y="4709159"/>
            <a:ext cx="2944368" cy="941831"/>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Ten failed attempts are not proof that a task is impossible.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12 / FAMILY-LEVEL RESULTS</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Lower first-try success is concentrated in a few families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Selected lower-first-try families. Small cohorts are shown explicitly; full counts are in the appendix.</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GLM results · tasks v1.2.0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13</a:t>
            </a:r>
          </a:p>
        </p:txBody>
      </p:sp>
      <p:sp>
        <p:nvSpPr>
          <p:cNvPr id="9" name="TextBox 8"/>
          <p:cNvSpPr txBox="1"/>
          <p:nvPr/>
        </p:nvSpPr>
        <p:spPr>
          <a:xfrm>
            <a:off x="649224" y="1984248"/>
            <a:ext cx="3566160" cy="256032"/>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586E72"/>
                </a:solidFill>
                <a:latin typeface="Arial"/>
              </a:rPr>
              <a:t>Family</a:t>
            </a:r>
          </a:p>
        </p:txBody>
      </p:sp>
      <p:sp>
        <p:nvSpPr>
          <p:cNvPr id="10" name="TextBox 9"/>
          <p:cNvSpPr txBox="1"/>
          <p:nvPr/>
        </p:nvSpPr>
        <p:spPr>
          <a:xfrm>
            <a:off x="3941063" y="1984248"/>
            <a:ext cx="640080" cy="256032"/>
          </a:xfrm>
          <a:prstGeom prst="rect">
            <a:avLst/>
          </a:prstGeom>
          <a:noFill/>
        </p:spPr>
        <p:txBody>
          <a:bodyPr wrap="square" lIns="0" rIns="0" tIns="0" bIns="0" anchor="t">
            <a:spAutoFit/>
          </a:bodyPr>
          <a:lstStyle/>
          <a:p>
            <a:pPr algn="r">
              <a:lnSpc>
                <a:spcPct val="112000"/>
              </a:lnSpc>
              <a:spcBef>
                <a:spcPts val="0"/>
              </a:spcBef>
              <a:spcAft>
                <a:spcPts val="0"/>
              </a:spcAft>
            </a:pPr>
            <a:r>
              <a:rPr sz="1200" b="1">
                <a:solidFill>
                  <a:srgbClr val="586E72"/>
                </a:solidFill>
                <a:latin typeface="Arial"/>
              </a:rPr>
              <a:t>Tasks</a:t>
            </a:r>
          </a:p>
        </p:txBody>
      </p:sp>
      <p:sp>
        <p:nvSpPr>
          <p:cNvPr id="11" name="TextBox 10"/>
          <p:cNvSpPr txBox="1"/>
          <p:nvPr/>
        </p:nvSpPr>
        <p:spPr>
          <a:xfrm>
            <a:off x="5020056" y="1984248"/>
            <a:ext cx="4974336" cy="256032"/>
          </a:xfrm>
          <a:prstGeom prst="rect">
            <a:avLst/>
          </a:prstGeom>
          <a:noFill/>
        </p:spPr>
        <p:txBody>
          <a:bodyPr wrap="square" lIns="0" rIns="0" tIns="0" bIns="0" anchor="t">
            <a:spAutoFit/>
          </a:bodyPr>
          <a:lstStyle/>
          <a:p>
            <a:pPr algn="l">
              <a:lnSpc>
                <a:spcPct val="112000"/>
              </a:lnSpc>
              <a:spcBef>
                <a:spcPts val="0"/>
              </a:spcBef>
              <a:spcAft>
                <a:spcPts val="0"/>
              </a:spcAft>
            </a:pPr>
            <a:r>
              <a:rPr sz="1200" b="1">
                <a:solidFill>
                  <a:srgbClr val="586E72"/>
                </a:solidFill>
                <a:latin typeface="Arial"/>
              </a:rPr>
              <a:t>First try → by ten</a:t>
            </a:r>
          </a:p>
        </p:txBody>
      </p:sp>
      <p:sp>
        <p:nvSpPr>
          <p:cNvPr id="12" name="TextBox 11"/>
          <p:cNvSpPr txBox="1"/>
          <p:nvPr/>
        </p:nvSpPr>
        <p:spPr>
          <a:xfrm>
            <a:off x="10588752" y="1984248"/>
            <a:ext cx="914400" cy="256032"/>
          </a:xfrm>
          <a:prstGeom prst="rect">
            <a:avLst/>
          </a:prstGeom>
          <a:noFill/>
        </p:spPr>
        <p:txBody>
          <a:bodyPr wrap="square" lIns="0" rIns="0" tIns="0" bIns="0" anchor="t">
            <a:spAutoFit/>
          </a:bodyPr>
          <a:lstStyle/>
          <a:p>
            <a:pPr algn="r">
              <a:lnSpc>
                <a:spcPct val="112000"/>
              </a:lnSpc>
              <a:spcBef>
                <a:spcPts val="0"/>
              </a:spcBef>
              <a:spcAft>
                <a:spcPts val="0"/>
              </a:spcAft>
            </a:pPr>
            <a:r>
              <a:rPr sz="1200" b="1">
                <a:solidFill>
                  <a:srgbClr val="586E72"/>
                </a:solidFill>
                <a:latin typeface="Arial"/>
              </a:rPr>
              <a:t>Unsolved</a:t>
            </a:r>
          </a:p>
        </p:txBody>
      </p:sp>
      <p:sp>
        <p:nvSpPr>
          <p:cNvPr id="13" name="TextBox 12"/>
          <p:cNvSpPr txBox="1"/>
          <p:nvPr/>
        </p:nvSpPr>
        <p:spPr>
          <a:xfrm>
            <a:off x="667512" y="2514600"/>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I01  Interface contacts</a:t>
            </a:r>
          </a:p>
        </p:txBody>
      </p:sp>
      <p:sp>
        <p:nvSpPr>
          <p:cNvPr id="14" name="TextBox 13"/>
          <p:cNvSpPr txBox="1"/>
          <p:nvPr/>
        </p:nvSpPr>
        <p:spPr>
          <a:xfrm>
            <a:off x="3867912" y="2514600"/>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12</a:t>
            </a:r>
          </a:p>
        </p:txBody>
      </p:sp>
      <p:cxnSp>
        <p:nvCxnSpPr>
          <p:cNvPr id="15" name="Connector 14"/>
          <p:cNvCxnSpPr/>
          <p:nvPr/>
        </p:nvCxnSpPr>
        <p:spPr>
          <a:xfrm>
            <a:off x="5020056" y="2633472"/>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95872" y="2633472"/>
            <a:ext cx="1575816"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537350" y="257495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13166" y="257495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65520" y="246888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33.3</a:t>
            </a:r>
          </a:p>
        </p:txBody>
      </p:sp>
      <p:sp>
        <p:nvSpPr>
          <p:cNvPr id="20" name="TextBox 19"/>
          <p:cNvSpPr txBox="1"/>
          <p:nvPr/>
        </p:nvSpPr>
        <p:spPr>
          <a:xfrm>
            <a:off x="8290560" y="250545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66.7</a:t>
            </a:r>
          </a:p>
        </p:txBody>
      </p:sp>
      <p:sp>
        <p:nvSpPr>
          <p:cNvPr id="21" name="TextBox 20"/>
          <p:cNvSpPr txBox="1"/>
          <p:nvPr/>
        </p:nvSpPr>
        <p:spPr>
          <a:xfrm>
            <a:off x="10744200" y="2514600"/>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4</a:t>
            </a:r>
          </a:p>
        </p:txBody>
      </p:sp>
      <p:sp>
        <p:nvSpPr>
          <p:cNvPr id="22" name="TextBox 21"/>
          <p:cNvSpPr txBox="1"/>
          <p:nvPr/>
        </p:nvSpPr>
        <p:spPr>
          <a:xfrm>
            <a:off x="667512" y="2926080"/>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S06  Ligand contacts</a:t>
            </a:r>
          </a:p>
        </p:txBody>
      </p:sp>
      <p:sp>
        <p:nvSpPr>
          <p:cNvPr id="23" name="TextBox 22"/>
          <p:cNvSpPr txBox="1"/>
          <p:nvPr/>
        </p:nvSpPr>
        <p:spPr>
          <a:xfrm>
            <a:off x="3867912" y="2926080"/>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53</a:t>
            </a:r>
          </a:p>
        </p:txBody>
      </p:sp>
      <p:cxnSp>
        <p:nvCxnSpPr>
          <p:cNvPr id="24" name="Connector 23"/>
          <p:cNvCxnSpPr/>
          <p:nvPr/>
        </p:nvCxnSpPr>
        <p:spPr>
          <a:xfrm>
            <a:off x="5020056" y="3044952"/>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60787" y="3044952"/>
            <a:ext cx="2586717"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102265" y="298643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688982" y="298643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0435" y="288036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45.3</a:t>
            </a:r>
          </a:p>
        </p:txBody>
      </p:sp>
      <p:sp>
        <p:nvSpPr>
          <p:cNvPr id="29" name="TextBox 28"/>
          <p:cNvSpPr txBox="1"/>
          <p:nvPr/>
        </p:nvSpPr>
        <p:spPr>
          <a:xfrm>
            <a:off x="9866376" y="291693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100.0</a:t>
            </a:r>
          </a:p>
        </p:txBody>
      </p:sp>
      <p:sp>
        <p:nvSpPr>
          <p:cNvPr id="30" name="TextBox 29"/>
          <p:cNvSpPr txBox="1"/>
          <p:nvPr/>
        </p:nvSpPr>
        <p:spPr>
          <a:xfrm>
            <a:off x="10744200" y="2926080"/>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0</a:t>
            </a:r>
          </a:p>
        </p:txBody>
      </p:sp>
      <p:sp>
        <p:nvSpPr>
          <p:cNvPr id="31" name="TextBox 30"/>
          <p:cNvSpPr txBox="1"/>
          <p:nvPr/>
        </p:nvSpPr>
        <p:spPr>
          <a:xfrm>
            <a:off x="667512" y="3337560"/>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S07  Metal coordination</a:t>
            </a:r>
          </a:p>
        </p:txBody>
      </p:sp>
      <p:sp>
        <p:nvSpPr>
          <p:cNvPr id="32" name="TextBox 31"/>
          <p:cNvSpPr txBox="1"/>
          <p:nvPr/>
        </p:nvSpPr>
        <p:spPr>
          <a:xfrm>
            <a:off x="3867912" y="3337560"/>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92</a:t>
            </a:r>
          </a:p>
        </p:txBody>
      </p:sp>
      <p:cxnSp>
        <p:nvCxnSpPr>
          <p:cNvPr id="33" name="Connector 32"/>
          <p:cNvCxnSpPr/>
          <p:nvPr/>
        </p:nvCxnSpPr>
        <p:spPr>
          <a:xfrm>
            <a:off x="5020056" y="3456432"/>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178238" y="3456432"/>
            <a:ext cx="2106798"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119717" y="339791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226514" y="339791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47886" y="329184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45.7</a:t>
            </a:r>
          </a:p>
        </p:txBody>
      </p:sp>
      <p:sp>
        <p:nvSpPr>
          <p:cNvPr id="38" name="TextBox 37"/>
          <p:cNvSpPr txBox="1"/>
          <p:nvPr/>
        </p:nvSpPr>
        <p:spPr>
          <a:xfrm>
            <a:off x="9403908" y="332841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90.2</a:t>
            </a:r>
          </a:p>
        </p:txBody>
      </p:sp>
      <p:sp>
        <p:nvSpPr>
          <p:cNvPr id="39" name="TextBox 38"/>
          <p:cNvSpPr txBox="1"/>
          <p:nvPr/>
        </p:nvSpPr>
        <p:spPr>
          <a:xfrm>
            <a:off x="10744200" y="3337560"/>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9</a:t>
            </a:r>
          </a:p>
        </p:txBody>
      </p:sp>
      <p:sp>
        <p:nvSpPr>
          <p:cNvPr id="40" name="TextBox 39"/>
          <p:cNvSpPr txBox="1"/>
          <p:nvPr/>
        </p:nvSpPr>
        <p:spPr>
          <a:xfrm>
            <a:off x="667512" y="3749039"/>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G04  Steric clash</a:t>
            </a:r>
          </a:p>
        </p:txBody>
      </p:sp>
      <p:sp>
        <p:nvSpPr>
          <p:cNvPr id="41" name="TextBox 40"/>
          <p:cNvSpPr txBox="1"/>
          <p:nvPr/>
        </p:nvSpPr>
        <p:spPr>
          <a:xfrm>
            <a:off x="3867912" y="3749039"/>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58</a:t>
            </a:r>
          </a:p>
        </p:txBody>
      </p:sp>
      <p:cxnSp>
        <p:nvCxnSpPr>
          <p:cNvPr id="42" name="Connector 41"/>
          <p:cNvCxnSpPr/>
          <p:nvPr/>
        </p:nvCxnSpPr>
        <p:spPr>
          <a:xfrm>
            <a:off x="5020056" y="3867911"/>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465287" y="3867911"/>
            <a:ext cx="1711662"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7406766" y="380939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118428" y="380939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34935" y="370332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51.7</a:t>
            </a:r>
          </a:p>
        </p:txBody>
      </p:sp>
      <p:sp>
        <p:nvSpPr>
          <p:cNvPr id="47" name="TextBox 46"/>
          <p:cNvSpPr txBox="1"/>
          <p:nvPr/>
        </p:nvSpPr>
        <p:spPr>
          <a:xfrm>
            <a:off x="9295821" y="373989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87.9</a:t>
            </a:r>
          </a:p>
        </p:txBody>
      </p:sp>
      <p:sp>
        <p:nvSpPr>
          <p:cNvPr id="48" name="TextBox 47"/>
          <p:cNvSpPr txBox="1"/>
          <p:nvPr/>
        </p:nvSpPr>
        <p:spPr>
          <a:xfrm>
            <a:off x="10744200" y="3749039"/>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7</a:t>
            </a:r>
          </a:p>
        </p:txBody>
      </p:sp>
      <p:sp>
        <p:nvSpPr>
          <p:cNvPr id="49" name="TextBox 48"/>
          <p:cNvSpPr txBox="1"/>
          <p:nvPr/>
        </p:nvSpPr>
        <p:spPr>
          <a:xfrm>
            <a:off x="667512" y="4160520"/>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S04  Secondary structure</a:t>
            </a:r>
          </a:p>
        </p:txBody>
      </p:sp>
      <p:sp>
        <p:nvSpPr>
          <p:cNvPr id="50" name="TextBox 49"/>
          <p:cNvSpPr txBox="1"/>
          <p:nvPr/>
        </p:nvSpPr>
        <p:spPr>
          <a:xfrm>
            <a:off x="3867912" y="4160520"/>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3,124</a:t>
            </a:r>
          </a:p>
        </p:txBody>
      </p:sp>
      <p:cxnSp>
        <p:nvCxnSpPr>
          <p:cNvPr id="51" name="Connector 50"/>
          <p:cNvCxnSpPr/>
          <p:nvPr/>
        </p:nvCxnSpPr>
        <p:spPr>
          <a:xfrm>
            <a:off x="5020056" y="4279392"/>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930339" y="4279392"/>
            <a:ext cx="746041"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8871817" y="422087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617858" y="422087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99987" y="411480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82.7</a:t>
            </a:r>
          </a:p>
        </p:txBody>
      </p:sp>
      <p:sp>
        <p:nvSpPr>
          <p:cNvPr id="56" name="TextBox 55"/>
          <p:cNvSpPr txBox="1"/>
          <p:nvPr/>
        </p:nvSpPr>
        <p:spPr>
          <a:xfrm>
            <a:off x="9795252" y="415137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98.5</a:t>
            </a:r>
          </a:p>
        </p:txBody>
      </p:sp>
      <p:sp>
        <p:nvSpPr>
          <p:cNvPr id="57" name="TextBox 56"/>
          <p:cNvSpPr txBox="1"/>
          <p:nvPr/>
        </p:nvSpPr>
        <p:spPr>
          <a:xfrm>
            <a:off x="10744200" y="4160520"/>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47</a:t>
            </a:r>
          </a:p>
        </p:txBody>
      </p:sp>
      <p:sp>
        <p:nvSpPr>
          <p:cNvPr id="58" name="TextBox 57"/>
          <p:cNvSpPr txBox="1"/>
          <p:nvPr/>
        </p:nvSpPr>
        <p:spPr>
          <a:xfrm>
            <a:off x="667512" y="4572000"/>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S05  Fold class</a:t>
            </a:r>
          </a:p>
        </p:txBody>
      </p:sp>
      <p:sp>
        <p:nvSpPr>
          <p:cNvPr id="59" name="TextBox 58"/>
          <p:cNvSpPr txBox="1"/>
          <p:nvPr/>
        </p:nvSpPr>
        <p:spPr>
          <a:xfrm>
            <a:off x="3867912" y="4572000"/>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314</a:t>
            </a:r>
          </a:p>
        </p:txBody>
      </p:sp>
      <p:cxnSp>
        <p:nvCxnSpPr>
          <p:cNvPr id="60" name="Connector 59"/>
          <p:cNvCxnSpPr/>
          <p:nvPr/>
        </p:nvCxnSpPr>
        <p:spPr>
          <a:xfrm>
            <a:off x="5020056" y="4690872"/>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024836" y="4690872"/>
            <a:ext cx="707612"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8966315" y="463235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673926" y="463235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94484" y="452628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84.7</a:t>
            </a:r>
          </a:p>
        </p:txBody>
      </p:sp>
      <p:sp>
        <p:nvSpPr>
          <p:cNvPr id="65" name="TextBox 64"/>
          <p:cNvSpPr txBox="1"/>
          <p:nvPr/>
        </p:nvSpPr>
        <p:spPr>
          <a:xfrm>
            <a:off x="9851320" y="456285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99.7</a:t>
            </a:r>
          </a:p>
        </p:txBody>
      </p:sp>
      <p:sp>
        <p:nvSpPr>
          <p:cNvPr id="66" name="TextBox 65"/>
          <p:cNvSpPr txBox="1"/>
          <p:nvPr/>
        </p:nvSpPr>
        <p:spPr>
          <a:xfrm>
            <a:off x="10744200" y="4572000"/>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1</a:t>
            </a:r>
          </a:p>
        </p:txBody>
      </p:sp>
      <p:sp>
        <p:nvSpPr>
          <p:cNvPr id="67" name="TextBox 66"/>
          <p:cNvSpPr txBox="1"/>
          <p:nvPr/>
        </p:nvSpPr>
        <p:spPr>
          <a:xfrm>
            <a:off x="667512" y="4983480"/>
            <a:ext cx="3273552" cy="283464"/>
          </a:xfrm>
          <a:prstGeom prst="rect">
            <a:avLst/>
          </a:prstGeom>
          <a:noFill/>
        </p:spPr>
        <p:txBody>
          <a:bodyPr wrap="square" lIns="0" rIns="0" tIns="0" bIns="0" anchor="t">
            <a:spAutoFit/>
          </a:bodyPr>
          <a:lstStyle/>
          <a:p>
            <a:pPr algn="l">
              <a:lnSpc>
                <a:spcPct val="112000"/>
              </a:lnSpc>
              <a:spcBef>
                <a:spcPts val="0"/>
              </a:spcBef>
              <a:spcAft>
                <a:spcPts val="0"/>
              </a:spcAft>
            </a:pPr>
            <a:r>
              <a:rPr sz="1500" b="0">
                <a:solidFill>
                  <a:srgbClr val="142E35"/>
                </a:solidFill>
                <a:latin typeface="Arial"/>
              </a:rPr>
              <a:t>S03  Solvent exposure</a:t>
            </a:r>
          </a:p>
        </p:txBody>
      </p:sp>
      <p:sp>
        <p:nvSpPr>
          <p:cNvPr id="68" name="TextBox 67"/>
          <p:cNvSpPr txBox="1"/>
          <p:nvPr/>
        </p:nvSpPr>
        <p:spPr>
          <a:xfrm>
            <a:off x="3867912" y="4983480"/>
            <a:ext cx="704088" cy="256032"/>
          </a:xfrm>
          <a:prstGeom prst="rect">
            <a:avLst/>
          </a:prstGeom>
          <a:noFill/>
        </p:spPr>
        <p:txBody>
          <a:bodyPr wrap="square" lIns="0" rIns="0" tIns="0" bIns="0" anchor="t">
            <a:spAutoFit/>
          </a:bodyPr>
          <a:lstStyle/>
          <a:p>
            <a:pPr algn="r">
              <a:lnSpc>
                <a:spcPct val="112000"/>
              </a:lnSpc>
              <a:spcBef>
                <a:spcPts val="0"/>
              </a:spcBef>
              <a:spcAft>
                <a:spcPts val="0"/>
              </a:spcAft>
            </a:pPr>
            <a:r>
              <a:rPr sz="1400" b="0">
                <a:solidFill>
                  <a:srgbClr val="142E35"/>
                </a:solidFill>
                <a:latin typeface="Arial"/>
              </a:rPr>
              <a:t>3,334</a:t>
            </a:r>
          </a:p>
        </p:txBody>
      </p:sp>
      <p:cxnSp>
        <p:nvCxnSpPr>
          <p:cNvPr id="69" name="Connector 68"/>
          <p:cNvCxnSpPr/>
          <p:nvPr/>
        </p:nvCxnSpPr>
        <p:spPr>
          <a:xfrm>
            <a:off x="5020056" y="5102352"/>
            <a:ext cx="4727448" cy="0"/>
          </a:xfrm>
          <a:prstGeom prst="line">
            <a:avLst/>
          </a:prstGeom>
          <a:ln w="31750">
            <a:solidFill>
              <a:srgbClr val="D4DDD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157636" y="5102352"/>
            <a:ext cx="475013" cy="0"/>
          </a:xfrm>
          <a:prstGeom prst="line">
            <a:avLst/>
          </a:prstGeom>
          <a:ln w="38100">
            <a:solidFill>
              <a:srgbClr val="067D79"/>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9099114" y="5043830"/>
            <a:ext cx="117043" cy="117043"/>
          </a:xfrm>
          <a:prstGeom prst="ellipse">
            <a:avLst/>
          </a:prstGeom>
          <a:solidFill>
            <a:srgbClr val="D97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574128" y="5043830"/>
            <a:ext cx="117043" cy="117043"/>
          </a:xfrm>
          <a:prstGeom prst="ellipse">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627284" y="4937760"/>
            <a:ext cx="420624" cy="265176"/>
          </a:xfrm>
          <a:prstGeom prst="rect">
            <a:avLst/>
          </a:prstGeom>
          <a:noFill/>
        </p:spPr>
        <p:txBody>
          <a:bodyPr wrap="square" lIns="0" rIns="0" tIns="0" bIns="0" anchor="t">
            <a:spAutoFit/>
          </a:bodyPr>
          <a:lstStyle/>
          <a:p>
            <a:pPr algn="r">
              <a:lnSpc>
                <a:spcPct val="112000"/>
              </a:lnSpc>
              <a:spcBef>
                <a:spcPts val="0"/>
              </a:spcBef>
              <a:spcAft>
                <a:spcPts val="0"/>
              </a:spcAft>
            </a:pPr>
            <a:r>
              <a:rPr sz="1000" b="0">
                <a:solidFill>
                  <a:srgbClr val="BE5846"/>
                </a:solidFill>
                <a:latin typeface="Arial"/>
              </a:rPr>
              <a:t>87.5</a:t>
            </a:r>
          </a:p>
        </p:txBody>
      </p:sp>
      <p:sp>
        <p:nvSpPr>
          <p:cNvPr id="74" name="TextBox 73"/>
          <p:cNvSpPr txBox="1"/>
          <p:nvPr/>
        </p:nvSpPr>
        <p:spPr>
          <a:xfrm>
            <a:off x="9751521" y="4974336"/>
            <a:ext cx="557784" cy="256032"/>
          </a:xfrm>
          <a:prstGeom prst="rect">
            <a:avLst/>
          </a:prstGeom>
          <a:noFill/>
        </p:spPr>
        <p:txBody>
          <a:bodyPr wrap="square" lIns="0" rIns="0" tIns="0" bIns="0" anchor="t">
            <a:spAutoFit/>
          </a:bodyPr>
          <a:lstStyle/>
          <a:p>
            <a:pPr algn="l">
              <a:lnSpc>
                <a:spcPct val="112000"/>
              </a:lnSpc>
              <a:spcBef>
                <a:spcPts val="0"/>
              </a:spcBef>
              <a:spcAft>
                <a:spcPts val="0"/>
              </a:spcAft>
            </a:pPr>
            <a:r>
              <a:rPr sz="1000" b="0">
                <a:solidFill>
                  <a:srgbClr val="067D79"/>
                </a:solidFill>
                <a:latin typeface="Arial"/>
              </a:rPr>
              <a:t>97.6</a:t>
            </a:r>
          </a:p>
        </p:txBody>
      </p:sp>
      <p:sp>
        <p:nvSpPr>
          <p:cNvPr id="75" name="TextBox 74"/>
          <p:cNvSpPr txBox="1"/>
          <p:nvPr/>
        </p:nvSpPr>
        <p:spPr>
          <a:xfrm>
            <a:off x="10744200" y="4983480"/>
            <a:ext cx="658368" cy="256032"/>
          </a:xfrm>
          <a:prstGeom prst="rect">
            <a:avLst/>
          </a:prstGeom>
          <a:noFill/>
        </p:spPr>
        <p:txBody>
          <a:bodyPr wrap="square" lIns="0" rIns="0" tIns="0" bIns="0" anchor="t">
            <a:spAutoFit/>
          </a:bodyPr>
          <a:lstStyle/>
          <a:p>
            <a:pPr algn="r">
              <a:lnSpc>
                <a:spcPct val="112000"/>
              </a:lnSpc>
              <a:spcBef>
                <a:spcPts val="0"/>
              </a:spcBef>
              <a:spcAft>
                <a:spcPts val="0"/>
              </a:spcAft>
            </a:pPr>
            <a:r>
              <a:rPr sz="1500" b="1">
                <a:solidFill>
                  <a:srgbClr val="142E35"/>
                </a:solidFill>
                <a:latin typeface="Arial"/>
              </a:rPr>
              <a:t>81</a:t>
            </a:r>
          </a:p>
        </p:txBody>
      </p:sp>
      <p:sp>
        <p:nvSpPr>
          <p:cNvPr id="76" name="Rounded Rectangle 75"/>
          <p:cNvSpPr/>
          <p:nvPr/>
        </p:nvSpPr>
        <p:spPr>
          <a:xfrm>
            <a:off x="594360" y="5678424"/>
            <a:ext cx="10963656" cy="493776"/>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95528" y="5806440"/>
            <a:ext cx="10543032" cy="26517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Solvent exposure + secondary structure account for 128 of the 163 exhausted tasks.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13 / SFT INVENTORY</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A correct teacher answer may still be too long for Snowball</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The published SFT configuration keeps the first correct response only when the entire conversation fits.</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GLM results · tasks v1.2.0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14</a:t>
            </a:r>
          </a:p>
        </p:txBody>
      </p:sp>
      <p:sp>
        <p:nvSpPr>
          <p:cNvPr id="9" name="TextBox 8"/>
          <p:cNvSpPr txBox="1"/>
          <p:nvPr/>
        </p:nvSpPr>
        <p:spPr>
          <a:xfrm>
            <a:off x="676656" y="2148840"/>
            <a:ext cx="3429000" cy="420624"/>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142E35"/>
                </a:solidFill>
                <a:latin typeface="Arial"/>
              </a:rPr>
              <a:t>Eligible train tasks</a:t>
            </a:r>
          </a:p>
        </p:txBody>
      </p:sp>
      <p:sp>
        <p:nvSpPr>
          <p:cNvPr id="10" name="Rectangle 9"/>
          <p:cNvSpPr/>
          <p:nvPr/>
        </p:nvSpPr>
        <p:spPr>
          <a:xfrm>
            <a:off x="4416552" y="2176272"/>
            <a:ext cx="4197096" cy="320040"/>
          </a:xfrm>
          <a:prstGeom prst="rect">
            <a:avLst/>
          </a:prstGeom>
          <a:solidFill>
            <a:srgbClr val="A2BC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88552" y="2121408"/>
            <a:ext cx="2039112" cy="466344"/>
          </a:xfrm>
          <a:prstGeom prst="rect">
            <a:avLst/>
          </a:prstGeom>
          <a:noFill/>
        </p:spPr>
        <p:txBody>
          <a:bodyPr wrap="square" lIns="0" rIns="0" tIns="0" bIns="0" anchor="t">
            <a:spAutoFit/>
          </a:bodyPr>
          <a:lstStyle/>
          <a:p>
            <a:pPr algn="r">
              <a:lnSpc>
                <a:spcPct val="112000"/>
              </a:lnSpc>
              <a:spcBef>
                <a:spcPts val="0"/>
              </a:spcBef>
              <a:spcAft>
                <a:spcPts val="0"/>
              </a:spcAft>
            </a:pPr>
            <a:r>
              <a:rPr sz="2900" b="1">
                <a:solidFill>
                  <a:srgbClr val="142E35"/>
                </a:solidFill>
                <a:latin typeface="Arial"/>
              </a:rPr>
              <a:t>28,045</a:t>
            </a:r>
          </a:p>
        </p:txBody>
      </p:sp>
      <p:sp>
        <p:nvSpPr>
          <p:cNvPr id="12" name="TextBox 11"/>
          <p:cNvSpPr txBox="1"/>
          <p:nvPr/>
        </p:nvSpPr>
        <p:spPr>
          <a:xfrm>
            <a:off x="676656" y="2907792"/>
            <a:ext cx="3429000" cy="420624"/>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142E35"/>
                </a:solidFill>
                <a:latin typeface="Arial"/>
              </a:rPr>
              <a:t>Verifier-correct</a:t>
            </a:r>
          </a:p>
        </p:txBody>
      </p:sp>
      <p:sp>
        <p:nvSpPr>
          <p:cNvPr id="13" name="Rectangle 12"/>
          <p:cNvSpPr/>
          <p:nvPr/>
        </p:nvSpPr>
        <p:spPr>
          <a:xfrm>
            <a:off x="4416552" y="2935224"/>
            <a:ext cx="4172702" cy="320040"/>
          </a:xfrm>
          <a:prstGeom prst="rect">
            <a:avLst/>
          </a:prstGeom>
          <a:solidFill>
            <a:srgbClr val="A2BC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88552" y="2880360"/>
            <a:ext cx="2039112" cy="466344"/>
          </a:xfrm>
          <a:prstGeom prst="rect">
            <a:avLst/>
          </a:prstGeom>
          <a:noFill/>
        </p:spPr>
        <p:txBody>
          <a:bodyPr wrap="square" lIns="0" rIns="0" tIns="0" bIns="0" anchor="t">
            <a:spAutoFit/>
          </a:bodyPr>
          <a:lstStyle/>
          <a:p>
            <a:pPr algn="r">
              <a:lnSpc>
                <a:spcPct val="112000"/>
              </a:lnSpc>
              <a:spcBef>
                <a:spcPts val="0"/>
              </a:spcBef>
              <a:spcAft>
                <a:spcPts val="0"/>
              </a:spcAft>
            </a:pPr>
            <a:r>
              <a:rPr sz="2900" b="1">
                <a:solidFill>
                  <a:srgbClr val="142E35"/>
                </a:solidFill>
                <a:latin typeface="Arial"/>
              </a:rPr>
              <a:t>27,882</a:t>
            </a:r>
          </a:p>
        </p:txBody>
      </p:sp>
      <p:sp>
        <p:nvSpPr>
          <p:cNvPr id="15" name="TextBox 14"/>
          <p:cNvSpPr txBox="1"/>
          <p:nvPr/>
        </p:nvSpPr>
        <p:spPr>
          <a:xfrm>
            <a:off x="676656" y="3666744"/>
            <a:ext cx="3429000" cy="420624"/>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142E35"/>
                </a:solidFill>
                <a:latin typeface="Arial"/>
              </a:rPr>
              <a:t>Whole conversation fits</a:t>
            </a:r>
          </a:p>
        </p:txBody>
      </p:sp>
      <p:sp>
        <p:nvSpPr>
          <p:cNvPr id="16" name="Rectangle 15"/>
          <p:cNvSpPr/>
          <p:nvPr/>
        </p:nvSpPr>
        <p:spPr>
          <a:xfrm>
            <a:off x="4416552" y="3694176"/>
            <a:ext cx="3669858" cy="320040"/>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3639312"/>
            <a:ext cx="2039112" cy="466344"/>
          </a:xfrm>
          <a:prstGeom prst="rect">
            <a:avLst/>
          </a:prstGeom>
          <a:noFill/>
        </p:spPr>
        <p:txBody>
          <a:bodyPr wrap="square" lIns="0" rIns="0" tIns="0" bIns="0" anchor="t">
            <a:spAutoFit/>
          </a:bodyPr>
          <a:lstStyle/>
          <a:p>
            <a:pPr algn="r">
              <a:lnSpc>
                <a:spcPct val="112000"/>
              </a:lnSpc>
              <a:spcBef>
                <a:spcPts val="0"/>
              </a:spcBef>
              <a:spcAft>
                <a:spcPts val="0"/>
              </a:spcAft>
            </a:pPr>
            <a:r>
              <a:rPr sz="2900" b="1">
                <a:solidFill>
                  <a:srgbClr val="067D79"/>
                </a:solidFill>
                <a:latin typeface="Arial"/>
              </a:rPr>
              <a:t>24,522</a:t>
            </a:r>
          </a:p>
        </p:txBody>
      </p:sp>
      <p:sp>
        <p:nvSpPr>
          <p:cNvPr id="18" name="TextBox 17"/>
          <p:cNvSpPr txBox="1"/>
          <p:nvPr/>
        </p:nvSpPr>
        <p:spPr>
          <a:xfrm>
            <a:off x="676656" y="4425696"/>
            <a:ext cx="3429000" cy="420624"/>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142E35"/>
                </a:solidFill>
                <a:latin typeface="Arial"/>
              </a:rPr>
              <a:t>Assistant ≤8K</a:t>
            </a:r>
          </a:p>
        </p:txBody>
      </p:sp>
      <p:sp>
        <p:nvSpPr>
          <p:cNvPr id="19" name="Rectangle 18"/>
          <p:cNvSpPr/>
          <p:nvPr/>
        </p:nvSpPr>
        <p:spPr>
          <a:xfrm>
            <a:off x="4416552" y="4453128"/>
            <a:ext cx="3306494" cy="320040"/>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88552" y="4398264"/>
            <a:ext cx="2039112" cy="466344"/>
          </a:xfrm>
          <a:prstGeom prst="rect">
            <a:avLst/>
          </a:prstGeom>
          <a:noFill/>
        </p:spPr>
        <p:txBody>
          <a:bodyPr wrap="square" lIns="0" rIns="0" tIns="0" bIns="0" anchor="t">
            <a:spAutoFit/>
          </a:bodyPr>
          <a:lstStyle/>
          <a:p>
            <a:pPr algn="r">
              <a:lnSpc>
                <a:spcPct val="112000"/>
              </a:lnSpc>
              <a:spcBef>
                <a:spcPts val="0"/>
              </a:spcBef>
              <a:spcAft>
                <a:spcPts val="0"/>
              </a:spcAft>
            </a:pPr>
            <a:r>
              <a:rPr sz="2900" b="1">
                <a:solidFill>
                  <a:srgbClr val="067D79"/>
                </a:solidFill>
                <a:latin typeface="Arial"/>
              </a:rPr>
              <a:t>22,094</a:t>
            </a:r>
          </a:p>
        </p:txBody>
      </p:sp>
      <p:sp>
        <p:nvSpPr>
          <p:cNvPr id="21" name="Rounded Rectangle 20"/>
          <p:cNvSpPr/>
          <p:nvPr/>
        </p:nvSpPr>
        <p:spPr>
          <a:xfrm>
            <a:off x="594360" y="5577840"/>
            <a:ext cx="10972800" cy="594360"/>
          </a:xfrm>
          <a:prstGeom prst="roundRect">
            <a:avLst>
              <a:gd name="adj" fmla="val 3500"/>
            </a:avLst>
          </a:prstGeom>
          <a:solidFill>
            <a:srgbClr val="10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5733288"/>
            <a:ext cx="5669280" cy="292608"/>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91E1CD"/>
                </a:solidFill>
                <a:latin typeface="Arial"/>
              </a:rPr>
              <a:t>3,360 correct traces exceed context</a:t>
            </a:r>
          </a:p>
        </p:txBody>
      </p:sp>
      <p:sp>
        <p:nvSpPr>
          <p:cNvPr id="23" name="TextBox 22"/>
          <p:cNvSpPr txBox="1"/>
          <p:nvPr/>
        </p:nvSpPr>
        <p:spPr>
          <a:xfrm>
            <a:off x="6812280" y="5751576"/>
            <a:ext cx="4462272" cy="283464"/>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FFFFFF"/>
                </a:solidFill>
                <a:latin typeface="Arial"/>
              </a:rPr>
              <a:t>I01: 0 SFT examples    ·    G04: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82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91E1CD"/>
                </a:solidFill>
                <a:latin typeface="Arial"/>
              </a:rPr>
              <a:t>14 / PROPOSED SNOWBALL EXPERIMENT</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FFFFFF"/>
                </a:solidFill>
                <a:latin typeface="Arial"/>
              </a:rPr>
              <a:t>Use verified SFT first, then test whether RL adds transfer</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A8BBC0"/>
                </a:solidFill>
                <a:latin typeface="Arial"/>
              </a:rPr>
              <a:t>This is a proposed experiment sequence; no Snowball training gain has been measured here.</a:t>
            </a:r>
          </a:p>
        </p:txBody>
      </p:sp>
      <p:cxnSp>
        <p:nvCxnSpPr>
          <p:cNvPr id="5" name="Connector 4"/>
          <p:cNvCxnSpPr/>
          <p:nvPr/>
        </p:nvCxnSpPr>
        <p:spPr>
          <a:xfrm>
            <a:off x="530352" y="6473952"/>
            <a:ext cx="11100816" cy="0"/>
          </a:xfrm>
          <a:prstGeom prst="line">
            <a:avLst/>
          </a:prstGeom>
          <a:ln w="7620">
            <a:solidFill>
              <a:srgbClr val="36505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A8BBC0"/>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A8BBC0"/>
                </a:solidFill>
                <a:latin typeface="Arial"/>
              </a:rPr>
              <a:t>Historical GLM traces · tasks v1.2.0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A8BBC0"/>
                </a:solidFill>
                <a:latin typeface="Arial"/>
              </a:rPr>
              <a:t>15</a:t>
            </a:r>
          </a:p>
        </p:txBody>
      </p:sp>
      <p:sp>
        <p:nvSpPr>
          <p:cNvPr id="9" name="Rounded Rectangle 8"/>
          <p:cNvSpPr/>
          <p:nvPr/>
        </p:nvSpPr>
        <p:spPr>
          <a:xfrm>
            <a:off x="612648" y="2203704"/>
            <a:ext cx="3456432" cy="3566160"/>
          </a:xfrm>
          <a:prstGeom prst="roundRect">
            <a:avLst>
              <a:gd name="adj" fmla="val 3500"/>
            </a:avLst>
          </a:prstGeom>
          <a:solidFill>
            <a:srgbClr val="1B3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395728"/>
            <a:ext cx="914400" cy="393192"/>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91E1CD"/>
                </a:solidFill>
                <a:latin typeface="Arial"/>
              </a:rPr>
              <a:t>01</a:t>
            </a:r>
          </a:p>
        </p:txBody>
      </p:sp>
      <p:sp>
        <p:nvSpPr>
          <p:cNvPr id="11" name="TextBox 10"/>
          <p:cNvSpPr txBox="1"/>
          <p:nvPr/>
        </p:nvSpPr>
        <p:spPr>
          <a:xfrm>
            <a:off x="795528" y="3044952"/>
            <a:ext cx="3072384" cy="804672"/>
          </a:xfrm>
          <a:prstGeom prst="rect">
            <a:avLst/>
          </a:prstGeom>
          <a:noFill/>
        </p:spPr>
        <p:txBody>
          <a:bodyPr wrap="square" lIns="0" rIns="0" tIns="0" bIns="0" anchor="t">
            <a:spAutoFit/>
          </a:bodyPr>
          <a:lstStyle/>
          <a:p>
            <a:pPr algn="l">
              <a:lnSpc>
                <a:spcPct val="112000"/>
              </a:lnSpc>
              <a:spcBef>
                <a:spcPts val="0"/>
              </a:spcBef>
              <a:spcAft>
                <a:spcPts val="0"/>
              </a:spcAft>
            </a:pPr>
            <a:r>
              <a:rPr sz="2500" b="1">
                <a:solidFill>
                  <a:srgbClr val="FFFFFF"/>
                </a:solidFill>
                <a:latin typeface="Arial"/>
              </a:rPr>
              <a:t>Reconcile versions</a:t>
            </a:r>
          </a:p>
        </p:txBody>
      </p:sp>
      <p:sp>
        <p:nvSpPr>
          <p:cNvPr id="12" name="TextBox 11"/>
          <p:cNvSpPr txBox="1"/>
          <p:nvPr/>
        </p:nvSpPr>
        <p:spPr>
          <a:xfrm>
            <a:off x="795528" y="4133087"/>
            <a:ext cx="3026664" cy="123444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FFFFFF"/>
                </a:solidFill>
                <a:latin typeface="Arial"/>
              </a:rPr>
              <a:t>Rescore numeric cases and regenerate G04 on v1.3; publish a new teacher revision.</a:t>
            </a:r>
          </a:p>
        </p:txBody>
      </p:sp>
      <p:sp>
        <p:nvSpPr>
          <p:cNvPr id="13" name="Rounded Rectangle 12"/>
          <p:cNvSpPr/>
          <p:nvPr/>
        </p:nvSpPr>
        <p:spPr>
          <a:xfrm>
            <a:off x="4434840" y="2203704"/>
            <a:ext cx="3456432" cy="3566160"/>
          </a:xfrm>
          <a:prstGeom prst="roundRect">
            <a:avLst>
              <a:gd name="adj" fmla="val 3500"/>
            </a:avLst>
          </a:prstGeom>
          <a:solidFill>
            <a:srgbClr val="1B3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395728"/>
            <a:ext cx="914400" cy="393192"/>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91E1CD"/>
                </a:solidFill>
                <a:latin typeface="Arial"/>
              </a:rPr>
              <a:t>02</a:t>
            </a:r>
          </a:p>
        </p:txBody>
      </p:sp>
      <p:sp>
        <p:nvSpPr>
          <p:cNvPr id="15" name="TextBox 14"/>
          <p:cNvSpPr txBox="1"/>
          <p:nvPr/>
        </p:nvSpPr>
        <p:spPr>
          <a:xfrm>
            <a:off x="4617720" y="3044952"/>
            <a:ext cx="3072384" cy="804672"/>
          </a:xfrm>
          <a:prstGeom prst="rect">
            <a:avLst/>
          </a:prstGeom>
          <a:noFill/>
        </p:spPr>
        <p:txBody>
          <a:bodyPr wrap="square" lIns="0" rIns="0" tIns="0" bIns="0" anchor="t">
            <a:spAutoFit/>
          </a:bodyPr>
          <a:lstStyle/>
          <a:p>
            <a:pPr algn="l">
              <a:lnSpc>
                <a:spcPct val="112000"/>
              </a:lnSpc>
              <a:spcBef>
                <a:spcPts val="0"/>
              </a:spcBef>
              <a:spcAft>
                <a:spcPts val="0"/>
              </a:spcAft>
            </a:pPr>
            <a:r>
              <a:rPr sz="2500" b="1">
                <a:solidFill>
                  <a:srgbClr val="FFFFFF"/>
                </a:solidFill>
                <a:latin typeface="Arial"/>
              </a:rPr>
              <a:t>Run a focused SFT pilot</a:t>
            </a:r>
          </a:p>
        </p:txBody>
      </p:sp>
      <p:sp>
        <p:nvSpPr>
          <p:cNvPr id="16" name="TextBox 15"/>
          <p:cNvSpPr txBox="1"/>
          <p:nvPr/>
        </p:nvSpPr>
        <p:spPr>
          <a:xfrm>
            <a:off x="4617720" y="4133087"/>
            <a:ext cx="3026664" cy="123444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FFFFFF"/>
                </a:solidFill>
                <a:latin typeface="Arial"/>
              </a:rPr>
              <a:t>Use verified, student-fitting traces. Compare natural and family-aware mixtures.</a:t>
            </a:r>
          </a:p>
        </p:txBody>
      </p:sp>
      <p:sp>
        <p:nvSpPr>
          <p:cNvPr id="17" name="Rounded Rectangle 16"/>
          <p:cNvSpPr/>
          <p:nvPr/>
        </p:nvSpPr>
        <p:spPr>
          <a:xfrm>
            <a:off x="8257031" y="2203704"/>
            <a:ext cx="3456432" cy="3566160"/>
          </a:xfrm>
          <a:prstGeom prst="roundRect">
            <a:avLst>
              <a:gd name="adj" fmla="val 3500"/>
            </a:avLst>
          </a:prstGeom>
          <a:solidFill>
            <a:srgbClr val="1B39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9911" y="2395728"/>
            <a:ext cx="914400" cy="393192"/>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91E1CD"/>
                </a:solidFill>
                <a:latin typeface="Arial"/>
              </a:rPr>
              <a:t>03</a:t>
            </a:r>
          </a:p>
        </p:txBody>
      </p:sp>
      <p:sp>
        <p:nvSpPr>
          <p:cNvPr id="19" name="TextBox 18"/>
          <p:cNvSpPr txBox="1"/>
          <p:nvPr/>
        </p:nvSpPr>
        <p:spPr>
          <a:xfrm>
            <a:off x="8439911" y="3044952"/>
            <a:ext cx="3072384" cy="804672"/>
          </a:xfrm>
          <a:prstGeom prst="rect">
            <a:avLst/>
          </a:prstGeom>
          <a:noFill/>
        </p:spPr>
        <p:txBody>
          <a:bodyPr wrap="square" lIns="0" rIns="0" tIns="0" bIns="0" anchor="t">
            <a:spAutoFit/>
          </a:bodyPr>
          <a:lstStyle/>
          <a:p>
            <a:pPr algn="l">
              <a:lnSpc>
                <a:spcPct val="112000"/>
              </a:lnSpc>
              <a:spcBef>
                <a:spcPts val="0"/>
              </a:spcBef>
              <a:spcAft>
                <a:spcPts val="0"/>
              </a:spcAft>
            </a:pPr>
            <a:r>
              <a:rPr sz="2500" b="1">
                <a:solidFill>
                  <a:srgbClr val="FFFFFF"/>
                </a:solidFill>
                <a:latin typeface="Arial"/>
              </a:rPr>
              <a:t>Add RL on residual errors</a:t>
            </a:r>
          </a:p>
        </p:txBody>
      </p:sp>
      <p:sp>
        <p:nvSpPr>
          <p:cNvPr id="20" name="TextBox 19"/>
          <p:cNvSpPr txBox="1"/>
          <p:nvPr/>
        </p:nvSpPr>
        <p:spPr>
          <a:xfrm>
            <a:off x="8439911" y="4133087"/>
            <a:ext cx="3026664" cy="123444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FFFFFF"/>
                </a:solidFill>
                <a:latin typeface="Arial"/>
              </a:rPr>
              <a:t>Target Snowball’s measured weaknesses using deterministic rewards and grouped splits.</a:t>
            </a:r>
          </a:p>
        </p:txBody>
      </p:sp>
      <p:sp>
        <p:nvSpPr>
          <p:cNvPr id="21" name="TextBox 20"/>
          <p:cNvSpPr txBox="1"/>
          <p:nvPr/>
        </p:nvSpPr>
        <p:spPr>
          <a:xfrm>
            <a:off x="758952" y="6016752"/>
            <a:ext cx="10789920" cy="274320"/>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A8BBC0"/>
                </a:solidFill>
                <a:latin typeface="Arial"/>
              </a:rPr>
              <a:t>Keep the original benchmark and the source-group held-out splits out of 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15 / EVALUATION PLAN</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Judge progress by held-out transfer and complete answers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Compare baseline Snowball, SFT-only and SFT + RL on the same versioned evaluation cohorts.</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Snowball native-context audit</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16</a:t>
            </a:r>
          </a:p>
        </p:txBody>
      </p:sp>
      <p:sp>
        <p:nvSpPr>
          <p:cNvPr id="9" name="Rounded Rectangle 8"/>
          <p:cNvSpPr/>
          <p:nvPr/>
        </p:nvSpPr>
        <p:spPr>
          <a:xfrm>
            <a:off x="603504" y="2048256"/>
            <a:ext cx="10963656" cy="61264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194560"/>
            <a:ext cx="2212848" cy="30175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Capability</a:t>
            </a:r>
          </a:p>
        </p:txBody>
      </p:sp>
      <p:sp>
        <p:nvSpPr>
          <p:cNvPr id="11" name="TextBox 10"/>
          <p:cNvSpPr txBox="1"/>
          <p:nvPr/>
        </p:nvSpPr>
        <p:spPr>
          <a:xfrm>
            <a:off x="3099816" y="2212848"/>
            <a:ext cx="8220456" cy="310896"/>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142E35"/>
                </a:solidFill>
                <a:latin typeface="Arial"/>
              </a:rPr>
              <a:t>Exact reward by family; macro and task-weighted accuracy.</a:t>
            </a:r>
          </a:p>
        </p:txBody>
      </p:sp>
      <p:sp>
        <p:nvSpPr>
          <p:cNvPr id="12" name="Rounded Rectangle 11"/>
          <p:cNvSpPr/>
          <p:nvPr/>
        </p:nvSpPr>
        <p:spPr>
          <a:xfrm>
            <a:off x="603504" y="2807208"/>
            <a:ext cx="10963656" cy="61264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953512"/>
            <a:ext cx="2212848" cy="30175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Transfer</a:t>
            </a:r>
          </a:p>
        </p:txBody>
      </p:sp>
      <p:sp>
        <p:nvSpPr>
          <p:cNvPr id="14" name="TextBox 13"/>
          <p:cNvSpPr txBox="1"/>
          <p:nvPr/>
        </p:nvSpPr>
        <p:spPr>
          <a:xfrm>
            <a:off x="3099816" y="2971800"/>
            <a:ext cx="8220456" cy="310896"/>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142E35"/>
                </a:solidFill>
                <a:latin typeface="Arial"/>
              </a:rPr>
              <a:t>Fixed held-out source groups, plus a separate benchmark readout.</a:t>
            </a:r>
          </a:p>
        </p:txBody>
      </p:sp>
      <p:sp>
        <p:nvSpPr>
          <p:cNvPr id="15" name="Rounded Rectangle 14"/>
          <p:cNvSpPr/>
          <p:nvPr/>
        </p:nvSpPr>
        <p:spPr>
          <a:xfrm>
            <a:off x="603504" y="3566160"/>
            <a:ext cx="10963656" cy="61264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712464"/>
            <a:ext cx="2212848" cy="30175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Efficiency</a:t>
            </a:r>
          </a:p>
        </p:txBody>
      </p:sp>
      <p:sp>
        <p:nvSpPr>
          <p:cNvPr id="17" name="TextBox 16"/>
          <p:cNvSpPr txBox="1"/>
          <p:nvPr/>
        </p:nvSpPr>
        <p:spPr>
          <a:xfrm>
            <a:off x="3099816" y="3730752"/>
            <a:ext cx="8220456" cy="310896"/>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142E35"/>
                </a:solidFill>
                <a:latin typeface="Arial"/>
              </a:rPr>
              <a:t>Tokens, truncation, format errors and tool-policy compliance.</a:t>
            </a:r>
          </a:p>
        </p:txBody>
      </p:sp>
      <p:sp>
        <p:nvSpPr>
          <p:cNvPr id="18" name="Rounded Rectangle 17"/>
          <p:cNvSpPr/>
          <p:nvPr/>
        </p:nvSpPr>
        <p:spPr>
          <a:xfrm>
            <a:off x="603504" y="4325112"/>
            <a:ext cx="10963656" cy="61264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471416"/>
            <a:ext cx="2212848" cy="30175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Coverage</a:t>
            </a:r>
          </a:p>
        </p:txBody>
      </p:sp>
      <p:sp>
        <p:nvSpPr>
          <p:cNvPr id="20" name="TextBox 19"/>
          <p:cNvSpPr txBox="1"/>
          <p:nvPr/>
        </p:nvSpPr>
        <p:spPr>
          <a:xfrm>
            <a:off x="3099816" y="4489704"/>
            <a:ext cx="8220456" cy="310896"/>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142E35"/>
                </a:solidFill>
                <a:latin typeface="Arial"/>
              </a:rPr>
              <a:t>No held-out 8K tasks for ligand contacts, interfaces or two-state changes.</a:t>
            </a:r>
          </a:p>
        </p:txBody>
      </p:sp>
      <p:sp>
        <p:nvSpPr>
          <p:cNvPr id="21" name="Rounded Rectangle 20"/>
          <p:cNvSpPr/>
          <p:nvPr/>
        </p:nvSpPr>
        <p:spPr>
          <a:xfrm>
            <a:off x="603504" y="5449824"/>
            <a:ext cx="10963656" cy="74980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650992"/>
            <a:ext cx="2651760" cy="32004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Decision to make</a:t>
            </a:r>
          </a:p>
        </p:txBody>
      </p:sp>
      <p:sp>
        <p:nvSpPr>
          <p:cNvPr id="23" name="TextBox 22"/>
          <p:cNvSpPr txBox="1"/>
          <p:nvPr/>
        </p:nvSpPr>
        <p:spPr>
          <a:xfrm>
            <a:off x="3493008" y="5596128"/>
            <a:ext cx="7799831" cy="521207"/>
          </a:xfrm>
          <a:prstGeom prst="rect">
            <a:avLst/>
          </a:prstGeom>
          <a:noFill/>
        </p:spPr>
        <p:txBody>
          <a:bodyPr wrap="square" lIns="0" rIns="0" tIns="0" bIns="0" anchor="t">
            <a:spAutoFit/>
          </a:bodyPr>
          <a:lstStyle/>
          <a:p>
            <a:pPr algn="l">
              <a:lnSpc>
                <a:spcPct val="112000"/>
              </a:lnSpc>
              <a:spcBef>
                <a:spcPts val="0"/>
              </a:spcBef>
              <a:spcAft>
                <a:spcPts val="0"/>
              </a:spcAft>
            </a:pPr>
            <a:r>
              <a:rPr sz="1700" b="0">
                <a:solidFill>
                  <a:srgbClr val="142E35"/>
                </a:solidFill>
                <a:latin typeface="Arial"/>
              </a:rPr>
              <a:t>Does RL improve held-out accuracy beyond SFT at an acceptable token cost?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APPENDIX A / FULL COUNTS</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Family inventory and teacher outcomes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Task counts use v1.3.0. Teacher outcomes retain task-v1.2.0 scoring; the 8K training task identities are unchanged.</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GLM results · tasks v1.2.0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17</a:t>
            </a:r>
          </a:p>
        </p:txBody>
      </p:sp>
      <p:sp>
        <p:nvSpPr>
          <p:cNvPr id="9" name="TextBox 8"/>
          <p:cNvSpPr txBox="1"/>
          <p:nvPr/>
        </p:nvSpPr>
        <p:spPr>
          <a:xfrm>
            <a:off x="658368" y="1920240"/>
            <a:ext cx="3456432" cy="219456"/>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586E72"/>
                </a:solidFill>
                <a:latin typeface="Arial"/>
              </a:rPr>
              <a:t>Family</a:t>
            </a:r>
          </a:p>
        </p:txBody>
      </p:sp>
      <p:sp>
        <p:nvSpPr>
          <p:cNvPr id="10" name="TextBox 9"/>
          <p:cNvSpPr txBox="1"/>
          <p:nvPr/>
        </p:nvSpPr>
        <p:spPr>
          <a:xfrm>
            <a:off x="4297680" y="1920240"/>
            <a:ext cx="1115568" cy="219456"/>
          </a:xfrm>
          <a:prstGeom prst="rect">
            <a:avLst/>
          </a:prstGeom>
          <a:noFill/>
        </p:spPr>
        <p:txBody>
          <a:bodyPr wrap="square" lIns="0" rIns="0" tIns="0" bIns="0" anchor="t">
            <a:spAutoFit/>
          </a:bodyPr>
          <a:lstStyle/>
          <a:p>
            <a:pPr algn="r">
              <a:lnSpc>
                <a:spcPct val="112000"/>
              </a:lnSpc>
              <a:spcBef>
                <a:spcPts val="0"/>
              </a:spcBef>
              <a:spcAft>
                <a:spcPts val="0"/>
              </a:spcAft>
            </a:pPr>
            <a:r>
              <a:rPr sz="1100" b="1">
                <a:solidFill>
                  <a:srgbClr val="586E72"/>
                </a:solidFill>
                <a:latin typeface="Arial"/>
              </a:rPr>
              <a:t>All tasks</a:t>
            </a:r>
          </a:p>
        </p:txBody>
      </p:sp>
      <p:sp>
        <p:nvSpPr>
          <p:cNvPr id="11" name="TextBox 10"/>
          <p:cNvSpPr txBox="1"/>
          <p:nvPr/>
        </p:nvSpPr>
        <p:spPr>
          <a:xfrm>
            <a:off x="5705856" y="1920240"/>
            <a:ext cx="1234440" cy="219456"/>
          </a:xfrm>
          <a:prstGeom prst="rect">
            <a:avLst/>
          </a:prstGeom>
          <a:noFill/>
        </p:spPr>
        <p:txBody>
          <a:bodyPr wrap="square" lIns="0" rIns="0" tIns="0" bIns="0" anchor="t">
            <a:spAutoFit/>
          </a:bodyPr>
          <a:lstStyle/>
          <a:p>
            <a:pPr algn="r">
              <a:lnSpc>
                <a:spcPct val="112000"/>
              </a:lnSpc>
              <a:spcBef>
                <a:spcPts val="0"/>
              </a:spcBef>
              <a:spcAft>
                <a:spcPts val="0"/>
              </a:spcAft>
            </a:pPr>
            <a:r>
              <a:rPr sz="1100" b="1">
                <a:solidFill>
                  <a:srgbClr val="586E72"/>
                </a:solidFill>
                <a:latin typeface="Arial"/>
              </a:rPr>
              <a:t>8K train</a:t>
            </a:r>
          </a:p>
        </p:txBody>
      </p:sp>
      <p:sp>
        <p:nvSpPr>
          <p:cNvPr id="12" name="TextBox 11"/>
          <p:cNvSpPr txBox="1"/>
          <p:nvPr/>
        </p:nvSpPr>
        <p:spPr>
          <a:xfrm>
            <a:off x="7278624" y="1920240"/>
            <a:ext cx="1033271" cy="219456"/>
          </a:xfrm>
          <a:prstGeom prst="rect">
            <a:avLst/>
          </a:prstGeom>
          <a:noFill/>
        </p:spPr>
        <p:txBody>
          <a:bodyPr wrap="square" lIns="0" rIns="0" tIns="0" bIns="0" anchor="t">
            <a:spAutoFit/>
          </a:bodyPr>
          <a:lstStyle/>
          <a:p>
            <a:pPr algn="r">
              <a:lnSpc>
                <a:spcPct val="112000"/>
              </a:lnSpc>
              <a:spcBef>
                <a:spcPts val="0"/>
              </a:spcBef>
              <a:spcAft>
                <a:spcPts val="0"/>
              </a:spcAft>
            </a:pPr>
            <a:r>
              <a:rPr sz="1100" b="1">
                <a:solidFill>
                  <a:srgbClr val="586E72"/>
                </a:solidFill>
                <a:latin typeface="Arial"/>
              </a:rPr>
              <a:t>First try</a:t>
            </a:r>
          </a:p>
        </p:txBody>
      </p:sp>
      <p:sp>
        <p:nvSpPr>
          <p:cNvPr id="13" name="TextBox 12"/>
          <p:cNvSpPr txBox="1"/>
          <p:nvPr/>
        </p:nvSpPr>
        <p:spPr>
          <a:xfrm>
            <a:off x="8613648" y="1920240"/>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1100" b="1">
                <a:solidFill>
                  <a:srgbClr val="586E72"/>
                </a:solidFill>
                <a:latin typeface="Arial"/>
              </a:rPr>
              <a:t>By ten</a:t>
            </a:r>
          </a:p>
        </p:txBody>
      </p:sp>
      <p:sp>
        <p:nvSpPr>
          <p:cNvPr id="14" name="TextBox 13"/>
          <p:cNvSpPr txBox="1"/>
          <p:nvPr/>
        </p:nvSpPr>
        <p:spPr>
          <a:xfrm>
            <a:off x="10104120" y="1920240"/>
            <a:ext cx="1234440" cy="219456"/>
          </a:xfrm>
          <a:prstGeom prst="rect">
            <a:avLst/>
          </a:prstGeom>
          <a:noFill/>
        </p:spPr>
        <p:txBody>
          <a:bodyPr wrap="square" lIns="0" rIns="0" tIns="0" bIns="0" anchor="t">
            <a:spAutoFit/>
          </a:bodyPr>
          <a:lstStyle/>
          <a:p>
            <a:pPr algn="r">
              <a:lnSpc>
                <a:spcPct val="112000"/>
              </a:lnSpc>
              <a:spcBef>
                <a:spcPts val="0"/>
              </a:spcBef>
              <a:spcAft>
                <a:spcPts val="0"/>
              </a:spcAft>
            </a:pPr>
            <a:r>
              <a:rPr sz="1100" b="1">
                <a:solidFill>
                  <a:srgbClr val="586E72"/>
                </a:solidFill>
                <a:latin typeface="Arial"/>
              </a:rPr>
              <a:t>SFT fits</a:t>
            </a:r>
          </a:p>
        </p:txBody>
      </p:sp>
      <p:sp>
        <p:nvSpPr>
          <p:cNvPr id="15" name="Rectangle 14"/>
          <p:cNvSpPr/>
          <p:nvPr/>
        </p:nvSpPr>
        <p:spPr>
          <a:xfrm>
            <a:off x="594360" y="2226564"/>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249424"/>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P01  Chain identifiers</a:t>
            </a:r>
          </a:p>
        </p:txBody>
      </p:sp>
      <p:sp>
        <p:nvSpPr>
          <p:cNvPr id="17" name="TextBox 16"/>
          <p:cNvSpPr txBox="1"/>
          <p:nvPr/>
        </p:nvSpPr>
        <p:spPr>
          <a:xfrm>
            <a:off x="4297680" y="2249424"/>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2,823</a:t>
            </a:r>
          </a:p>
        </p:txBody>
      </p:sp>
      <p:sp>
        <p:nvSpPr>
          <p:cNvPr id="18" name="TextBox 17"/>
          <p:cNvSpPr txBox="1"/>
          <p:nvPr/>
        </p:nvSpPr>
        <p:spPr>
          <a:xfrm>
            <a:off x="5705856" y="2249424"/>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918</a:t>
            </a:r>
          </a:p>
        </p:txBody>
      </p:sp>
      <p:sp>
        <p:nvSpPr>
          <p:cNvPr id="19" name="TextBox 18"/>
          <p:cNvSpPr txBox="1"/>
          <p:nvPr/>
        </p:nvSpPr>
        <p:spPr>
          <a:xfrm>
            <a:off x="7278624" y="2249424"/>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20" name="TextBox 19"/>
          <p:cNvSpPr txBox="1"/>
          <p:nvPr/>
        </p:nvSpPr>
        <p:spPr>
          <a:xfrm>
            <a:off x="8613648" y="2249424"/>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21" name="TextBox 20"/>
          <p:cNvSpPr txBox="1"/>
          <p:nvPr/>
        </p:nvSpPr>
        <p:spPr>
          <a:xfrm>
            <a:off x="10104120" y="2249424"/>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918</a:t>
            </a:r>
          </a:p>
        </p:txBody>
      </p:sp>
      <p:sp>
        <p:nvSpPr>
          <p:cNvPr id="22" name="TextBox 21"/>
          <p:cNvSpPr txBox="1"/>
          <p:nvPr/>
        </p:nvSpPr>
        <p:spPr>
          <a:xfrm>
            <a:off x="658368" y="2453335"/>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P02  Residue counting</a:t>
            </a:r>
          </a:p>
        </p:txBody>
      </p:sp>
      <p:sp>
        <p:nvSpPr>
          <p:cNvPr id="23" name="TextBox 22"/>
          <p:cNvSpPr txBox="1"/>
          <p:nvPr/>
        </p:nvSpPr>
        <p:spPr>
          <a:xfrm>
            <a:off x="4297680" y="2453335"/>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2,526</a:t>
            </a:r>
          </a:p>
        </p:txBody>
      </p:sp>
      <p:sp>
        <p:nvSpPr>
          <p:cNvPr id="24" name="TextBox 23"/>
          <p:cNvSpPr txBox="1"/>
          <p:nvPr/>
        </p:nvSpPr>
        <p:spPr>
          <a:xfrm>
            <a:off x="5705856" y="2453335"/>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434</a:t>
            </a:r>
          </a:p>
        </p:txBody>
      </p:sp>
      <p:sp>
        <p:nvSpPr>
          <p:cNvPr id="25" name="TextBox 24"/>
          <p:cNvSpPr txBox="1"/>
          <p:nvPr/>
        </p:nvSpPr>
        <p:spPr>
          <a:xfrm>
            <a:off x="7278624" y="2453335"/>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99.8%</a:t>
            </a:r>
          </a:p>
        </p:txBody>
      </p:sp>
      <p:sp>
        <p:nvSpPr>
          <p:cNvPr id="26" name="TextBox 25"/>
          <p:cNvSpPr txBox="1"/>
          <p:nvPr/>
        </p:nvSpPr>
        <p:spPr>
          <a:xfrm>
            <a:off x="8613648" y="2453335"/>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27" name="TextBox 26"/>
          <p:cNvSpPr txBox="1"/>
          <p:nvPr/>
        </p:nvSpPr>
        <p:spPr>
          <a:xfrm>
            <a:off x="10104120" y="2453335"/>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434</a:t>
            </a:r>
          </a:p>
        </p:txBody>
      </p:sp>
      <p:sp>
        <p:nvSpPr>
          <p:cNvPr id="28" name="Rectangle 27"/>
          <p:cNvSpPr/>
          <p:nvPr/>
        </p:nvSpPr>
        <p:spPr>
          <a:xfrm>
            <a:off x="594360" y="2634386"/>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2657246"/>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P03  Atom coordinates</a:t>
            </a:r>
          </a:p>
        </p:txBody>
      </p:sp>
      <p:sp>
        <p:nvSpPr>
          <p:cNvPr id="30" name="TextBox 29"/>
          <p:cNvSpPr txBox="1"/>
          <p:nvPr/>
        </p:nvSpPr>
        <p:spPr>
          <a:xfrm>
            <a:off x="4297680" y="2657246"/>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31" name="TextBox 30"/>
          <p:cNvSpPr txBox="1"/>
          <p:nvPr/>
        </p:nvSpPr>
        <p:spPr>
          <a:xfrm>
            <a:off x="5705856" y="2657246"/>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3,339</a:t>
            </a:r>
          </a:p>
        </p:txBody>
      </p:sp>
      <p:sp>
        <p:nvSpPr>
          <p:cNvPr id="32" name="TextBox 31"/>
          <p:cNvSpPr txBox="1"/>
          <p:nvPr/>
        </p:nvSpPr>
        <p:spPr>
          <a:xfrm>
            <a:off x="7278624" y="2657246"/>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97.4%</a:t>
            </a:r>
          </a:p>
        </p:txBody>
      </p:sp>
      <p:sp>
        <p:nvSpPr>
          <p:cNvPr id="33" name="TextBox 32"/>
          <p:cNvSpPr txBox="1"/>
          <p:nvPr/>
        </p:nvSpPr>
        <p:spPr>
          <a:xfrm>
            <a:off x="8613648" y="2657246"/>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99.9%</a:t>
            </a:r>
          </a:p>
        </p:txBody>
      </p:sp>
      <p:sp>
        <p:nvSpPr>
          <p:cNvPr id="34" name="TextBox 33"/>
          <p:cNvSpPr txBox="1"/>
          <p:nvPr/>
        </p:nvSpPr>
        <p:spPr>
          <a:xfrm>
            <a:off x="10104120" y="2657246"/>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3,336</a:t>
            </a:r>
          </a:p>
        </p:txBody>
      </p:sp>
      <p:sp>
        <p:nvSpPr>
          <p:cNvPr id="35" name="TextBox 34"/>
          <p:cNvSpPr txBox="1"/>
          <p:nvPr/>
        </p:nvSpPr>
        <p:spPr>
          <a:xfrm>
            <a:off x="658368" y="2861157"/>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G01  Atom distance</a:t>
            </a:r>
          </a:p>
        </p:txBody>
      </p:sp>
      <p:sp>
        <p:nvSpPr>
          <p:cNvPr id="36" name="TextBox 35"/>
          <p:cNvSpPr txBox="1"/>
          <p:nvPr/>
        </p:nvSpPr>
        <p:spPr>
          <a:xfrm>
            <a:off x="4297680" y="2861157"/>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37" name="TextBox 36"/>
          <p:cNvSpPr txBox="1"/>
          <p:nvPr/>
        </p:nvSpPr>
        <p:spPr>
          <a:xfrm>
            <a:off x="5705856" y="2861157"/>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3,015</a:t>
            </a:r>
          </a:p>
        </p:txBody>
      </p:sp>
      <p:sp>
        <p:nvSpPr>
          <p:cNvPr id="38" name="TextBox 37"/>
          <p:cNvSpPr txBox="1"/>
          <p:nvPr/>
        </p:nvSpPr>
        <p:spPr>
          <a:xfrm>
            <a:off x="7278624" y="2861157"/>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94.9%</a:t>
            </a:r>
          </a:p>
        </p:txBody>
      </p:sp>
      <p:sp>
        <p:nvSpPr>
          <p:cNvPr id="39" name="TextBox 38"/>
          <p:cNvSpPr txBox="1"/>
          <p:nvPr/>
        </p:nvSpPr>
        <p:spPr>
          <a:xfrm>
            <a:off x="8613648" y="2861157"/>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99.7%</a:t>
            </a:r>
          </a:p>
        </p:txBody>
      </p:sp>
      <p:sp>
        <p:nvSpPr>
          <p:cNvPr id="40" name="TextBox 39"/>
          <p:cNvSpPr txBox="1"/>
          <p:nvPr/>
        </p:nvSpPr>
        <p:spPr>
          <a:xfrm>
            <a:off x="10104120" y="2861157"/>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2,999</a:t>
            </a:r>
          </a:p>
        </p:txBody>
      </p:sp>
      <p:sp>
        <p:nvSpPr>
          <p:cNvPr id="41" name="Rectangle 40"/>
          <p:cNvSpPr/>
          <p:nvPr/>
        </p:nvSpPr>
        <p:spPr>
          <a:xfrm>
            <a:off x="594360" y="3042208"/>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3065068"/>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G02  Nearest eligible atom</a:t>
            </a:r>
          </a:p>
        </p:txBody>
      </p:sp>
      <p:sp>
        <p:nvSpPr>
          <p:cNvPr id="43" name="TextBox 42"/>
          <p:cNvSpPr txBox="1"/>
          <p:nvPr/>
        </p:nvSpPr>
        <p:spPr>
          <a:xfrm>
            <a:off x="4297680" y="3065068"/>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44" name="TextBox 43"/>
          <p:cNvSpPr txBox="1"/>
          <p:nvPr/>
        </p:nvSpPr>
        <p:spPr>
          <a:xfrm>
            <a:off x="5705856" y="3065068"/>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3,335</a:t>
            </a:r>
          </a:p>
        </p:txBody>
      </p:sp>
      <p:sp>
        <p:nvSpPr>
          <p:cNvPr id="45" name="TextBox 44"/>
          <p:cNvSpPr txBox="1"/>
          <p:nvPr/>
        </p:nvSpPr>
        <p:spPr>
          <a:xfrm>
            <a:off x="7278624" y="3065068"/>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94.0%</a:t>
            </a:r>
          </a:p>
        </p:txBody>
      </p:sp>
      <p:sp>
        <p:nvSpPr>
          <p:cNvPr id="46" name="TextBox 45"/>
          <p:cNvSpPr txBox="1"/>
          <p:nvPr/>
        </p:nvSpPr>
        <p:spPr>
          <a:xfrm>
            <a:off x="8613648" y="3065068"/>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47" name="TextBox 46"/>
          <p:cNvSpPr txBox="1"/>
          <p:nvPr/>
        </p:nvSpPr>
        <p:spPr>
          <a:xfrm>
            <a:off x="10104120" y="3065068"/>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3,247</a:t>
            </a:r>
          </a:p>
        </p:txBody>
      </p:sp>
      <p:sp>
        <p:nvSpPr>
          <p:cNvPr id="48" name="TextBox 47"/>
          <p:cNvSpPr txBox="1"/>
          <p:nvPr/>
        </p:nvSpPr>
        <p:spPr>
          <a:xfrm>
            <a:off x="658368" y="3268980"/>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G03  Nearest residue</a:t>
            </a:r>
          </a:p>
        </p:txBody>
      </p:sp>
      <p:sp>
        <p:nvSpPr>
          <p:cNvPr id="49" name="TextBox 48"/>
          <p:cNvSpPr txBox="1"/>
          <p:nvPr/>
        </p:nvSpPr>
        <p:spPr>
          <a:xfrm>
            <a:off x="4297680" y="3268980"/>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50" name="TextBox 49"/>
          <p:cNvSpPr txBox="1"/>
          <p:nvPr/>
        </p:nvSpPr>
        <p:spPr>
          <a:xfrm>
            <a:off x="5705856" y="3268980"/>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2,892</a:t>
            </a:r>
          </a:p>
        </p:txBody>
      </p:sp>
      <p:sp>
        <p:nvSpPr>
          <p:cNvPr id="51" name="TextBox 50"/>
          <p:cNvSpPr txBox="1"/>
          <p:nvPr/>
        </p:nvSpPr>
        <p:spPr>
          <a:xfrm>
            <a:off x="7278624" y="3268980"/>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93.9%</a:t>
            </a:r>
          </a:p>
        </p:txBody>
      </p:sp>
      <p:sp>
        <p:nvSpPr>
          <p:cNvPr id="52" name="TextBox 51"/>
          <p:cNvSpPr txBox="1"/>
          <p:nvPr/>
        </p:nvSpPr>
        <p:spPr>
          <a:xfrm>
            <a:off x="8613648" y="3268980"/>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99.9%</a:t>
            </a:r>
          </a:p>
        </p:txBody>
      </p:sp>
      <p:sp>
        <p:nvSpPr>
          <p:cNvPr id="53" name="TextBox 52"/>
          <p:cNvSpPr txBox="1"/>
          <p:nvPr/>
        </p:nvSpPr>
        <p:spPr>
          <a:xfrm>
            <a:off x="10104120" y="3268980"/>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2,846</a:t>
            </a:r>
          </a:p>
        </p:txBody>
      </p:sp>
      <p:sp>
        <p:nvSpPr>
          <p:cNvPr id="54" name="Rectangle 53"/>
          <p:cNvSpPr/>
          <p:nvPr/>
        </p:nvSpPr>
        <p:spPr>
          <a:xfrm>
            <a:off x="594360" y="3450031"/>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 y="3472891"/>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G04  Steric clash</a:t>
            </a:r>
          </a:p>
        </p:txBody>
      </p:sp>
      <p:sp>
        <p:nvSpPr>
          <p:cNvPr id="56" name="TextBox 55"/>
          <p:cNvSpPr txBox="1"/>
          <p:nvPr/>
        </p:nvSpPr>
        <p:spPr>
          <a:xfrm>
            <a:off x="4297680" y="3472891"/>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232</a:t>
            </a:r>
          </a:p>
        </p:txBody>
      </p:sp>
      <p:sp>
        <p:nvSpPr>
          <p:cNvPr id="57" name="TextBox 56"/>
          <p:cNvSpPr txBox="1"/>
          <p:nvPr/>
        </p:nvSpPr>
        <p:spPr>
          <a:xfrm>
            <a:off x="5705856" y="3472891"/>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58</a:t>
            </a:r>
          </a:p>
        </p:txBody>
      </p:sp>
      <p:sp>
        <p:nvSpPr>
          <p:cNvPr id="58" name="TextBox 57"/>
          <p:cNvSpPr txBox="1"/>
          <p:nvPr/>
        </p:nvSpPr>
        <p:spPr>
          <a:xfrm>
            <a:off x="7278624" y="3472891"/>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51.7%</a:t>
            </a:r>
          </a:p>
        </p:txBody>
      </p:sp>
      <p:sp>
        <p:nvSpPr>
          <p:cNvPr id="59" name="TextBox 58"/>
          <p:cNvSpPr txBox="1"/>
          <p:nvPr/>
        </p:nvSpPr>
        <p:spPr>
          <a:xfrm>
            <a:off x="8613648" y="3472891"/>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87.9%</a:t>
            </a:r>
          </a:p>
        </p:txBody>
      </p:sp>
      <p:sp>
        <p:nvSpPr>
          <p:cNvPr id="60" name="TextBox 59"/>
          <p:cNvSpPr txBox="1"/>
          <p:nvPr/>
        </p:nvSpPr>
        <p:spPr>
          <a:xfrm>
            <a:off x="10104120" y="3472891"/>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12</a:t>
            </a:r>
          </a:p>
        </p:txBody>
      </p:sp>
      <p:sp>
        <p:nvSpPr>
          <p:cNvPr id="61" name="TextBox 60"/>
          <p:cNvSpPr txBox="1"/>
          <p:nvPr/>
        </p:nvSpPr>
        <p:spPr>
          <a:xfrm>
            <a:off x="658368" y="3676802"/>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S01  Salt bridges</a:t>
            </a:r>
          </a:p>
        </p:txBody>
      </p:sp>
      <p:sp>
        <p:nvSpPr>
          <p:cNvPr id="62" name="TextBox 61"/>
          <p:cNvSpPr txBox="1"/>
          <p:nvPr/>
        </p:nvSpPr>
        <p:spPr>
          <a:xfrm>
            <a:off x="4297680" y="3676802"/>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63" name="TextBox 62"/>
          <p:cNvSpPr txBox="1"/>
          <p:nvPr/>
        </p:nvSpPr>
        <p:spPr>
          <a:xfrm>
            <a:off x="5705856" y="3676802"/>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1,181</a:t>
            </a:r>
          </a:p>
        </p:txBody>
      </p:sp>
      <p:sp>
        <p:nvSpPr>
          <p:cNvPr id="64" name="TextBox 63"/>
          <p:cNvSpPr txBox="1"/>
          <p:nvPr/>
        </p:nvSpPr>
        <p:spPr>
          <a:xfrm>
            <a:off x="7278624" y="3676802"/>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99.3%</a:t>
            </a:r>
          </a:p>
        </p:txBody>
      </p:sp>
      <p:sp>
        <p:nvSpPr>
          <p:cNvPr id="65" name="TextBox 64"/>
          <p:cNvSpPr txBox="1"/>
          <p:nvPr/>
        </p:nvSpPr>
        <p:spPr>
          <a:xfrm>
            <a:off x="8613648" y="3676802"/>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66" name="TextBox 65"/>
          <p:cNvSpPr txBox="1"/>
          <p:nvPr/>
        </p:nvSpPr>
        <p:spPr>
          <a:xfrm>
            <a:off x="10104120" y="3676802"/>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1,180</a:t>
            </a:r>
          </a:p>
        </p:txBody>
      </p:sp>
      <p:sp>
        <p:nvSpPr>
          <p:cNvPr id="67" name="Rectangle 66"/>
          <p:cNvSpPr/>
          <p:nvPr/>
        </p:nvSpPr>
        <p:spPr>
          <a:xfrm>
            <a:off x="594360" y="3857853"/>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8368" y="3880713"/>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S02  Phosphorylation</a:t>
            </a:r>
          </a:p>
        </p:txBody>
      </p:sp>
      <p:sp>
        <p:nvSpPr>
          <p:cNvPr id="69" name="TextBox 68"/>
          <p:cNvSpPr txBox="1"/>
          <p:nvPr/>
        </p:nvSpPr>
        <p:spPr>
          <a:xfrm>
            <a:off x="4297680" y="3880713"/>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534</a:t>
            </a:r>
          </a:p>
        </p:txBody>
      </p:sp>
      <p:sp>
        <p:nvSpPr>
          <p:cNvPr id="70" name="TextBox 69"/>
          <p:cNvSpPr txBox="1"/>
          <p:nvPr/>
        </p:nvSpPr>
        <p:spPr>
          <a:xfrm>
            <a:off x="5705856" y="3880713"/>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436</a:t>
            </a:r>
          </a:p>
        </p:txBody>
      </p:sp>
      <p:sp>
        <p:nvSpPr>
          <p:cNvPr id="71" name="TextBox 70"/>
          <p:cNvSpPr txBox="1"/>
          <p:nvPr/>
        </p:nvSpPr>
        <p:spPr>
          <a:xfrm>
            <a:off x="7278624" y="3880713"/>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89.9%</a:t>
            </a:r>
          </a:p>
        </p:txBody>
      </p:sp>
      <p:sp>
        <p:nvSpPr>
          <p:cNvPr id="72" name="TextBox 71"/>
          <p:cNvSpPr txBox="1"/>
          <p:nvPr/>
        </p:nvSpPr>
        <p:spPr>
          <a:xfrm>
            <a:off x="8613648" y="3880713"/>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73" name="TextBox 72"/>
          <p:cNvSpPr txBox="1"/>
          <p:nvPr/>
        </p:nvSpPr>
        <p:spPr>
          <a:xfrm>
            <a:off x="10104120" y="3880713"/>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436</a:t>
            </a:r>
          </a:p>
        </p:txBody>
      </p:sp>
      <p:sp>
        <p:nvSpPr>
          <p:cNvPr id="74" name="TextBox 73"/>
          <p:cNvSpPr txBox="1"/>
          <p:nvPr/>
        </p:nvSpPr>
        <p:spPr>
          <a:xfrm>
            <a:off x="658368" y="4084624"/>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S03  Solvent exposure</a:t>
            </a:r>
          </a:p>
        </p:txBody>
      </p:sp>
      <p:sp>
        <p:nvSpPr>
          <p:cNvPr id="75" name="TextBox 74"/>
          <p:cNvSpPr txBox="1"/>
          <p:nvPr/>
        </p:nvSpPr>
        <p:spPr>
          <a:xfrm>
            <a:off x="4297680" y="4084624"/>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76" name="TextBox 75"/>
          <p:cNvSpPr txBox="1"/>
          <p:nvPr/>
        </p:nvSpPr>
        <p:spPr>
          <a:xfrm>
            <a:off x="5705856" y="4084624"/>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3,334</a:t>
            </a:r>
          </a:p>
        </p:txBody>
      </p:sp>
      <p:sp>
        <p:nvSpPr>
          <p:cNvPr id="77" name="TextBox 76"/>
          <p:cNvSpPr txBox="1"/>
          <p:nvPr/>
        </p:nvSpPr>
        <p:spPr>
          <a:xfrm>
            <a:off x="7278624" y="4084624"/>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87.5%</a:t>
            </a:r>
          </a:p>
        </p:txBody>
      </p:sp>
      <p:sp>
        <p:nvSpPr>
          <p:cNvPr id="78" name="TextBox 77"/>
          <p:cNvSpPr txBox="1"/>
          <p:nvPr/>
        </p:nvSpPr>
        <p:spPr>
          <a:xfrm>
            <a:off x="8613648" y="4084624"/>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97.6%</a:t>
            </a:r>
          </a:p>
        </p:txBody>
      </p:sp>
      <p:sp>
        <p:nvSpPr>
          <p:cNvPr id="79" name="TextBox 78"/>
          <p:cNvSpPr txBox="1"/>
          <p:nvPr/>
        </p:nvSpPr>
        <p:spPr>
          <a:xfrm>
            <a:off x="10104120" y="4084624"/>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2,307</a:t>
            </a:r>
          </a:p>
        </p:txBody>
      </p:sp>
      <p:sp>
        <p:nvSpPr>
          <p:cNvPr id="80" name="Rectangle 79"/>
          <p:cNvSpPr/>
          <p:nvPr/>
        </p:nvSpPr>
        <p:spPr>
          <a:xfrm>
            <a:off x="594360" y="4265675"/>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58368" y="4288536"/>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S04  Secondary structure</a:t>
            </a:r>
          </a:p>
        </p:txBody>
      </p:sp>
      <p:sp>
        <p:nvSpPr>
          <p:cNvPr id="82" name="TextBox 81"/>
          <p:cNvSpPr txBox="1"/>
          <p:nvPr/>
        </p:nvSpPr>
        <p:spPr>
          <a:xfrm>
            <a:off x="4297680" y="4288536"/>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9,795</a:t>
            </a:r>
          </a:p>
        </p:txBody>
      </p:sp>
      <p:sp>
        <p:nvSpPr>
          <p:cNvPr id="83" name="TextBox 82"/>
          <p:cNvSpPr txBox="1"/>
          <p:nvPr/>
        </p:nvSpPr>
        <p:spPr>
          <a:xfrm>
            <a:off x="5705856" y="4288536"/>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3,124</a:t>
            </a:r>
          </a:p>
        </p:txBody>
      </p:sp>
      <p:sp>
        <p:nvSpPr>
          <p:cNvPr id="84" name="TextBox 83"/>
          <p:cNvSpPr txBox="1"/>
          <p:nvPr/>
        </p:nvSpPr>
        <p:spPr>
          <a:xfrm>
            <a:off x="7278624" y="4288536"/>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82.7%</a:t>
            </a:r>
          </a:p>
        </p:txBody>
      </p:sp>
      <p:sp>
        <p:nvSpPr>
          <p:cNvPr id="85" name="TextBox 84"/>
          <p:cNvSpPr txBox="1"/>
          <p:nvPr/>
        </p:nvSpPr>
        <p:spPr>
          <a:xfrm>
            <a:off x="8613648" y="4288536"/>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98.5%</a:t>
            </a:r>
          </a:p>
        </p:txBody>
      </p:sp>
      <p:sp>
        <p:nvSpPr>
          <p:cNvPr id="86" name="TextBox 85"/>
          <p:cNvSpPr txBox="1"/>
          <p:nvPr/>
        </p:nvSpPr>
        <p:spPr>
          <a:xfrm>
            <a:off x="10104120" y="4288536"/>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1,954</a:t>
            </a:r>
          </a:p>
        </p:txBody>
      </p:sp>
      <p:sp>
        <p:nvSpPr>
          <p:cNvPr id="87" name="TextBox 86"/>
          <p:cNvSpPr txBox="1"/>
          <p:nvPr/>
        </p:nvSpPr>
        <p:spPr>
          <a:xfrm>
            <a:off x="658368" y="4492447"/>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S05  Fold class</a:t>
            </a:r>
          </a:p>
        </p:txBody>
      </p:sp>
      <p:sp>
        <p:nvSpPr>
          <p:cNvPr id="88" name="TextBox 87"/>
          <p:cNvSpPr txBox="1"/>
          <p:nvPr/>
        </p:nvSpPr>
        <p:spPr>
          <a:xfrm>
            <a:off x="4297680" y="4492447"/>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1,862</a:t>
            </a:r>
          </a:p>
        </p:txBody>
      </p:sp>
      <p:sp>
        <p:nvSpPr>
          <p:cNvPr id="89" name="TextBox 88"/>
          <p:cNvSpPr txBox="1"/>
          <p:nvPr/>
        </p:nvSpPr>
        <p:spPr>
          <a:xfrm>
            <a:off x="5705856" y="4492447"/>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314</a:t>
            </a:r>
          </a:p>
        </p:txBody>
      </p:sp>
      <p:sp>
        <p:nvSpPr>
          <p:cNvPr id="90" name="TextBox 89"/>
          <p:cNvSpPr txBox="1"/>
          <p:nvPr/>
        </p:nvSpPr>
        <p:spPr>
          <a:xfrm>
            <a:off x="7278624" y="4492447"/>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84.7%</a:t>
            </a:r>
          </a:p>
        </p:txBody>
      </p:sp>
      <p:sp>
        <p:nvSpPr>
          <p:cNvPr id="91" name="TextBox 90"/>
          <p:cNvSpPr txBox="1"/>
          <p:nvPr/>
        </p:nvSpPr>
        <p:spPr>
          <a:xfrm>
            <a:off x="8613648" y="4492447"/>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99.7%</a:t>
            </a:r>
          </a:p>
        </p:txBody>
      </p:sp>
      <p:sp>
        <p:nvSpPr>
          <p:cNvPr id="92" name="TextBox 91"/>
          <p:cNvSpPr txBox="1"/>
          <p:nvPr/>
        </p:nvSpPr>
        <p:spPr>
          <a:xfrm>
            <a:off x="10104120" y="4492447"/>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82</a:t>
            </a:r>
          </a:p>
        </p:txBody>
      </p:sp>
      <p:sp>
        <p:nvSpPr>
          <p:cNvPr id="93" name="Rectangle 92"/>
          <p:cNvSpPr/>
          <p:nvPr/>
        </p:nvSpPr>
        <p:spPr>
          <a:xfrm>
            <a:off x="594360" y="4673498"/>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58368" y="4696358"/>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S06  Ligand contacts</a:t>
            </a:r>
          </a:p>
        </p:txBody>
      </p:sp>
      <p:sp>
        <p:nvSpPr>
          <p:cNvPr id="95" name="TextBox 94"/>
          <p:cNvSpPr txBox="1"/>
          <p:nvPr/>
        </p:nvSpPr>
        <p:spPr>
          <a:xfrm>
            <a:off x="4297680" y="4696358"/>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407</a:t>
            </a:r>
          </a:p>
        </p:txBody>
      </p:sp>
      <p:sp>
        <p:nvSpPr>
          <p:cNvPr id="96" name="TextBox 95"/>
          <p:cNvSpPr txBox="1"/>
          <p:nvPr/>
        </p:nvSpPr>
        <p:spPr>
          <a:xfrm>
            <a:off x="5705856" y="4696358"/>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53</a:t>
            </a:r>
          </a:p>
        </p:txBody>
      </p:sp>
      <p:sp>
        <p:nvSpPr>
          <p:cNvPr id="97" name="TextBox 96"/>
          <p:cNvSpPr txBox="1"/>
          <p:nvPr/>
        </p:nvSpPr>
        <p:spPr>
          <a:xfrm>
            <a:off x="7278624" y="4696358"/>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45.3%</a:t>
            </a:r>
          </a:p>
        </p:txBody>
      </p:sp>
      <p:sp>
        <p:nvSpPr>
          <p:cNvPr id="98" name="TextBox 97"/>
          <p:cNvSpPr txBox="1"/>
          <p:nvPr/>
        </p:nvSpPr>
        <p:spPr>
          <a:xfrm>
            <a:off x="8613648" y="4696358"/>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99" name="TextBox 98"/>
          <p:cNvSpPr txBox="1"/>
          <p:nvPr/>
        </p:nvSpPr>
        <p:spPr>
          <a:xfrm>
            <a:off x="10104120" y="4696358"/>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33</a:t>
            </a:r>
          </a:p>
        </p:txBody>
      </p:sp>
      <p:sp>
        <p:nvSpPr>
          <p:cNvPr id="100" name="TextBox 99"/>
          <p:cNvSpPr txBox="1"/>
          <p:nvPr/>
        </p:nvSpPr>
        <p:spPr>
          <a:xfrm>
            <a:off x="658368" y="4900269"/>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S07  Metal coordination</a:t>
            </a:r>
          </a:p>
        </p:txBody>
      </p:sp>
      <p:sp>
        <p:nvSpPr>
          <p:cNvPr id="101" name="TextBox 100"/>
          <p:cNvSpPr txBox="1"/>
          <p:nvPr/>
        </p:nvSpPr>
        <p:spPr>
          <a:xfrm>
            <a:off x="4297680" y="4900269"/>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506</a:t>
            </a:r>
          </a:p>
        </p:txBody>
      </p:sp>
      <p:sp>
        <p:nvSpPr>
          <p:cNvPr id="102" name="TextBox 101"/>
          <p:cNvSpPr txBox="1"/>
          <p:nvPr/>
        </p:nvSpPr>
        <p:spPr>
          <a:xfrm>
            <a:off x="5705856" y="4900269"/>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92</a:t>
            </a:r>
          </a:p>
        </p:txBody>
      </p:sp>
      <p:sp>
        <p:nvSpPr>
          <p:cNvPr id="103" name="TextBox 102"/>
          <p:cNvSpPr txBox="1"/>
          <p:nvPr/>
        </p:nvSpPr>
        <p:spPr>
          <a:xfrm>
            <a:off x="7278624" y="4900269"/>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45.7%</a:t>
            </a:r>
          </a:p>
        </p:txBody>
      </p:sp>
      <p:sp>
        <p:nvSpPr>
          <p:cNvPr id="104" name="TextBox 103"/>
          <p:cNvSpPr txBox="1"/>
          <p:nvPr/>
        </p:nvSpPr>
        <p:spPr>
          <a:xfrm>
            <a:off x="8613648" y="4900269"/>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90.2%</a:t>
            </a:r>
          </a:p>
        </p:txBody>
      </p:sp>
      <p:sp>
        <p:nvSpPr>
          <p:cNvPr id="105" name="TextBox 104"/>
          <p:cNvSpPr txBox="1"/>
          <p:nvPr/>
        </p:nvSpPr>
        <p:spPr>
          <a:xfrm>
            <a:off x="10104120" y="4900269"/>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81</a:t>
            </a:r>
          </a:p>
        </p:txBody>
      </p:sp>
      <p:sp>
        <p:nvSpPr>
          <p:cNvPr id="106" name="Rectangle 105"/>
          <p:cNvSpPr/>
          <p:nvPr/>
        </p:nvSpPr>
        <p:spPr>
          <a:xfrm>
            <a:off x="594360" y="5081320"/>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58368" y="5104180"/>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S08  Disulfide partner</a:t>
            </a:r>
          </a:p>
        </p:txBody>
      </p:sp>
      <p:sp>
        <p:nvSpPr>
          <p:cNvPr id="108" name="TextBox 107"/>
          <p:cNvSpPr txBox="1"/>
          <p:nvPr/>
        </p:nvSpPr>
        <p:spPr>
          <a:xfrm>
            <a:off x="4297680" y="5104180"/>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1,190</a:t>
            </a:r>
          </a:p>
        </p:txBody>
      </p:sp>
      <p:sp>
        <p:nvSpPr>
          <p:cNvPr id="109" name="TextBox 108"/>
          <p:cNvSpPr txBox="1"/>
          <p:nvPr/>
        </p:nvSpPr>
        <p:spPr>
          <a:xfrm>
            <a:off x="5705856" y="5104180"/>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278</a:t>
            </a:r>
          </a:p>
        </p:txBody>
      </p:sp>
      <p:sp>
        <p:nvSpPr>
          <p:cNvPr id="110" name="TextBox 109"/>
          <p:cNvSpPr txBox="1"/>
          <p:nvPr/>
        </p:nvSpPr>
        <p:spPr>
          <a:xfrm>
            <a:off x="7278624" y="5104180"/>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98.6%</a:t>
            </a:r>
          </a:p>
        </p:txBody>
      </p:sp>
      <p:sp>
        <p:nvSpPr>
          <p:cNvPr id="111" name="TextBox 110"/>
          <p:cNvSpPr txBox="1"/>
          <p:nvPr/>
        </p:nvSpPr>
        <p:spPr>
          <a:xfrm>
            <a:off x="8613648" y="5104180"/>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112" name="TextBox 111"/>
          <p:cNvSpPr txBox="1"/>
          <p:nvPr/>
        </p:nvSpPr>
        <p:spPr>
          <a:xfrm>
            <a:off x="10104120" y="5104180"/>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278</a:t>
            </a:r>
          </a:p>
        </p:txBody>
      </p:sp>
      <p:sp>
        <p:nvSpPr>
          <p:cNvPr id="113" name="TextBox 112"/>
          <p:cNvSpPr txBox="1"/>
          <p:nvPr/>
        </p:nvSpPr>
        <p:spPr>
          <a:xfrm>
            <a:off x="658368" y="5308092"/>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S09  Side-chain rotamer</a:t>
            </a:r>
          </a:p>
        </p:txBody>
      </p:sp>
      <p:sp>
        <p:nvSpPr>
          <p:cNvPr id="114" name="TextBox 113"/>
          <p:cNvSpPr txBox="1"/>
          <p:nvPr/>
        </p:nvSpPr>
        <p:spPr>
          <a:xfrm>
            <a:off x="4297680" y="5308092"/>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9,794</a:t>
            </a:r>
          </a:p>
        </p:txBody>
      </p:sp>
      <p:sp>
        <p:nvSpPr>
          <p:cNvPr id="115" name="TextBox 114"/>
          <p:cNvSpPr txBox="1"/>
          <p:nvPr/>
        </p:nvSpPr>
        <p:spPr>
          <a:xfrm>
            <a:off x="5705856" y="5308092"/>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3,285</a:t>
            </a:r>
          </a:p>
        </p:txBody>
      </p:sp>
      <p:sp>
        <p:nvSpPr>
          <p:cNvPr id="116" name="TextBox 115"/>
          <p:cNvSpPr txBox="1"/>
          <p:nvPr/>
        </p:nvSpPr>
        <p:spPr>
          <a:xfrm>
            <a:off x="7278624" y="5308092"/>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90.4%</a:t>
            </a:r>
          </a:p>
        </p:txBody>
      </p:sp>
      <p:sp>
        <p:nvSpPr>
          <p:cNvPr id="117" name="TextBox 116"/>
          <p:cNvSpPr txBox="1"/>
          <p:nvPr/>
        </p:nvSpPr>
        <p:spPr>
          <a:xfrm>
            <a:off x="8613648" y="5308092"/>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118" name="TextBox 117"/>
          <p:cNvSpPr txBox="1"/>
          <p:nvPr/>
        </p:nvSpPr>
        <p:spPr>
          <a:xfrm>
            <a:off x="10104120" y="5308092"/>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3,117</a:t>
            </a:r>
          </a:p>
        </p:txBody>
      </p:sp>
      <p:sp>
        <p:nvSpPr>
          <p:cNvPr id="119" name="Rectangle 118"/>
          <p:cNvSpPr/>
          <p:nvPr/>
        </p:nvSpPr>
        <p:spPr>
          <a:xfrm>
            <a:off x="594360" y="5489143"/>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58368" y="5512003"/>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I01  Interface contacts</a:t>
            </a:r>
          </a:p>
        </p:txBody>
      </p:sp>
      <p:sp>
        <p:nvSpPr>
          <p:cNvPr id="121" name="TextBox 120"/>
          <p:cNvSpPr txBox="1"/>
          <p:nvPr/>
        </p:nvSpPr>
        <p:spPr>
          <a:xfrm>
            <a:off x="4297680" y="5512003"/>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291</a:t>
            </a:r>
          </a:p>
        </p:txBody>
      </p:sp>
      <p:sp>
        <p:nvSpPr>
          <p:cNvPr id="122" name="TextBox 121"/>
          <p:cNvSpPr txBox="1"/>
          <p:nvPr/>
        </p:nvSpPr>
        <p:spPr>
          <a:xfrm>
            <a:off x="5705856" y="5512003"/>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12</a:t>
            </a:r>
          </a:p>
        </p:txBody>
      </p:sp>
      <p:sp>
        <p:nvSpPr>
          <p:cNvPr id="123" name="TextBox 122"/>
          <p:cNvSpPr txBox="1"/>
          <p:nvPr/>
        </p:nvSpPr>
        <p:spPr>
          <a:xfrm>
            <a:off x="7278624" y="5512003"/>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33.3%</a:t>
            </a:r>
          </a:p>
        </p:txBody>
      </p:sp>
      <p:sp>
        <p:nvSpPr>
          <p:cNvPr id="124" name="TextBox 123"/>
          <p:cNvSpPr txBox="1"/>
          <p:nvPr/>
        </p:nvSpPr>
        <p:spPr>
          <a:xfrm>
            <a:off x="8613648" y="5512003"/>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66.7%</a:t>
            </a:r>
          </a:p>
        </p:txBody>
      </p:sp>
      <p:sp>
        <p:nvSpPr>
          <p:cNvPr id="125" name="TextBox 124"/>
          <p:cNvSpPr txBox="1"/>
          <p:nvPr/>
        </p:nvSpPr>
        <p:spPr>
          <a:xfrm>
            <a:off x="10104120" y="5512003"/>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0</a:t>
            </a:r>
          </a:p>
        </p:txBody>
      </p:sp>
      <p:sp>
        <p:nvSpPr>
          <p:cNvPr id="126" name="TextBox 125"/>
          <p:cNvSpPr txBox="1"/>
          <p:nvPr/>
        </p:nvSpPr>
        <p:spPr>
          <a:xfrm>
            <a:off x="658368" y="5715914"/>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N01  Shared contact</a:t>
            </a:r>
          </a:p>
        </p:txBody>
      </p:sp>
      <p:sp>
        <p:nvSpPr>
          <p:cNvPr id="127" name="TextBox 126"/>
          <p:cNvSpPr txBox="1"/>
          <p:nvPr/>
        </p:nvSpPr>
        <p:spPr>
          <a:xfrm>
            <a:off x="4297680" y="5715914"/>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9,793</a:t>
            </a:r>
          </a:p>
        </p:txBody>
      </p:sp>
      <p:sp>
        <p:nvSpPr>
          <p:cNvPr id="128" name="TextBox 127"/>
          <p:cNvSpPr txBox="1"/>
          <p:nvPr/>
        </p:nvSpPr>
        <p:spPr>
          <a:xfrm>
            <a:off x="5705856" y="5715914"/>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1,945</a:t>
            </a:r>
          </a:p>
        </p:txBody>
      </p:sp>
      <p:sp>
        <p:nvSpPr>
          <p:cNvPr id="129" name="TextBox 128"/>
          <p:cNvSpPr txBox="1"/>
          <p:nvPr/>
        </p:nvSpPr>
        <p:spPr>
          <a:xfrm>
            <a:off x="7278624" y="5715914"/>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97.6%</a:t>
            </a:r>
          </a:p>
        </p:txBody>
      </p:sp>
      <p:sp>
        <p:nvSpPr>
          <p:cNvPr id="130" name="TextBox 129"/>
          <p:cNvSpPr txBox="1"/>
          <p:nvPr/>
        </p:nvSpPr>
        <p:spPr>
          <a:xfrm>
            <a:off x="8613648" y="5715914"/>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100.0%</a:t>
            </a:r>
          </a:p>
        </p:txBody>
      </p:sp>
      <p:sp>
        <p:nvSpPr>
          <p:cNvPr id="131" name="TextBox 130"/>
          <p:cNvSpPr txBox="1"/>
          <p:nvPr/>
        </p:nvSpPr>
        <p:spPr>
          <a:xfrm>
            <a:off x="10104120" y="5715914"/>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1,262</a:t>
            </a:r>
          </a:p>
        </p:txBody>
      </p:sp>
      <p:sp>
        <p:nvSpPr>
          <p:cNvPr id="132" name="Rectangle 131"/>
          <p:cNvSpPr/>
          <p:nvPr/>
        </p:nvSpPr>
        <p:spPr>
          <a:xfrm>
            <a:off x="594360" y="5896965"/>
            <a:ext cx="10963656" cy="2048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58368" y="5919825"/>
            <a:ext cx="3456432" cy="192024"/>
          </a:xfrm>
          <a:prstGeom prst="rect">
            <a:avLst/>
          </a:prstGeom>
          <a:noFill/>
        </p:spPr>
        <p:txBody>
          <a:bodyPr wrap="square" lIns="0" rIns="0" tIns="0" bIns="0" anchor="t">
            <a:spAutoFit/>
          </a:bodyPr>
          <a:lstStyle/>
          <a:p>
            <a:pPr algn="l">
              <a:lnSpc>
                <a:spcPct val="112000"/>
              </a:lnSpc>
              <a:spcBef>
                <a:spcPts val="0"/>
              </a:spcBef>
              <a:spcAft>
                <a:spcPts val="0"/>
              </a:spcAft>
            </a:pPr>
            <a:r>
              <a:rPr sz="1080" b="0">
                <a:solidFill>
                  <a:srgbClr val="142E35"/>
                </a:solidFill>
                <a:latin typeface="Arial"/>
              </a:rPr>
              <a:t>T01  Two-state contacts</a:t>
            </a:r>
          </a:p>
        </p:txBody>
      </p:sp>
      <p:sp>
        <p:nvSpPr>
          <p:cNvPr id="134" name="TextBox 133"/>
          <p:cNvSpPr txBox="1"/>
          <p:nvPr/>
        </p:nvSpPr>
        <p:spPr>
          <a:xfrm>
            <a:off x="4297680" y="5919825"/>
            <a:ext cx="1115568"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1,477</a:t>
            </a:r>
          </a:p>
        </p:txBody>
      </p:sp>
      <p:sp>
        <p:nvSpPr>
          <p:cNvPr id="135" name="TextBox 134"/>
          <p:cNvSpPr txBox="1"/>
          <p:nvPr/>
        </p:nvSpPr>
        <p:spPr>
          <a:xfrm>
            <a:off x="5705856" y="5919825"/>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0</a:t>
            </a:r>
          </a:p>
        </p:txBody>
      </p:sp>
      <p:sp>
        <p:nvSpPr>
          <p:cNvPr id="136" name="TextBox 135"/>
          <p:cNvSpPr txBox="1"/>
          <p:nvPr/>
        </p:nvSpPr>
        <p:spPr>
          <a:xfrm>
            <a:off x="7278624" y="5919825"/>
            <a:ext cx="1033271"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a:t>
            </a:r>
          </a:p>
        </p:txBody>
      </p:sp>
      <p:sp>
        <p:nvSpPr>
          <p:cNvPr id="137" name="TextBox 136"/>
          <p:cNvSpPr txBox="1"/>
          <p:nvPr/>
        </p:nvSpPr>
        <p:spPr>
          <a:xfrm>
            <a:off x="8613648" y="5919825"/>
            <a:ext cx="109728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0">
                <a:solidFill>
                  <a:srgbClr val="142E35"/>
                </a:solidFill>
                <a:latin typeface="Arial"/>
              </a:rPr>
              <a:t>—</a:t>
            </a:r>
          </a:p>
        </p:txBody>
      </p:sp>
      <p:sp>
        <p:nvSpPr>
          <p:cNvPr id="138" name="TextBox 137"/>
          <p:cNvSpPr txBox="1"/>
          <p:nvPr/>
        </p:nvSpPr>
        <p:spPr>
          <a:xfrm>
            <a:off x="10104120" y="5919825"/>
            <a:ext cx="1234440" cy="192024"/>
          </a:xfrm>
          <a:prstGeom prst="rect">
            <a:avLst/>
          </a:prstGeom>
          <a:noFill/>
        </p:spPr>
        <p:txBody>
          <a:bodyPr wrap="square" lIns="0" rIns="0" tIns="0" bIns="0" anchor="t">
            <a:spAutoFit/>
          </a:bodyPr>
          <a:lstStyle/>
          <a:p>
            <a:pPr algn="r">
              <a:lnSpc>
                <a:spcPct val="112000"/>
              </a:lnSpc>
              <a:spcBef>
                <a:spcPts val="0"/>
              </a:spcBef>
              <a:spcAft>
                <a:spcPts val="0"/>
              </a:spcAft>
            </a:pPr>
            <a:r>
              <a:rPr sz="1080" b="1">
                <a:solidFill>
                  <a:srgbClr val="067D79"/>
                </a:solidFill>
                <a:latin typeface="Arial"/>
              </a:rPr>
              <a:t>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APPENDIX B / GETTING STARTED</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Load pinned releases, then enforce the scientific contract</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Keep task and teacher versions explicit in every training and evaluation manifest.</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release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18</a:t>
            </a:r>
          </a:p>
        </p:txBody>
      </p:sp>
      <p:sp>
        <p:nvSpPr>
          <p:cNvPr id="9" name="Rounded Rectangle 8"/>
          <p:cNvSpPr/>
          <p:nvPr/>
        </p:nvSpPr>
        <p:spPr>
          <a:xfrm>
            <a:off x="594360" y="2057400"/>
            <a:ext cx="7534656" cy="3127248"/>
          </a:xfrm>
          <a:prstGeom prst="roundRect">
            <a:avLst>
              <a:gd name="adj" fmla="val 3500"/>
            </a:avLst>
          </a:prstGeom>
          <a:solidFill>
            <a:srgbClr val="102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249424"/>
            <a:ext cx="7187184" cy="2761488"/>
          </a:xfrm>
          <a:prstGeom prst="rect">
            <a:avLst/>
          </a:prstGeom>
          <a:noFill/>
        </p:spPr>
        <p:txBody>
          <a:bodyPr wrap="square" lIns="0" rIns="0" tIns="0" bIns="0" anchor="t">
            <a:spAutoFit/>
          </a:bodyPr>
          <a:lstStyle/>
          <a:p>
            <a:pPr algn="l">
              <a:lnSpc>
                <a:spcPct val="112000"/>
              </a:lnSpc>
              <a:spcBef>
                <a:spcPts val="0"/>
              </a:spcBef>
              <a:spcAft>
                <a:spcPts val="0"/>
              </a:spcAft>
            </a:pPr>
            <a:r>
              <a:rPr sz="1200" b="0">
                <a:solidFill>
                  <a:srgbClr val="FFFFFF"/>
                </a:solidFill>
                <a:latin typeface="Liberation Mono"/>
              </a:rPr>
              <a:t>from datasets import load_dataset</a:t>
            </a:r>
          </a:p>
          <a:p>
            <a:pPr algn="l">
              <a:lnSpc>
                <a:spcPct val="112000"/>
              </a:lnSpc>
              <a:spcBef>
                <a:spcPts val="0"/>
              </a:spcBef>
              <a:spcAft>
                <a:spcPts val="0"/>
              </a:spcAft>
            </a:pPr>
            <a:r>
              <a:rPr sz="1200" b="0">
                <a:solidFill>
                  <a:srgbClr val="FFFFFF"/>
                </a:solidFill>
                <a:latin typeface="Liberation Mono"/>
              </a:rPr>
              <a:t/>
            </a:r>
          </a:p>
          <a:p>
            <a:pPr algn="l">
              <a:lnSpc>
                <a:spcPct val="112000"/>
              </a:lnSpc>
              <a:spcBef>
                <a:spcPts val="0"/>
              </a:spcBef>
              <a:spcAft>
                <a:spcPts val="0"/>
              </a:spcAft>
            </a:pPr>
            <a:r>
              <a:rPr sz="1200" b="0">
                <a:solidFill>
                  <a:srgbClr val="FFFFFF"/>
                </a:solidFill>
                <a:latin typeface="Liberation Mono"/>
              </a:rPr>
              <a:t>tasks = load_dataset(</a:t>
            </a:r>
          </a:p>
          <a:p>
            <a:pPr algn="l">
              <a:lnSpc>
                <a:spcPct val="112000"/>
              </a:lnSpc>
              <a:spcBef>
                <a:spcPts val="0"/>
              </a:spcBef>
              <a:spcAft>
                <a:spcPts val="0"/>
              </a:spcAft>
            </a:pPr>
            <a:r>
              <a:rPr sz="1200" b="0">
                <a:solidFill>
                  <a:srgbClr val="FFFFFF"/>
                </a:solidFill>
                <a:latin typeface="Liberation Mono"/>
              </a:rPr>
              <a:t>    "open-athena/pdbthink-coordinate-tasks",</a:t>
            </a:r>
          </a:p>
          <a:p>
            <a:pPr algn="l">
              <a:lnSpc>
                <a:spcPct val="112000"/>
              </a:lnSpc>
              <a:spcBef>
                <a:spcPts val="0"/>
              </a:spcBef>
              <a:spcAft>
                <a:spcPts val="0"/>
              </a:spcAft>
            </a:pPr>
            <a:r>
              <a:rPr sz="1200" b="0">
                <a:solidFill>
                  <a:srgbClr val="FFFFFF"/>
                </a:solidFill>
                <a:latin typeface="Liberation Mono"/>
              </a:rPr>
              <a:t>    split="train", revision="3734406cb97b1702844319f9a5d860cbbf8fe660"</a:t>
            </a:r>
          </a:p>
          <a:p>
            <a:pPr algn="l">
              <a:lnSpc>
                <a:spcPct val="112000"/>
              </a:lnSpc>
              <a:spcBef>
                <a:spcPts val="0"/>
              </a:spcBef>
              <a:spcAft>
                <a:spcPts val="0"/>
              </a:spcAft>
            </a:pPr>
            <a:r>
              <a:rPr sz="1200" b="0">
                <a:solidFill>
                  <a:srgbClr val="FFFFFF"/>
                </a:solidFill>
                <a:latin typeface="Liberation Mono"/>
              </a:rPr>
              <a:t>)</a:t>
            </a:r>
          </a:p>
          <a:p>
            <a:pPr algn="l">
              <a:lnSpc>
                <a:spcPct val="112000"/>
              </a:lnSpc>
              <a:spcBef>
                <a:spcPts val="0"/>
              </a:spcBef>
              <a:spcAft>
                <a:spcPts val="0"/>
              </a:spcAft>
            </a:pPr>
            <a:r>
              <a:rPr sz="1200" b="0">
                <a:solidFill>
                  <a:srgbClr val="FFFFFF"/>
                </a:solidFill>
                <a:latin typeface="Liberation Mono"/>
              </a:rPr>
              <a:t/>
            </a:r>
          </a:p>
          <a:p>
            <a:pPr algn="l">
              <a:lnSpc>
                <a:spcPct val="112000"/>
              </a:lnSpc>
              <a:spcBef>
                <a:spcPts val="0"/>
              </a:spcBef>
              <a:spcAft>
                <a:spcPts val="0"/>
              </a:spcAft>
            </a:pPr>
            <a:r>
              <a:rPr sz="1200" b="0">
                <a:solidFill>
                  <a:srgbClr val="FFFFFF"/>
                </a:solidFill>
                <a:latin typeface="Liberation Mono"/>
              </a:rPr>
              <a:t>traces = load_dataset(</a:t>
            </a:r>
          </a:p>
          <a:p>
            <a:pPr algn="l">
              <a:lnSpc>
                <a:spcPct val="112000"/>
              </a:lnSpc>
              <a:spcBef>
                <a:spcPts val="0"/>
              </a:spcBef>
              <a:spcAft>
                <a:spcPts val="0"/>
              </a:spcAft>
            </a:pPr>
            <a:r>
              <a:rPr sz="1200" b="0">
                <a:solidFill>
                  <a:srgbClr val="FFFFFF"/>
                </a:solidFill>
                <a:latin typeface="Liberation Mono"/>
              </a:rPr>
              <a:t>    "open-athena/pdbthink-glm53-teacher-traces", "sft",</a:t>
            </a:r>
          </a:p>
          <a:p>
            <a:pPr algn="l">
              <a:lnSpc>
                <a:spcPct val="112000"/>
              </a:lnSpc>
              <a:spcBef>
                <a:spcPts val="0"/>
              </a:spcBef>
              <a:spcAft>
                <a:spcPts val="0"/>
              </a:spcAft>
            </a:pPr>
            <a:r>
              <a:rPr sz="1200" b="0">
                <a:solidFill>
                  <a:srgbClr val="FFFFFF"/>
                </a:solidFill>
                <a:latin typeface="Liberation Mono"/>
              </a:rPr>
              <a:t>    split="train", revision="91baf80abe4cd10e3258bbcc0addafd4d3d32b22"</a:t>
            </a:r>
          </a:p>
          <a:p>
            <a:pPr algn="l">
              <a:lnSpc>
                <a:spcPct val="112000"/>
              </a:lnSpc>
              <a:spcBef>
                <a:spcPts val="0"/>
              </a:spcBef>
              <a:spcAft>
                <a:spcPts val="0"/>
              </a:spcAft>
            </a:pPr>
            <a:r>
              <a:rPr sz="1200" b="0">
                <a:solidFill>
                  <a:srgbClr val="FFFFFF"/>
                </a:solidFill>
                <a:latin typeface="Liberation Mono"/>
              </a:rPr>
              <a:t>)</a:t>
            </a:r>
          </a:p>
        </p:txBody>
      </p:sp>
      <p:sp>
        <p:nvSpPr>
          <p:cNvPr id="11" name="Rounded Rectangle 10"/>
          <p:cNvSpPr/>
          <p:nvPr/>
        </p:nvSpPr>
        <p:spPr>
          <a:xfrm>
            <a:off x="8339327" y="2057400"/>
            <a:ext cx="3218688" cy="166420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7" y="2057400"/>
            <a:ext cx="41148" cy="1664208"/>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31352" y="2221992"/>
            <a:ext cx="2852928"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For evaluation / RL</a:t>
            </a:r>
          </a:p>
        </p:txBody>
      </p:sp>
      <p:sp>
        <p:nvSpPr>
          <p:cNvPr id="14" name="TextBox 13"/>
          <p:cNvSpPr txBox="1"/>
          <p:nvPr/>
        </p:nvSpPr>
        <p:spPr>
          <a:xfrm>
            <a:off x="8531352" y="2752344"/>
            <a:ext cx="2825496" cy="859536"/>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Read prompt.json; run the bundled verifier outside the model.</a:t>
            </a:r>
          </a:p>
        </p:txBody>
      </p:sp>
      <p:sp>
        <p:nvSpPr>
          <p:cNvPr id="15" name="Rounded Rectangle 14"/>
          <p:cNvSpPr/>
          <p:nvPr/>
        </p:nvSpPr>
        <p:spPr>
          <a:xfrm>
            <a:off x="8339327" y="3922776"/>
            <a:ext cx="3218688" cy="1655064"/>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7" y="3922776"/>
            <a:ext cx="41148" cy="1655064"/>
          </a:xfrm>
          <a:prstGeom prst="rect">
            <a:avLst/>
          </a:prstGeom>
          <a:solidFill>
            <a:srgbClr val="067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31352" y="4087368"/>
            <a:ext cx="2852928" cy="411480"/>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67D79"/>
                </a:solidFill>
                <a:latin typeface="Arial"/>
              </a:rPr>
              <a:t>For SFT</a:t>
            </a:r>
          </a:p>
        </p:txBody>
      </p:sp>
      <p:sp>
        <p:nvSpPr>
          <p:cNvPr id="18" name="TextBox 17"/>
          <p:cNvSpPr txBox="1"/>
          <p:nvPr/>
        </p:nvSpPr>
        <p:spPr>
          <a:xfrm>
            <a:off x="8531352" y="4617720"/>
            <a:ext cx="2825496" cy="850392"/>
          </a:xfrm>
          <a:prstGeom prst="rect">
            <a:avLst/>
          </a:prstGeom>
          <a:noFill/>
        </p:spPr>
        <p:txBody>
          <a:bodyPr wrap="square" lIns="0" rIns="0" tIns="0" bIns="0" anchor="t">
            <a:spAutoFit/>
          </a:bodyPr>
          <a:lstStyle/>
          <a:p>
            <a:pPr algn="l">
              <a:lnSpc>
                <a:spcPct val="112000"/>
              </a:lnSpc>
              <a:spcBef>
                <a:spcPts val="0"/>
              </a:spcBef>
              <a:spcAft>
                <a:spcPts val="0"/>
              </a:spcAft>
            </a:pPr>
            <a:r>
              <a:rPr sz="1600" b="0">
                <a:solidFill>
                  <a:srgbClr val="142E35"/>
                </a:solidFill>
                <a:latin typeface="Arial"/>
              </a:rPr>
              <a:t>Use messages, assistant-only loss and exact token-length checks.</a:t>
            </a:r>
          </a:p>
        </p:txBody>
      </p:sp>
      <p:sp>
        <p:nvSpPr>
          <p:cNvPr id="19" name="TextBox 18"/>
          <p:cNvSpPr txBox="1"/>
          <p:nvPr/>
        </p:nvSpPr>
        <p:spPr>
          <a:xfrm>
            <a:off x="685800" y="5879592"/>
            <a:ext cx="10881360" cy="347472"/>
          </a:xfrm>
          <a:prstGeom prst="rect">
            <a:avLst/>
          </a:prstGeom>
          <a:noFill/>
        </p:spPr>
        <p:txBody>
          <a:bodyPr wrap="square" lIns="0" rIns="0" tIns="0" bIns="0" anchor="t">
            <a:spAutoFit/>
          </a:bodyPr>
          <a:lstStyle/>
          <a:p>
            <a:pPr algn="l">
              <a:lnSpc>
                <a:spcPct val="112000"/>
              </a:lnSpc>
              <a:spcBef>
                <a:spcPts val="0"/>
              </a:spcBef>
              <a:spcAft>
                <a:spcPts val="0"/>
              </a:spcAft>
            </a:pPr>
            <a:r>
              <a:rPr sz="1300" b="0">
                <a:solidFill>
                  <a:srgbClr val="586E72"/>
                </a:solidFill>
                <a:latin typeface="Arial"/>
              </a:rPr>
              <a:t>Trace configurations: sft = selected targets    ·    attempts = all scored responses    ·    outcomes = all cohort tasks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TextBox 1"/>
          <p:cNvSpPr txBox="1"/>
          <p:nvPr/>
        </p:nvSpPr>
        <p:spPr>
          <a:xfrm>
            <a:off x="530352" y="292608"/>
            <a:ext cx="10881360"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APPENDIX C / SOURCES</a:t>
            </a:r>
          </a:p>
        </p:txBody>
      </p:sp>
      <p:sp>
        <p:nvSpPr>
          <p:cNvPr id="3" name="TextBox 2"/>
          <p:cNvSpPr txBox="1"/>
          <p:nvPr/>
        </p:nvSpPr>
        <p:spPr>
          <a:xfrm>
            <a:off x="530352" y="722376"/>
            <a:ext cx="11082528" cy="658368"/>
          </a:xfrm>
          <a:prstGeom prst="rect">
            <a:avLst/>
          </a:prstGeom>
          <a:noFill/>
        </p:spPr>
        <p:txBody>
          <a:bodyPr wrap="square" lIns="0" rIns="0" tIns="0" bIns="0" anchor="t">
            <a:spAutoFit/>
          </a:bodyPr>
          <a:lstStyle/>
          <a:p>
            <a:pPr algn="l">
              <a:lnSpc>
                <a:spcPct val="112000"/>
              </a:lnSpc>
              <a:spcBef>
                <a:spcPts val="0"/>
              </a:spcBef>
              <a:spcAft>
                <a:spcPts val="0"/>
              </a:spcAft>
            </a:pPr>
            <a:r>
              <a:rPr sz="3100" b="1">
                <a:solidFill>
                  <a:srgbClr val="142E35"/>
                </a:solidFill>
                <a:latin typeface="Arial"/>
              </a:rPr>
              <a:t>Pinned evidence and version boundaries</a:t>
            </a:r>
          </a:p>
        </p:txBody>
      </p:sp>
      <p:sp>
        <p:nvSpPr>
          <p:cNvPr id="4" name="TextBox 3"/>
          <p:cNvSpPr txBox="1"/>
          <p:nvPr/>
        </p:nvSpPr>
        <p:spPr>
          <a:xfrm>
            <a:off x="548640" y="1426464"/>
            <a:ext cx="11018520" cy="438912"/>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The deck is reproducible from evidence.json; full references are also in the speaker notes.</a:t>
            </a:r>
          </a:p>
        </p:txBody>
      </p:sp>
      <p:cxnSp>
        <p:nvCxnSpPr>
          <p:cNvPr id="5" name="Connector 4"/>
          <p:cNvCxnSpPr/>
          <p:nvPr/>
        </p:nvCxnSpPr>
        <p:spPr>
          <a:xfrm>
            <a:off x="530352" y="6473952"/>
            <a:ext cx="11100816" cy="0"/>
          </a:xfrm>
          <a:prstGeom prst="line">
            <a:avLst/>
          </a:prstGeom>
          <a:ln w="7620">
            <a:solidFill>
              <a:srgbClr val="D4DD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83680"/>
            <a:ext cx="5120640" cy="164592"/>
          </a:xfrm>
          <a:prstGeom prst="rect">
            <a:avLst/>
          </a:prstGeom>
          <a:noFill/>
        </p:spPr>
        <p:txBody>
          <a:bodyPr wrap="square" lIns="0" rIns="0" tIns="0" bIns="0" anchor="t">
            <a:spAutoFit/>
          </a:bodyPr>
          <a:lstStyle/>
          <a:p>
            <a:pPr algn="l">
              <a:lnSpc>
                <a:spcPct val="112000"/>
              </a:lnSpc>
              <a:spcBef>
                <a:spcPts val="0"/>
              </a:spcBef>
              <a:spcAft>
                <a:spcPts val="0"/>
              </a:spcAft>
            </a:pPr>
            <a:r>
              <a:rPr sz="840" b="0">
                <a:solidFill>
                  <a:srgbClr val="586E72"/>
                </a:solidFill>
                <a:latin typeface="Arial"/>
              </a:rPr>
              <a:t>OPEN ATHENA  /  PDBTHINK COORDINATE TASKS</a:t>
            </a:r>
          </a:p>
        </p:txBody>
      </p:sp>
      <p:sp>
        <p:nvSpPr>
          <p:cNvPr id="7" name="TextBox 6">
            <a:hlinkClick r:id="rId2"/>
          </p:cNvPr>
          <p:cNvSpPr txBox="1"/>
          <p:nvPr/>
        </p:nvSpPr>
        <p:spPr>
          <a:xfrm>
            <a:off x="6309360" y="6565392"/>
            <a:ext cx="4617720" cy="210312"/>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Task release v1.3.0</a:t>
            </a:r>
          </a:p>
        </p:txBody>
      </p:sp>
      <p:sp>
        <p:nvSpPr>
          <p:cNvPr id="8" name="TextBox 7"/>
          <p:cNvSpPr txBox="1"/>
          <p:nvPr/>
        </p:nvSpPr>
        <p:spPr>
          <a:xfrm>
            <a:off x="11155680" y="6565392"/>
            <a:ext cx="457200" cy="201168"/>
          </a:xfrm>
          <a:prstGeom prst="rect">
            <a:avLst/>
          </a:prstGeom>
          <a:noFill/>
        </p:spPr>
        <p:txBody>
          <a:bodyPr wrap="square" lIns="0" rIns="0" tIns="0" bIns="0" anchor="t">
            <a:spAutoFit/>
          </a:bodyPr>
          <a:lstStyle/>
          <a:p>
            <a:pPr algn="r">
              <a:lnSpc>
                <a:spcPct val="112000"/>
              </a:lnSpc>
              <a:spcBef>
                <a:spcPts val="0"/>
              </a:spcBef>
              <a:spcAft>
                <a:spcPts val="0"/>
              </a:spcAft>
            </a:pPr>
            <a:r>
              <a:rPr sz="900" b="0">
                <a:solidFill>
                  <a:srgbClr val="586E72"/>
                </a:solidFill>
                <a:latin typeface="Arial"/>
              </a:rPr>
              <a:t>19</a:t>
            </a:r>
          </a:p>
        </p:txBody>
      </p:sp>
      <p:sp>
        <p:nvSpPr>
          <p:cNvPr id="9" name="Rounded Rectangle 8"/>
          <p:cNvSpPr/>
          <p:nvPr/>
        </p:nvSpPr>
        <p:spPr>
          <a:xfrm>
            <a:off x="594360" y="2002536"/>
            <a:ext cx="10972800" cy="98755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167128"/>
            <a:ext cx="1069848" cy="29260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221992"/>
            <a:ext cx="905256"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TASKS</a:t>
            </a:r>
          </a:p>
        </p:txBody>
      </p:sp>
      <p:sp>
        <p:nvSpPr>
          <p:cNvPr id="12" name="TextBox 11">
            <a:hlinkClick r:id="rId2"/>
          </p:cNvPr>
          <p:cNvSpPr txBox="1"/>
          <p:nvPr/>
        </p:nvSpPr>
        <p:spPr>
          <a:xfrm>
            <a:off x="2039112" y="2121408"/>
            <a:ext cx="9125712" cy="310896"/>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67D79"/>
                </a:solidFill>
                <a:latin typeface="Arial"/>
              </a:rPr>
              <a:t>PDBThink Coordinate Tasks · v1.3.0</a:t>
            </a:r>
          </a:p>
        </p:txBody>
      </p:sp>
      <p:sp>
        <p:nvSpPr>
          <p:cNvPr id="13" name="TextBox 12"/>
          <p:cNvSpPr txBox="1"/>
          <p:nvPr/>
        </p:nvSpPr>
        <p:spPr>
          <a:xfrm>
            <a:off x="2048256" y="2505456"/>
            <a:ext cx="9116568" cy="219456"/>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86E72"/>
                </a:solidFill>
                <a:latin typeface="Liberation Mono"/>
              </a:rPr>
              <a:t>3734406cb97b1702844319f9a5d860cbbf8fe660</a:t>
            </a:r>
          </a:p>
        </p:txBody>
      </p:sp>
      <p:sp>
        <p:nvSpPr>
          <p:cNvPr id="14" name="TextBox 13"/>
          <p:cNvSpPr txBox="1"/>
          <p:nvPr/>
        </p:nvSpPr>
        <p:spPr>
          <a:xfrm>
            <a:off x="2048256" y="2761488"/>
            <a:ext cx="9116568" cy="201168"/>
          </a:xfrm>
          <a:prstGeom prst="rect">
            <a:avLst/>
          </a:prstGeom>
          <a:noFill/>
        </p:spPr>
        <p:txBody>
          <a:bodyPr wrap="square" lIns="0" rIns="0" tIns="0" bIns="0" anchor="t">
            <a:spAutoFit/>
          </a:bodyPr>
          <a:lstStyle/>
          <a:p>
            <a:pPr algn="l">
              <a:lnSpc>
                <a:spcPct val="112000"/>
              </a:lnSpc>
              <a:spcBef>
                <a:spcPts val="0"/>
              </a:spcBef>
              <a:spcAft>
                <a:spcPts val="0"/>
              </a:spcAft>
            </a:pPr>
            <a:r>
              <a:rPr sz="1100" b="0">
                <a:solidFill>
                  <a:srgbClr val="142E35"/>
                </a:solidFill>
                <a:latin typeface="Arial"/>
              </a:rPr>
              <a:t>100,000 tasks · prompt v5 · scorer 1.1.0 · definitions v1.0.0</a:t>
            </a:r>
          </a:p>
        </p:txBody>
      </p:sp>
      <p:sp>
        <p:nvSpPr>
          <p:cNvPr id="15" name="Rounded Rectangle 14"/>
          <p:cNvSpPr/>
          <p:nvPr/>
        </p:nvSpPr>
        <p:spPr>
          <a:xfrm>
            <a:off x="594360" y="3154680"/>
            <a:ext cx="10972800" cy="98755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3319272"/>
            <a:ext cx="1069848" cy="29260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374136"/>
            <a:ext cx="905256"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TEACHER</a:t>
            </a:r>
          </a:p>
        </p:txBody>
      </p:sp>
      <p:sp>
        <p:nvSpPr>
          <p:cNvPr id="18" name="TextBox 17">
            <a:hlinkClick r:id="rId4"/>
          </p:cNvPr>
          <p:cNvSpPr txBox="1"/>
          <p:nvPr/>
        </p:nvSpPr>
        <p:spPr>
          <a:xfrm>
            <a:off x="2039112" y="3273552"/>
            <a:ext cx="9125712" cy="310896"/>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67D79"/>
                </a:solidFill>
                <a:latin typeface="Arial"/>
              </a:rPr>
              <a:t>GLM-5.3 Teacher Traces · v1.0.0</a:t>
            </a:r>
          </a:p>
        </p:txBody>
      </p:sp>
      <p:sp>
        <p:nvSpPr>
          <p:cNvPr id="19" name="TextBox 18"/>
          <p:cNvSpPr txBox="1"/>
          <p:nvPr/>
        </p:nvSpPr>
        <p:spPr>
          <a:xfrm>
            <a:off x="2048256" y="3657600"/>
            <a:ext cx="9116568" cy="219456"/>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86E72"/>
                </a:solidFill>
                <a:latin typeface="Liberation Mono"/>
              </a:rPr>
              <a:t>91baf80abe4cd10e3258bbcc0addafd4d3d32b22</a:t>
            </a:r>
          </a:p>
        </p:txBody>
      </p:sp>
      <p:sp>
        <p:nvSpPr>
          <p:cNvPr id="20" name="TextBox 19"/>
          <p:cNvSpPr txBox="1"/>
          <p:nvPr/>
        </p:nvSpPr>
        <p:spPr>
          <a:xfrm>
            <a:off x="2048256" y="3913632"/>
            <a:ext cx="9116568" cy="201168"/>
          </a:xfrm>
          <a:prstGeom prst="rect">
            <a:avLst/>
          </a:prstGeom>
          <a:noFill/>
        </p:spPr>
        <p:txBody>
          <a:bodyPr wrap="square" lIns="0" rIns="0" tIns="0" bIns="0" anchor="t">
            <a:spAutoFit/>
          </a:bodyPr>
          <a:lstStyle/>
          <a:p>
            <a:pPr algn="l">
              <a:lnSpc>
                <a:spcPct val="112000"/>
              </a:lnSpc>
              <a:spcBef>
                <a:spcPts val="0"/>
              </a:spcBef>
              <a:spcAft>
                <a:spcPts val="0"/>
              </a:spcAft>
            </a:pPr>
            <a:r>
              <a:rPr sz="1100" b="0">
                <a:solidFill>
                  <a:srgbClr val="142E35"/>
                </a:solidFill>
                <a:latin typeface="Arial"/>
              </a:rPr>
              <a:t>Historical prompts and rewards from coordinate tasks v1.2.0</a:t>
            </a:r>
          </a:p>
        </p:txBody>
      </p:sp>
      <p:sp>
        <p:nvSpPr>
          <p:cNvPr id="21" name="Rounded Rectangle 20"/>
          <p:cNvSpPr/>
          <p:nvPr/>
        </p:nvSpPr>
        <p:spPr>
          <a:xfrm>
            <a:off x="594360" y="4306824"/>
            <a:ext cx="10972800" cy="987552"/>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4471416"/>
            <a:ext cx="1069848" cy="292608"/>
          </a:xfrm>
          <a:prstGeom prst="roundRect">
            <a:avLst>
              <a:gd name="adj" fmla="val 3500"/>
            </a:avLst>
          </a:prstGeom>
          <a:solidFill>
            <a:srgbClr val="DF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526279"/>
            <a:ext cx="905256" cy="201168"/>
          </a:xfrm>
          <a:prstGeom prst="rect">
            <a:avLst/>
          </a:prstGeom>
          <a:noFill/>
        </p:spPr>
        <p:txBody>
          <a:bodyPr wrap="square" lIns="0" rIns="0" tIns="0" bIns="0" anchor="t">
            <a:spAutoFit/>
          </a:bodyPr>
          <a:lstStyle/>
          <a:p>
            <a:pPr algn="l">
              <a:lnSpc>
                <a:spcPct val="112000"/>
              </a:lnSpc>
              <a:spcBef>
                <a:spcPts val="0"/>
              </a:spcBef>
              <a:spcAft>
                <a:spcPts val="0"/>
              </a:spcAft>
            </a:pPr>
            <a:r>
              <a:rPr sz="1000" b="1">
                <a:solidFill>
                  <a:srgbClr val="067D79"/>
                </a:solidFill>
                <a:latin typeface="Arial"/>
              </a:rPr>
              <a:t>SNOWBALL</a:t>
            </a:r>
          </a:p>
        </p:txBody>
      </p:sp>
      <p:sp>
        <p:nvSpPr>
          <p:cNvPr id="24" name="TextBox 23">
            <a:hlinkClick r:id="rId5"/>
          </p:cNvPr>
          <p:cNvSpPr txBox="1"/>
          <p:nvPr/>
        </p:nvSpPr>
        <p:spPr>
          <a:xfrm>
            <a:off x="2039112" y="4425696"/>
            <a:ext cx="9125712" cy="310896"/>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67D79"/>
                </a:solidFill>
                <a:latin typeface="Arial"/>
              </a:rPr>
              <a:t>Snowball-67B-A2B-5.7T-Mixed-RLVR-Step38</a:t>
            </a:r>
          </a:p>
        </p:txBody>
      </p:sp>
      <p:sp>
        <p:nvSpPr>
          <p:cNvPr id="25" name="TextBox 24"/>
          <p:cNvSpPr txBox="1"/>
          <p:nvPr/>
        </p:nvSpPr>
        <p:spPr>
          <a:xfrm>
            <a:off x="2048256" y="4809744"/>
            <a:ext cx="9116568" cy="219456"/>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86E72"/>
                </a:solidFill>
                <a:latin typeface="Liberation Mono"/>
              </a:rPr>
              <a:t>cfc1d845dae89b067cdc7250d0164abefa5a69cf</a:t>
            </a:r>
          </a:p>
        </p:txBody>
      </p:sp>
      <p:sp>
        <p:nvSpPr>
          <p:cNvPr id="26" name="TextBox 25"/>
          <p:cNvSpPr txBox="1"/>
          <p:nvPr/>
        </p:nvSpPr>
        <p:spPr>
          <a:xfrm>
            <a:off x="2048256" y="5065776"/>
            <a:ext cx="9116568" cy="201168"/>
          </a:xfrm>
          <a:prstGeom prst="rect">
            <a:avLst/>
          </a:prstGeom>
          <a:noFill/>
        </p:spPr>
        <p:txBody>
          <a:bodyPr wrap="square" lIns="0" rIns="0" tIns="0" bIns="0" anchor="t">
            <a:spAutoFit/>
          </a:bodyPr>
          <a:lstStyle/>
          <a:p>
            <a:pPr algn="l">
              <a:lnSpc>
                <a:spcPct val="112000"/>
              </a:lnSpc>
              <a:spcBef>
                <a:spcPts val="0"/>
              </a:spcBef>
              <a:spcAft>
                <a:spcPts val="0"/>
              </a:spcAft>
            </a:pPr>
            <a:r>
              <a:rPr sz="1100" b="0">
                <a:solidFill>
                  <a:srgbClr val="142E35"/>
                </a:solidFill>
                <a:latin typeface="Arial"/>
              </a:rPr>
              <a:t>Native tokenizer and thinking-enabled template · 32,768-token window</a:t>
            </a:r>
          </a:p>
        </p:txBody>
      </p:sp>
      <p:sp>
        <p:nvSpPr>
          <p:cNvPr id="27" name="TextBox 26"/>
          <p:cNvSpPr txBox="1"/>
          <p:nvPr/>
        </p:nvSpPr>
        <p:spPr>
          <a:xfrm>
            <a:off x="777240" y="5715000"/>
            <a:ext cx="10771632" cy="384048"/>
          </a:xfrm>
          <a:prstGeom prst="rect">
            <a:avLst/>
          </a:prstGeom>
          <a:noFill/>
        </p:spPr>
        <p:txBody>
          <a:bodyPr wrap="square" lIns="0" rIns="0" tIns="0" bIns="0" anchor="t">
            <a:spAutoFit/>
          </a:bodyPr>
          <a:lstStyle/>
          <a:p>
            <a:pPr algn="l">
              <a:lnSpc>
                <a:spcPct val="112000"/>
              </a:lnSpc>
              <a:spcBef>
                <a:spcPts val="0"/>
              </a:spcBef>
              <a:spcAft>
                <a:spcPts val="0"/>
              </a:spcAft>
            </a:pPr>
            <a:r>
              <a:rPr sz="1400" b="0">
                <a:solidFill>
                  <a:srgbClr val="586E72"/>
                </a:solidFill>
                <a:latin typeface="Arial"/>
              </a:rPr>
              <a:t>More evidence: manifest · native-context audit · correction audit · teacher summary · frozen generator code</a:t>
            </a:r>
          </a:p>
        </p:txBody>
      </p:sp>
      <p:sp>
        <p:nvSpPr>
          <p:cNvPr id="28" name="TextBox 27"/>
          <p:cNvSpPr txBox="1"/>
          <p:nvPr/>
        </p:nvSpPr>
        <p:spPr>
          <a:xfrm>
            <a:off x="777240" y="6108192"/>
            <a:ext cx="10771632" cy="228600"/>
          </a:xfrm>
          <a:prstGeom prst="rect">
            <a:avLst/>
          </a:prstGeom>
          <a:noFill/>
        </p:spPr>
        <p:txBody>
          <a:bodyPr wrap="square" lIns="0" rIns="0" tIns="0" bIns="0" anchor="t">
            <a:spAutoFit/>
          </a:bodyPr>
          <a:lstStyle/>
          <a:p>
            <a:pPr algn="l">
              <a:lnSpc>
                <a:spcPct val="112000"/>
              </a:lnSpc>
              <a:spcBef>
                <a:spcPts val="0"/>
              </a:spcBef>
              <a:spcAft>
                <a:spcPts val="0"/>
              </a:spcAft>
            </a:pPr>
            <a:r>
              <a:rPr sz="1100" b="0">
                <a:solidFill>
                  <a:srgbClr val="067D79"/>
                </a:solidFill>
                <a:latin typeface="Arial"/>
              </a:rPr>
              <a:t>Links are clickable in the deck and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PDBThink Coordinate Tasks</dc:title>
  <dc:subject>Technical overview for Snowball evaluation and post-training</dc:subject>
  <dc:creator>Open Athena</dc:creator>
  <cp:keywords>PDBThink, Snowball, coordinate reasoning, RLVR, SFT</cp:keywords>
  <dc:description>Pinned task release v1.3.0; historical teacher release v1.0.0 on tasks v1.2.0.</dc:description>
  <cp:lastModifiedBy>Steve Canny</cp:lastModifiedBy>
  <cp:revision>1</cp:revision>
  <dcterms:created xsi:type="dcterms:W3CDTF">2013-01-27T09:14:16Z</dcterms:created>
  <dcterms:modified xsi:type="dcterms:W3CDTF">2013-01-27T09:15:58Z</dcterms:modified>
  <cp:category/>
</cp:coreProperties>
</file>