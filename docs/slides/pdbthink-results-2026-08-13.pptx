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Macro score</c:v>
                </c:pt>
              </c:strCache>
            </c:strRef>
          </c:tx>
          <c:dPt>
            <c:idx val="0"/>
            <c:spPr>
              <a:solidFill>
                <a:srgbClr val="E2725B"/>
              </a:solidFill>
            </c:spPr>
          </c:dPt>
          <c:dPt>
            <c:idx val="1"/>
            <c:spPr>
              <a:solidFill>
                <a:srgbClr val="0E7C7B"/>
              </a:solidFill>
            </c:spPr>
          </c:dPt>
          <c:cat>
            <c:strRef>
              <c:f>Sheet1!$A$2:$A$3</c:f>
              <c:strCache>
                <c:ptCount val="2"/>
                <c:pt idx="0">
                  <c:v>Qwen3-1.7B (local)</c:v>
                </c:pt>
                <c:pt idx="1">
                  <c:v>DeepSeek V4 Flash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0.126</c:v>
                </c:pt>
                <c:pt idx="1">
                  <c:v>0.71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>
                  <a:solidFill>
                    <a:srgbClr val="15242E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1E8EC"/>
            </a:solidFill>
          </a:ln>
        </c:spPr>
        <c:txPr>
          <a:bodyPr/>
          <a:lstStyle/>
          <a:p>
            <a:pPr>
              <a:defRPr sz="1200">
                <a:solidFill>
                  <a:srgbClr val="15242E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 w="9525">
              <a:solidFill>
                <a:srgbClr val="E1E8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1E8EC"/>
            </a:solidFill>
          </a:ln>
        </c:spPr>
        <c:txPr>
          <a:bodyPr/>
          <a:lstStyle/>
          <a:p>
            <a:pPr>
              <a:defRPr sz="1000">
                <a:solidFill>
                  <a:srgbClr val="5B6E7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Macro score</c:v>
                </c:pt>
              </c:strCache>
            </c:strRef>
          </c:tx>
          <c:dPt>
            <c:idx val="0"/>
            <c:spPr>
              <a:solidFill>
                <a:srgbClr val="0E7C7B"/>
              </a:solidFill>
            </c:spPr>
          </c:dPt>
          <c:dPt>
            <c:idx val="1"/>
            <c:spPr>
              <a:solidFill>
                <a:srgbClr val="0E7C7B"/>
              </a:solidFill>
            </c:spPr>
          </c:dPt>
          <c:dPt>
            <c:idx val="2"/>
            <c:spPr>
              <a:solidFill>
                <a:srgbClr val="0E7C7B"/>
              </a:solidFill>
            </c:spPr>
          </c:dPt>
          <c:dPt>
            <c:idx val="3"/>
            <c:spPr>
              <a:solidFill>
                <a:srgbClr val="0E7C7B"/>
              </a:solidFill>
            </c:spPr>
          </c:dPt>
          <c:dPt>
            <c:idx val="4"/>
            <c:spPr>
              <a:solidFill>
                <a:srgbClr val="0E7C7B"/>
              </a:solidFill>
            </c:spPr>
          </c:dPt>
          <c:dPt>
            <c:idx val="5"/>
            <c:spPr>
              <a:solidFill>
                <a:srgbClr val="0E7C7B"/>
              </a:solidFill>
            </c:spPr>
          </c:dPt>
          <c:dPt>
            <c:idx val="6"/>
            <c:spPr>
              <a:solidFill>
                <a:srgbClr val="0E7C7B"/>
              </a:solidFill>
            </c:spPr>
          </c:dPt>
          <c:dPt>
            <c:idx val="7"/>
            <c:spPr>
              <a:solidFill>
                <a:srgbClr val="0E7C7B"/>
              </a:solidFill>
            </c:spPr>
          </c:dPt>
          <c:dPt>
            <c:idx val="8"/>
            <c:spPr>
              <a:solidFill>
                <a:srgbClr val="0E7C7B"/>
              </a:solidFill>
            </c:spPr>
          </c:dPt>
          <c:dPt>
            <c:idx val="9"/>
            <c:spPr>
              <a:solidFill>
                <a:srgbClr val="0E7C7B"/>
              </a:solidFill>
            </c:spPr>
          </c:dPt>
          <c:dPt>
            <c:idx val="10"/>
            <c:spPr>
              <a:solidFill>
                <a:srgbClr val="0E7C7B"/>
              </a:solidFill>
            </c:spPr>
          </c:dPt>
          <c:dPt>
            <c:idx val="11"/>
            <c:spPr>
              <a:solidFill>
                <a:srgbClr val="4FD1C5"/>
              </a:solidFill>
            </c:spPr>
          </c:dPt>
          <c:dPt>
            <c:idx val="12"/>
            <c:spPr>
              <a:solidFill>
                <a:srgbClr val="4FD1C5"/>
              </a:solidFill>
            </c:spPr>
          </c:dPt>
          <c:dPt>
            <c:idx val="13"/>
            <c:spPr>
              <a:solidFill>
                <a:srgbClr val="4FD1C5"/>
              </a:solidFill>
            </c:spPr>
          </c:dPt>
          <c:dPt>
            <c:idx val="14"/>
            <c:spPr>
              <a:solidFill>
                <a:srgbClr val="E8A33D"/>
              </a:solidFill>
            </c:spPr>
          </c:dPt>
          <c:dPt>
            <c:idx val="15"/>
            <c:spPr>
              <a:solidFill>
                <a:srgbClr val="E2725B"/>
              </a:solidFill>
            </c:spPr>
          </c:dPt>
          <c:dPt>
            <c:idx val="16"/>
            <c:spPr>
              <a:solidFill>
                <a:srgbClr val="E2725B"/>
              </a:solidFill>
            </c:spPr>
          </c:dPt>
          <c:dPt>
            <c:idx val="17"/>
            <c:spPr>
              <a:solidFill>
                <a:srgbClr val="E2725B"/>
              </a:solidFill>
            </c:spPr>
          </c:dPt>
          <c:dPt>
            <c:idx val="18"/>
            <c:spPr>
              <a:solidFill>
                <a:srgbClr val="E2725B"/>
              </a:solidFill>
            </c:spPr>
          </c:dPt>
          <c:dPt>
            <c:idx val="19"/>
            <c:spPr>
              <a:solidFill>
                <a:srgbClr val="E2725B"/>
              </a:solidFill>
            </c:spPr>
          </c:dPt>
          <c:cat>
            <c:strRef>
              <c:f>Sheet1!$A$2:$A$21</c:f>
              <c:strCache>
                <c:ptCount val="20"/>
                <c:pt idx="0">
                  <c:v>G01</c:v>
                </c:pt>
                <c:pt idx="1">
                  <c:v>G02</c:v>
                </c:pt>
                <c:pt idx="2">
                  <c:v>G03</c:v>
                </c:pt>
                <c:pt idx="3">
                  <c:v>N01</c:v>
                </c:pt>
                <c:pt idx="4">
                  <c:v>P01</c:v>
                </c:pt>
                <c:pt idx="5">
                  <c:v>P02</c:v>
                </c:pt>
                <c:pt idx="6">
                  <c:v>P03</c:v>
                </c:pt>
                <c:pt idx="7">
                  <c:v>S01</c:v>
                </c:pt>
                <c:pt idx="8">
                  <c:v>S02</c:v>
                </c:pt>
                <c:pt idx="9">
                  <c:v>S07</c:v>
                </c:pt>
                <c:pt idx="10">
                  <c:v>S08</c:v>
                </c:pt>
                <c:pt idx="11">
                  <c:v>MECH</c:v>
                </c:pt>
                <c:pt idx="12">
                  <c:v>S05</c:v>
                </c:pt>
                <c:pt idx="13">
                  <c:v>S09</c:v>
                </c:pt>
                <c:pt idx="14">
                  <c:v>T01</c:v>
                </c:pt>
                <c:pt idx="15">
                  <c:v>S03</c:v>
                </c:pt>
                <c:pt idx="16">
                  <c:v>S04</c:v>
                </c:pt>
                <c:pt idx="17">
                  <c:v>S06</c:v>
                </c:pt>
                <c:pt idx="18">
                  <c:v>I01</c:v>
                </c:pt>
                <c:pt idx="19">
                  <c:v>G04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0.733</c:v>
                </c:pt>
                <c:pt idx="12">
                  <c:v>0.667</c:v>
                </c:pt>
                <c:pt idx="13">
                  <c:v>0.667</c:v>
                </c:pt>
                <c:pt idx="14">
                  <c:v>0.419</c:v>
                </c:pt>
                <c:pt idx="15">
                  <c:v>0.333</c:v>
                </c:pt>
                <c:pt idx="16">
                  <c:v>0.333</c:v>
                </c:pt>
                <c:pt idx="17">
                  <c:v>0.331</c:v>
                </c:pt>
                <c:pt idx="18">
                  <c:v>0.239</c:v>
                </c:pt>
                <c:pt idx="19">
                  <c:v>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1E8EC"/>
            </a:solidFill>
          </a:ln>
        </c:spPr>
        <c:txPr>
          <a:bodyPr/>
          <a:lstStyle/>
          <a:p>
            <a:pPr>
              <a:defRPr sz="900">
                <a:solidFill>
                  <a:srgbClr val="15242E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E1E8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1E8EC"/>
            </a:solidFill>
          </a:ln>
        </c:spPr>
        <c:txPr>
          <a:bodyPr/>
          <a:lstStyle/>
          <a:p>
            <a:pPr>
              <a:defRPr sz="1000">
                <a:solidFill>
                  <a:srgbClr val="5B6E7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Macro score</c:v>
                </c:pt>
              </c:strCache>
            </c:strRef>
          </c:tx>
          <c:dPt>
            <c:idx val="0"/>
            <c:spPr>
              <a:solidFill>
                <a:srgbClr val="E2725B"/>
              </a:solidFill>
            </c:spPr>
          </c:dPt>
          <c:dPt>
            <c:idx val="1"/>
            <c:spPr>
              <a:solidFill>
                <a:srgbClr val="E8A33D"/>
              </a:solidFill>
            </c:spPr>
          </c:dPt>
          <c:dPt>
            <c:idx val="2"/>
            <c:spPr>
              <a:solidFill>
                <a:srgbClr val="4FD1C5"/>
              </a:solidFill>
            </c:spPr>
          </c:dPt>
          <c:cat>
            <c:strRef>
              <c:f>Sheet1!$A$2:$A$4</c:f>
              <c:strCache>
                <c:ptCount val="3"/>
                <c:pt idx="0">
                  <c:v>8,192 tokens</c:v>
                </c:pt>
                <c:pt idx="1">
                  <c:v>32,768 tokens</c:v>
                </c:pt>
                <c:pt idx="2">
                  <c:v>65,536 tokens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0.475</c:v>
                </c:pt>
                <c:pt idx="1">
                  <c:v>0.638</c:v>
                </c:pt>
                <c:pt idx="2">
                  <c:v>0.71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1D3242"/>
            </a:solidFill>
          </a:ln>
        </c:spPr>
        <c:txPr>
          <a:bodyPr/>
          <a:lstStyle/>
          <a:p>
            <a:pPr>
              <a:defRPr sz="1100">
                <a:solidFill>
                  <a:srgbClr val="AFC3CE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l"/>
        <c:majorGridlines>
          <c:spPr>
            <a:ln w="9525">
              <a:solidFill>
                <a:srgbClr val="1D3242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1D3242"/>
            </a:solidFill>
          </a:ln>
        </c:spPr>
        <c:txPr>
          <a:bodyPr/>
          <a:lstStyle/>
          <a:p>
            <a:pPr>
              <a:defRPr sz="1000">
                <a:solidFill>
                  <a:srgbClr val="5B738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pdbthink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4FD1C5"/>
                </a:solidFill>
                <a:latin typeface="Cambria"/>
              </a:rPr>
              <a:t>Tool-free reasoning over protein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649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FC3CE"/>
                </a:solidFill>
                <a:latin typeface="Calibri"/>
              </a:rPr>
              <a:t>First results: a frontier reasoning model and a 1.7B local model on the smoke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2971800" cy="475488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3367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97 instances  ·  20 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E7A"/>
                </a:solidFill>
                <a:latin typeface="Calibri"/>
              </a:rPr>
              <a:t>13 August 2026  ·  github.com/Open-Athena/pdbthink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00">
                <a:solidFill>
                  <a:srgbClr val="0E7C7B"/>
                </a:solidFill>
                <a:latin typeface="Calibri"/>
              </a:rPr>
              <a:t>WHAT IT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5242E"/>
                </a:solidFill>
                <a:latin typeface="Cambria"/>
              </a:rPr>
              <a:t>Six capabilities, measured separately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636776"/>
            <a:ext cx="274320" cy="2743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7276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242E"/>
                </a:solidFill>
                <a:latin typeface="Calibri"/>
              </a:rPr>
              <a:t>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72768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B6E7A"/>
                </a:solidFill>
                <a:latin typeface="Calibri"/>
              </a:rPr>
              <a:t>Read a fixed-column coordinate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572768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E7C7B"/>
                </a:solidFill>
                <a:latin typeface="Courier New"/>
              </a:rPr>
              <a:t>P01-P03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304288"/>
            <a:ext cx="274320" cy="2743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24028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242E"/>
                </a:solidFill>
                <a:latin typeface="Calibri"/>
              </a:rPr>
              <a:t>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40280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B6E7A"/>
                </a:solidFill>
                <a:latin typeface="Calibri"/>
              </a:rPr>
              <a:t>Elementary 3D arithmetic on those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24028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E7C7B"/>
                </a:solidFill>
                <a:latin typeface="Courier New"/>
              </a:rPr>
              <a:t>G01-G04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2971800"/>
            <a:ext cx="274320" cy="274320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90779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242E"/>
                </a:solidFill>
                <a:latin typeface="Calibri"/>
              </a:rPr>
              <a:t>Local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907792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B6E7A"/>
                </a:solidFill>
                <a:latin typeface="Calibri"/>
              </a:rPr>
              <a:t>Turn geometry into structural-biology concepts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90779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4FD1C5"/>
                </a:solidFill>
                <a:latin typeface="Courier New"/>
              </a:rPr>
              <a:t>S01-S09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3639312"/>
            <a:ext cx="274320" cy="274320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57530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242E"/>
                </a:solidFill>
                <a:latin typeface="Calibri"/>
              </a:rPr>
              <a:t>Interfaces &amp; networks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575304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B6E7A"/>
                </a:solidFill>
                <a:latin typeface="Calibri"/>
              </a:rPr>
              <a:t>Reason across chains and contact graphs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575304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4FD1C5"/>
                </a:solidFill>
                <a:latin typeface="Courier New"/>
              </a:rPr>
              <a:t>I01, N01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4306824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24281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242E"/>
                </a:solidFill>
                <a:latin typeface="Calibri"/>
              </a:rPr>
              <a:t>Two-state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242816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B6E7A"/>
                </a:solidFill>
                <a:latin typeface="Calibri"/>
              </a:rPr>
              <a:t>Compare two conformations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4242816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E8A33D"/>
                </a:solidFill>
                <a:latin typeface="Courier New"/>
              </a:rPr>
              <a:t>T01</a:t>
            </a:r>
          </a:p>
        </p:txBody>
      </p:sp>
      <p:sp>
        <p:nvSpPr>
          <p:cNvPr id="25" name="Oval 24"/>
          <p:cNvSpPr/>
          <p:nvPr/>
        </p:nvSpPr>
        <p:spPr>
          <a:xfrm>
            <a:off x="566928" y="4974336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91032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242E"/>
                </a:solidFill>
                <a:latin typeface="Calibri"/>
              </a:rPr>
              <a:t>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910328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B6E7A"/>
                </a:solidFill>
                <a:latin typeface="Calibri"/>
              </a:rPr>
              <a:t>Connect a local change to a functional consequence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910328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E8A33D"/>
                </a:solidFill>
                <a:latin typeface="Courier New"/>
              </a:rPr>
              <a:t>6 episodes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8064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B6E7A"/>
                </a:solidFill>
                <a:latin typeface="Calibri"/>
              </a:rPr>
              <a:t>Each item shows one or two sanitised, randomly rotated structures and asks a question whose answer is recomputed from exactly those coordinates. Grading is deterministic throughout.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00">
                <a:solidFill>
                  <a:srgbClr val="0E7C7B"/>
                </a:solidFill>
                <a:latin typeface="Calibri"/>
              </a:rPr>
              <a:t>WHAT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5242E"/>
                </a:solidFill>
                <a:latin typeface="Cambria"/>
              </a:rPr>
              <a:t>The candidate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9344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E7C7B"/>
                </a:solidFill>
                <a:latin typeface="Cambria"/>
              </a:rPr>
              <a:t>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67712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5242E"/>
                </a:solidFill>
                <a:latin typeface="Calibri"/>
              </a:rPr>
              <a:t>semantic instances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0545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E7A"/>
                </a:solidFill>
                <a:latin typeface="Calibri"/>
              </a:rPr>
              <a:t>91 automatic + 6 mechanistic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81328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09344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E7C7B"/>
                </a:solidFill>
                <a:latin typeface="Cambria"/>
              </a:rPr>
              <a:t>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67712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5242E"/>
                </a:solidFill>
                <a:latin typeface="Calibri"/>
              </a:rPr>
              <a:t>protein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0545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E7A"/>
                </a:solidFill>
                <a:latin typeface="Calibri"/>
              </a:rPr>
              <a:t>from 52 PDB / AFDB entries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81328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09344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4FD1C5"/>
                </a:solidFill>
                <a:latin typeface="Cambria"/>
              </a:rPr>
              <a:t>183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67712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5242E"/>
                </a:solidFill>
                <a:latin typeface="Calibri"/>
              </a:rPr>
              <a:t>rendered variants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0545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E7A"/>
                </a:solidFill>
                <a:latin typeface="Calibri"/>
              </a:rPr>
              <a:t>rotation + representation controls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481328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609344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4FD1C5"/>
                </a:solidFill>
                <a:latin typeface="Cambria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67712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5242E"/>
                </a:solidFill>
                <a:latin typeface="Calibri"/>
              </a:rPr>
              <a:t>validation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50545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E7A"/>
                </a:solidFill>
                <a:latin typeface="Calibri"/>
              </a:rPr>
              <a:t>across every consistency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546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5242E"/>
                </a:solidFill>
                <a:latin typeface="Cambria"/>
              </a:rPr>
              <a:t>Every gold answer is recomputed from the coordinates the model sees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65760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15242E"/>
                </a:solidFill>
                <a:latin typeface="Calibri"/>
              </a:rPr>
              <a:t>•   Generators split into propose (find parameters that clear the ambiguity margins) and oracle (recompute the answer from any displayed structure)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5242E"/>
                </a:solidFill>
                <a:latin typeface="Calibri"/>
              </a:rPr>
              <a:t>•   So a rotation variant, a cropped variant and a normalized-coordinate variant either agree, or the build fails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5242E"/>
                </a:solidFill>
                <a:latin typeface="Calibri"/>
              </a:rPr>
              <a:t>•   3,270 rejection records across 25 distinct reasons — every near-tie and missing atom is logged, never silently resolved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5242E"/>
                </a:solidFill>
                <a:latin typeface="Calibri"/>
              </a:rPr>
              <a:t>•   Rebuilds are byte-identical; answering every prompt with its own gold label scores exactly 1.000 end to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00">
                <a:solidFill>
                  <a:srgbClr val="0E7C7B"/>
                </a:solidFill>
                <a:latin typeface="Calibri"/>
              </a:rPr>
              <a:t>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5242E"/>
                </a:solidFill>
                <a:latin typeface="Cambria"/>
              </a:rPr>
              <a:t>DeepSeek V4 Flash vs a 1.7B local model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81328"/>
          <a:ext cx="64922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492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E7A"/>
                </a:solidFill>
                <a:latin typeface="Calibri"/>
              </a:rPr>
              <a:t>Macro average across question families. 95% CI from a bootstrap clustered by protein.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63040"/>
            <a:ext cx="43159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159105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E7A"/>
                </a:solidFill>
                <a:latin typeface="Calibri"/>
              </a:rPr>
              <a:t>DeepSeek V4 Flash 0731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1865376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E7C7B"/>
                </a:solidFill>
                <a:latin typeface="Cambria"/>
              </a:rPr>
              <a:t>0.710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0391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E7A"/>
                </a:solidFill>
                <a:latin typeface="Calibri"/>
              </a:rPr>
              <a:t>[0.603, 0.817]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243230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5242E"/>
                </a:solidFill>
                <a:latin typeface="Calibri"/>
              </a:rPr>
              <a:t>62 / 62 renders answered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999232"/>
            <a:ext cx="43159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31272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E7A"/>
                </a:solidFill>
                <a:latin typeface="Calibri"/>
              </a:rPr>
              <a:t>Qwen3-1.7B (local, ollama)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3401568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725B"/>
                </a:solidFill>
                <a:latin typeface="Cambria"/>
              </a:rPr>
              <a:t>0.126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57530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E7A"/>
                </a:solidFill>
                <a:latin typeface="Calibri"/>
              </a:rPr>
              <a:t>[0.057, 0.175]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96849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5242E"/>
                </a:solidFill>
                <a:latin typeface="Calibri"/>
              </a:rPr>
              <a:t>46 / 62 — rest exceed its 41k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617720"/>
            <a:ext cx="4315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11 of 20 families solved outright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956048"/>
            <a:ext cx="4315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E7A"/>
                </a:solidFill>
                <a:latin typeface="Calibri"/>
              </a:rPr>
              <a:t>exact accuracy 1.000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E7A"/>
                </a:solidFill>
                <a:latin typeface="Calibri"/>
              </a:rPr>
              <a:t>Smoke set: 20 instances, 62 renders, one completion 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00">
                <a:solidFill>
                  <a:srgbClr val="0E7C7B"/>
                </a:solidFill>
                <a:latin typeface="Calibri"/>
              </a:rPr>
              <a:t>WHERE IT SUCCEEDS AND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5242E"/>
                </a:solidFill>
                <a:latin typeface="Cambria"/>
              </a:rPr>
              <a:t>Solved outright, or barely started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04088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32120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E7A"/>
                </a:solidFill>
                <a:latin typeface="Calibri"/>
              </a:rPr>
              <a:t>DeepSeek V4 Flash, mean score per 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48132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42E"/>
                </a:solidFill>
                <a:latin typeface="Cambria"/>
              </a:rPr>
              <a:t>The failures are consistent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938528"/>
            <a:ext cx="3840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250">
                <a:solidFill>
                  <a:srgbClr val="15242E"/>
                </a:solidFill>
                <a:latin typeface="Calibri"/>
              </a:rPr>
              <a:t>•   Set-valued questions — I01 interfaces, S06 ligand contacts, T01 — earn high partial credit and exact-set accuracy of 0.000. It finds most of the right residues and never quite the right set.</a:t>
            </a:r>
          </a:p>
          <a:p>
            <a:pPr>
              <a:spcAft>
                <a:spcPts val="1100"/>
              </a:spcAft>
            </a:pPr>
            <a:r>
              <a:rPr sz="1250">
                <a:solidFill>
                  <a:srgbClr val="15242E"/>
                </a:solidFill>
                <a:latin typeface="Calibri"/>
              </a:rPr>
              <a:t>•   G04 severe clash scores 0.000: it needs a global search over every atom pair.</a:t>
            </a:r>
          </a:p>
          <a:p>
            <a:pPr>
              <a:spcAft>
                <a:spcPts val="1100"/>
              </a:spcAft>
            </a:pPr>
            <a:r>
              <a:rPr sz="1250">
                <a:solidFill>
                  <a:srgbClr val="15242E"/>
                </a:solidFill>
                <a:latin typeface="Calibri"/>
              </a:rPr>
              <a:t>•   S03 burial and S04 secondary structure sit at 0.333 — these need SASA and DSSP-like reasoning, not distances.</a:t>
            </a:r>
          </a:p>
          <a:p>
            <a:pPr>
              <a:spcAft>
                <a:spcPts val="1100"/>
              </a:spcAft>
            </a:pPr>
            <a:r>
              <a:rPr sz="1250">
                <a:solidFill>
                  <a:srgbClr val="15242E"/>
                </a:solidFill>
                <a:latin typeface="Calibri"/>
              </a:rPr>
              <a:t>•   Mechanism episodes: 0.733 mean across fields, 0.000 exact. Some fields of every episode, all fields of none.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00">
                <a:solidFill>
                  <a:srgbClr val="0E7C7B"/>
                </a:solidFill>
                <a:latin typeface="Calibri"/>
              </a:rPr>
              <a:t>VALIDITY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5242E"/>
                </a:solidFill>
                <a:latin typeface="Cambria"/>
              </a:rPr>
              <a:t>The controls behaved as designed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75564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7099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42E"/>
                </a:solidFill>
                <a:latin typeface="Calibri"/>
              </a:rPr>
              <a:t>Coordinates are being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12848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7C7B"/>
                </a:solidFill>
                <a:latin typeface="Cambria"/>
              </a:rPr>
              <a:t>0.333 → 0.765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1635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E7A"/>
                </a:solidFill>
                <a:latin typeface="Calibri"/>
              </a:rPr>
              <a:t>context-only vs minimal PDB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46120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5242E"/>
                </a:solidFill>
                <a:latin typeface="Calibri"/>
              </a:rPr>
              <a:t>The mechanistic control strips the coordinates and keeps the setup. The gap is what the structure is worth — the model is not answering from recognition.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81328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1755648"/>
            <a:ext cx="237744" cy="237744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9471" y="17099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42E"/>
                </a:solidFill>
                <a:latin typeface="Calibri"/>
              </a:rPr>
              <a:t>No coordinate-frame 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212848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4FD1C5"/>
                </a:solidFill>
                <a:latin typeface="Cambria"/>
              </a:rPr>
              <a:t>0.728 vs 0.804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81635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E7A"/>
                </a:solidFill>
                <a:latin typeface="Calibri"/>
              </a:rPr>
              <a:t>primary vs alternate rotation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246120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5242E"/>
                </a:solidFill>
                <a:latin typeface="Calibri"/>
              </a:rPr>
              <a:t>Distances and contacts are invariant by construction, so any gap would be the model rather than the task. There isn't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481328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21040" y="1755648"/>
            <a:ext cx="237744" cy="23774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1" y="17099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42E"/>
                </a:solidFill>
                <a:latin typeface="Calibri"/>
              </a:rPr>
              <a:t>Format costs little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12848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8A33D"/>
                </a:solidFill>
                <a:latin typeface="Cambria"/>
              </a:rPr>
              <a:t>0.765 vs 0.696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81635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E7A"/>
                </a:solidFill>
                <a:latin typeface="Calibri"/>
              </a:rPr>
              <a:t>minimal PDB vs coordinate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46120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5242E"/>
                </a:solidFill>
                <a:latin typeface="Calibri"/>
              </a:rPr>
              <a:t>Fixed-column PDB is not the bottleneck for a capable model — though it costs 41 tokens per atom against 22 for the 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B6E7A"/>
                </a:solidFill>
                <a:latin typeface="Calibri"/>
              </a:rPr>
              <a:t>Small n — one completion per render, 20 instances in 8 protein clusters. Directions, not effect sizes.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00">
                <a:solidFill>
                  <a:srgbClr val="4FD1C5"/>
                </a:solidFill>
                <a:latin typeface="Calibri"/>
              </a:rPr>
              <a:t>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Cambria"/>
              </a:rPr>
              <a:t>The score tripled without touching the model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5943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0749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B6E7A"/>
                </a:solidFill>
                <a:latin typeface="Calibri"/>
              </a:rPr>
              <a:t>output budget per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4FD1C5"/>
                </a:solidFill>
                <a:latin typeface="Cambria"/>
              </a:rPr>
              <a:t>Truncation and inability score identically: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74320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D6E2E9"/>
                </a:solidFill>
                <a:latin typeface="Calibri"/>
              </a:rPr>
              <a:t>•   At 8k output tokens the model spent its whole budget on the reasoning trace and returned empty content for 32 of 62 renders.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D6E2E9"/>
                </a:solidFill>
                <a:latin typeface="Calibri"/>
              </a:rPr>
              <a:t>•   Truncations fell 32 → 17 → 7 as the budget rose. Seven remain at 64k, so 0.710 is still a lower bound.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D6E2E9"/>
                </a:solidFill>
                <a:latin typeface="Calibri"/>
              </a:rPr>
              <a:t>•   They concentrate in the set-valued families, where the trace grows with the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E8A33D"/>
                </a:solidFill>
                <a:latin typeface="Calibri"/>
              </a:rPr>
              <a:t>Report the truncation count next to the score, or the score means nothing.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00">
                <a:solidFill>
                  <a:srgbClr val="0E7C7B"/>
                </a:solidFill>
                <a:latin typeface="Calibri"/>
              </a:rPr>
              <a:t>HARNESS, NOT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5242E"/>
                </a:solidFill>
                <a:latin typeface="Cambria"/>
              </a:rPr>
              <a:t>Three bugs that looked exactly like model failure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1106424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956816"/>
            <a:ext cx="384048" cy="384048"/>
          </a:xfrm>
          <a:prstGeom prst="ellipse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645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242E"/>
                </a:solidFill>
                <a:latin typeface="Calibri"/>
              </a:rPr>
              <a:t>Ollama dropped `think`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011680"/>
            <a:ext cx="69494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E7A"/>
                </a:solidFill>
                <a:latin typeface="Calibri"/>
              </a:rPr>
              <a:t>Its OpenAI-compatible shim silently ignores the parameter. Qwen3 spent all 3,072 output tokens reasoning and returned empty content — 271 s per item, nothing to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Added a native ollama_chat provider.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44368"/>
            <a:ext cx="1106424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3419856"/>
            <a:ext cx="384048" cy="384048"/>
          </a:xfrm>
          <a:prstGeom prst="ellipse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1129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108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242E"/>
                </a:solidFill>
                <a:latin typeface="Calibri"/>
              </a:rPr>
              <a:t>The parser read only one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474720"/>
            <a:ext cx="69494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E7A"/>
                </a:solidFill>
                <a:latin typeface="Calibri"/>
              </a:rPr>
              <a:t>The model wrote “Final Answer:” and put the value underneath. A correctly computed number scored as a format error — measuring layout, not reasoning.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419856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The marker line may now carry only a label.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07408"/>
            <a:ext cx="1106424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882896"/>
            <a:ext cx="384048" cy="384048"/>
          </a:xfrm>
          <a:prstGeom prst="ellipse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7433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572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5242E"/>
                </a:solidFill>
                <a:latin typeface="Calibri"/>
              </a:rPr>
              <a:t>Cloudflare blocked urllib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937760"/>
            <a:ext cx="69494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E7A"/>
                </a:solidFill>
                <a:latin typeface="Calibri"/>
              </a:rPr>
              <a:t>Together sits behind a WAF that rejects the default Python-urllib agent. Every call failed 403 on a valid key, which reads as bad credentials.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882896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Send a real User-Agent.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15242E"/>
                </a:solidFill>
                <a:latin typeface="Calibri"/>
              </a:rPr>
              <a:t>All three move a score silently. They were catchable only because the runner records truncation, format errors and API errors as separate categories rather than folding them into “wrong”.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00">
                <a:solidFill>
                  <a:srgbClr val="0E7C7B"/>
                </a:solidFill>
                <a:latin typeface="Calibri"/>
              </a:rPr>
              <a:t>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5242E"/>
                </a:solidFill>
                <a:latin typeface="Cambria"/>
              </a:rPr>
              <a:t>What these numbers are not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554480"/>
            <a:ext cx="256032" cy="25603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48132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42E"/>
                </a:solidFill>
                <a:latin typeface="Calibri"/>
              </a:rPr>
              <a:t>Not curator-reviewed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481328"/>
            <a:ext cx="7635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E7A"/>
                </a:solidFill>
                <a:latin typeface="Calibri"/>
              </a:rPr>
              <a:t>The 97-instance set is proposed, not accepted. Three mechanistic episodes carry warnings where the published claim is not the top-ranked measurement.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468880"/>
            <a:ext cx="256032" cy="25603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9572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42E"/>
                </a:solidFill>
                <a:latin typeface="Calibri"/>
              </a:rPr>
              <a:t>Not the full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395728"/>
            <a:ext cx="7635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E7A"/>
                </a:solidFill>
                <a:latin typeface="Calibri"/>
              </a:rPr>
              <a:t>These runs use the 20-instance smoke set. The v1 candidate set is 97 instances across 44 protein groups.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383280"/>
            <a:ext cx="256032" cy="256032"/>
          </a:xfrm>
          <a:prstGeom prst="ellipse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31012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42E"/>
                </a:solidFill>
                <a:latin typeface="Calibri"/>
              </a:rPr>
              <a:t>Not a stable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310128"/>
            <a:ext cx="7635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E7A"/>
                </a:solidFill>
                <a:latin typeface="Calibri"/>
              </a:rPr>
              <a:t>One completion per render, 8 protein clusters. The protocol calls for three completions; run-to-run agreement is currently unmeasured.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4297680"/>
            <a:ext cx="256032" cy="256032"/>
          </a:xfrm>
          <a:prstGeom prst="ellipse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22452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42E"/>
                </a:solidFill>
                <a:latin typeface="Calibri"/>
              </a:rPr>
              <a:t>Not an upper bound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224528"/>
            <a:ext cx="7635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E7A"/>
                </a:solidFill>
                <a:latin typeface="Calibri"/>
              </a:rPr>
              <a:t>Seven renders still truncate at a 64k output budget, each scored zero.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5212080"/>
            <a:ext cx="256032" cy="256032"/>
          </a:xfrm>
          <a:prstGeom prst="ellipse">
            <a:avLst/>
          </a:prstGeom>
          <a:solidFill>
            <a:srgbClr val="5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13892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42E"/>
                </a:solidFill>
                <a:latin typeface="Calibri"/>
              </a:rPr>
              <a:t>Not contamination-controlled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5138928"/>
            <a:ext cx="7635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E7A"/>
                </a:solidFill>
                <a:latin typeface="Calibri"/>
              </a:rPr>
              <a:t>Release dates are recorded as a covariate. Most sources are decades-old structures.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00">
                <a:solidFill>
                  <a:srgbClr val="4FD1C5"/>
                </a:solidFill>
                <a:latin typeface="Calibr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Cambria"/>
              </a:rPr>
              <a:t>To turn this into a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10607040" cy="1097280"/>
          </a:xfrm>
          <a:prstGeom prst="roundRect">
            <a:avLst>
              <a:gd name="adj" fmla="val 6000"/>
            </a:avLst>
          </a:prstGeom>
          <a:solidFill>
            <a:srgbClr val="12293A"/>
          </a:solidFill>
          <a:ln w="12700">
            <a:solidFill>
              <a:srgbClr val="1D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4FD1C5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103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Curate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468880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FC3CE"/>
                </a:solidFill>
                <a:latin typeface="Calibri"/>
              </a:rPr>
              <a:t>Review the 97 candidates and rule on the three episodes whose published claim the coordinates do not rank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00400"/>
            <a:ext cx="10607040" cy="1097280"/>
          </a:xfrm>
          <a:prstGeom prst="roundRect">
            <a:avLst>
              <a:gd name="adj" fmla="val 6000"/>
            </a:avLst>
          </a:prstGeom>
          <a:solidFill>
            <a:srgbClr val="12293A"/>
          </a:solidFill>
          <a:ln w="12700">
            <a:solidFill>
              <a:srgbClr val="1D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7472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4FD1C5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383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Run the full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749039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FC3CE"/>
                </a:solidFill>
                <a:latin typeface="Calibri"/>
              </a:rPr>
              <a:t>Three completions per render on the accepted set, then the reliability subset, with agreement statistics.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480560"/>
            <a:ext cx="10607040" cy="1097280"/>
          </a:xfrm>
          <a:prstGeom prst="roundRect">
            <a:avLst>
              <a:gd name="adj" fmla="val 6000"/>
            </a:avLst>
          </a:prstGeom>
          <a:solidFill>
            <a:srgbClr val="12293A"/>
          </a:solidFill>
          <a:ln w="12700">
            <a:solidFill>
              <a:srgbClr val="1D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75488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4FD1C5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663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Widen the 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029200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FC3CE"/>
                </a:solidFill>
                <a:latin typeface="Calibri"/>
              </a:rPr>
              <a:t>Frontier models at several reasoning-effort levels, with the output budget set from the truncation count rather than guessed.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FD1C5"/>
                </a:solidFill>
                <a:latin typeface="Calibri"/>
              </a:rPr>
              <a:t>github.com/Open-Athena/pdbthink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