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spPr>
    <a:noFill/>
    <a:ln>
      <a:noFill/>
    </a:ln>
  </c:spPr>
  <c:date1904 val="0"/>
  <c:chart>
    <c:autoTitleDeleted val="1"/>
    <c:plotArea>
      <c:barChart>
        <c:barDir val="bar"/>
        <c:grouping val="clustered"/>
        <c:ser>
          <c:idx val="0"/>
          <c:order val="0"/>
          <c:tx>
            <c:strRef>
              <c:f>Sheet1!$B$1</c:f>
              <c:strCache>
                <c:ptCount val="1"/>
                <c:pt idx="0">
                  <c:v>s</c:v>
                </c:pt>
              </c:strCache>
            </c:strRef>
          </c:tx>
          <c:dPt>
            <c:idx val="0"/>
            <c:spPr>
              <a:solidFill>
                <a:srgbClr val="0E7C7B"/>
              </a:solidFill>
              <a:ln>
                <a:noFill/>
              </a:ln>
            </c:spPr>
          </c:dPt>
          <c:dPt>
            <c:idx val="1"/>
            <c:spPr>
              <a:solidFill>
                <a:srgbClr val="0E7C7B"/>
              </a:solidFill>
              <a:ln>
                <a:noFill/>
              </a:ln>
            </c:spPr>
          </c:dPt>
          <c:dPt>
            <c:idx val="2"/>
            <c:spPr>
              <a:solidFill>
                <a:srgbClr val="0E7C7B"/>
              </a:solidFill>
              <a:ln>
                <a:noFill/>
              </a:ln>
            </c:spPr>
          </c:dPt>
          <c:dPt>
            <c:idx val="3"/>
            <c:spPr>
              <a:solidFill>
                <a:srgbClr val="0E7C7B"/>
              </a:solidFill>
              <a:ln>
                <a:noFill/>
              </a:ln>
            </c:spPr>
          </c:dPt>
          <c:dPt>
            <c:idx val="4"/>
            <c:spPr>
              <a:solidFill>
                <a:srgbClr val="0E7C7B"/>
              </a:solidFill>
              <a:ln>
                <a:noFill/>
              </a:ln>
            </c:spPr>
          </c:dPt>
          <c:dPt>
            <c:idx val="5"/>
            <c:spPr>
              <a:solidFill>
                <a:srgbClr val="0E7C7B"/>
              </a:solidFill>
              <a:ln>
                <a:noFill/>
              </a:ln>
            </c:spPr>
          </c:dPt>
          <c:dPt>
            <c:idx val="6"/>
            <c:spPr>
              <a:solidFill>
                <a:srgbClr val="0E7C7B"/>
              </a:solidFill>
              <a:ln>
                <a:noFill/>
              </a:ln>
            </c:spPr>
          </c:dPt>
          <c:cat>
            <c:strRef>
              <c:f>Sheet1!$A$2:$A$8</c:f>
              <c:strCache>
                <c:ptCount val="7"/>
                <c:pt idx="0">
                  <c:v>gpt-oss-20b</c:v>
                </c:pt>
                <c:pt idx="1">
                  <c:v>gpt-oss-120b</c:v>
                </c:pt>
                <c:pt idx="2">
                  <c:v>Qwen3.5 9B</c:v>
                </c:pt>
                <c:pt idx="3">
                  <c:v>MiniMax M3</c:v>
                </c:pt>
                <c:pt idx="4">
                  <c:v>Gemma 4 31B</c:v>
                </c:pt>
                <c:pt idx="5">
                  <c:v>DeepSeek V4 Flash</c:v>
                </c:pt>
                <c:pt idx="6">
                  <c:v>Kimi K3</c:v>
                </c:pt>
              </c:strCache>
            </c:strRef>
          </c:cat>
          <c:val>
            <c:numRef>
              <c:f>Sheet1!$B$2:$B$8</c:f>
              <c:numCache>
                <c:formatCode>General</c:formatCode>
                <c:ptCount val="7"/>
                <c:pt idx="0">
                  <c:v>0.17310399969704482</c:v>
                </c:pt>
                <c:pt idx="1">
                  <c:v>0.2448671878635581</c:v>
                </c:pt>
                <c:pt idx="2">
                  <c:v>0.30988786067733437</c:v>
                </c:pt>
                <c:pt idx="3">
                  <c:v>0.44746920988368355</c:v>
                </c:pt>
                <c:pt idx="4">
                  <c:v>0.5769442968881824</c:v>
                </c:pt>
                <c:pt idx="5">
                  <c:v>0.5916397944817953</c:v>
                </c:pt>
                <c:pt idx="6">
                  <c:v>0.6677149581830033</c:v>
                </c:pt>
              </c:numCache>
            </c:numRef>
          </c:val>
        </c:ser>
        <c:dLbls>
          <c:numFmt formatCode="0.00" sourceLinked="0"/>
          <c:txPr>
            <a:bodyPr/>
            <a:lstStyle/>
            <a:p>
              <a:pPr>
                <a:defRPr sz="1100" b="1">
                  <a:solidFill>
                    <a:srgbClr val="AFC3CE"/>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solidFill>
                  <a:srgbClr val="AFC3CE"/>
                </a:solidFill>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spPr>
    <a:noFill/>
    <a:ln>
      <a:noFill/>
    </a:ln>
  </c:spPr>
  <c:date1904 val="0"/>
  <c:chart>
    <c:autoTitleDeleted val="1"/>
    <c:plotArea>
      <c:barChart>
        <c:barDir val="bar"/>
        <c:grouping val="clustered"/>
        <c:ser>
          <c:idx val="0"/>
          <c:order val="0"/>
          <c:tx>
            <c:strRef>
              <c:f>Sheet1!$B$1</c:f>
              <c:strCache>
                <c:ptCount val="1"/>
                <c:pt idx="0">
                  <c:v>s</c:v>
                </c:pt>
              </c:strCache>
            </c:strRef>
          </c:tx>
          <c:dPt>
            <c:idx val="0"/>
            <c:spPr>
              <a:solidFill>
                <a:srgbClr val="4FD1C5"/>
              </a:solidFill>
              <a:ln>
                <a:noFill/>
              </a:ln>
            </c:spPr>
          </c:dPt>
          <c:dPt>
            <c:idx val="1"/>
            <c:spPr>
              <a:solidFill>
                <a:srgbClr val="4FD1C5"/>
              </a:solidFill>
              <a:ln>
                <a:noFill/>
              </a:ln>
            </c:spPr>
          </c:dPt>
          <c:dPt>
            <c:idx val="2"/>
            <c:spPr>
              <a:solidFill>
                <a:srgbClr val="4FD1C5"/>
              </a:solidFill>
              <a:ln>
                <a:noFill/>
              </a:ln>
            </c:spPr>
          </c:dPt>
          <c:dPt>
            <c:idx val="3"/>
            <c:spPr>
              <a:solidFill>
                <a:srgbClr val="4FD1C5"/>
              </a:solidFill>
              <a:ln>
                <a:noFill/>
              </a:ln>
            </c:spPr>
          </c:dPt>
          <c:dPt>
            <c:idx val="4"/>
            <c:spPr>
              <a:solidFill>
                <a:srgbClr val="4FD1C5"/>
              </a:solidFill>
              <a:ln>
                <a:noFill/>
              </a:ln>
            </c:spPr>
          </c:dPt>
          <c:dPt>
            <c:idx val="5"/>
            <c:spPr>
              <a:solidFill>
                <a:srgbClr val="4FD1C5"/>
              </a:solidFill>
              <a:ln>
                <a:noFill/>
              </a:ln>
            </c:spPr>
          </c:dPt>
          <c:dPt>
            <c:idx val="6"/>
            <c:spPr>
              <a:solidFill>
                <a:srgbClr val="4FD1C5"/>
              </a:solidFill>
              <a:ln>
                <a:noFill/>
              </a:ln>
            </c:spPr>
          </c:dPt>
          <c:cat>
            <c:strRef>
              <c:f>Sheet1!$A$2:$A$8</c:f>
              <c:strCache>
                <c:ptCount val="7"/>
                <c:pt idx="0">
                  <c:v>gpt-oss-20b</c:v>
                </c:pt>
                <c:pt idx="1">
                  <c:v>gpt-oss-120b</c:v>
                </c:pt>
                <c:pt idx="2">
                  <c:v>Qwen3.5 9B</c:v>
                </c:pt>
                <c:pt idx="3">
                  <c:v>MiniMax M3</c:v>
                </c:pt>
                <c:pt idx="4">
                  <c:v>Gemma 4 31B</c:v>
                </c:pt>
                <c:pt idx="5">
                  <c:v>DeepSeek V4 Flash</c:v>
                </c:pt>
                <c:pt idx="6">
                  <c:v>Kimi K3</c:v>
                </c:pt>
              </c:strCache>
            </c:strRef>
          </c:cat>
          <c:val>
            <c:numRef>
              <c:f>Sheet1!$B$2:$B$8</c:f>
              <c:numCache>
                <c:formatCode>General</c:formatCode>
                <c:ptCount val="7"/>
                <c:pt idx="0">
                  <c:v>0.24594626404567926</c:v>
                </c:pt>
                <c:pt idx="1">
                  <c:v>0.258462930669071</c:v>
                </c:pt>
                <c:pt idx="2">
                  <c:v>0.5787606837606838</c:v>
                </c:pt>
                <c:pt idx="3">
                  <c:v>0.7552889576883385</c:v>
                </c:pt>
                <c:pt idx="4">
                  <c:v>0.7364705583087936</c:v>
                </c:pt>
                <c:pt idx="5">
                  <c:v>0.7613035280461856</c:v>
                </c:pt>
                <c:pt idx="6">
                  <c:v>0.8394739942523876</c:v>
                </c:pt>
              </c:numCache>
            </c:numRef>
          </c:val>
        </c:ser>
        <c:dLbls>
          <c:numFmt formatCode="0.00" sourceLinked="0"/>
          <c:txPr>
            <a:bodyPr/>
            <a:lstStyle/>
            <a:p>
              <a:pPr>
                <a:defRPr sz="1100" b="1">
                  <a:solidFill>
                    <a:srgbClr val="4FD1C5"/>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solidFill>
                  <a:srgbClr val="AFC3CE"/>
                </a:solidFill>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7315200" cy="822960"/>
          </a:xfrm>
          <a:prstGeom prst="rect">
            <a:avLst/>
          </a:prstGeom>
          <a:noFill/>
        </p:spPr>
        <p:txBody>
          <a:bodyPr wrap="square" lIns="0" rIns="0" tIns="0" bIns="0" anchor="t">
            <a:spAutoFit/>
          </a:bodyPr>
          <a:lstStyle/>
          <a:p>
            <a:pPr algn="l">
              <a:spcAft>
                <a:spcPts val="0"/>
              </a:spcAft>
            </a:pPr>
            <a:r>
              <a:rPr sz="5200" b="1" i="0">
                <a:solidFill>
                  <a:srgbClr val="FFFFFF"/>
                </a:solidFill>
                <a:latin typeface="Cambria"/>
              </a:rPr>
              <a:t>pdbthink</a:t>
            </a:r>
          </a:p>
        </p:txBody>
      </p:sp>
      <p:sp>
        <p:nvSpPr>
          <p:cNvPr id="4" name="TextBox 3"/>
          <p:cNvSpPr txBox="1"/>
          <p:nvPr/>
        </p:nvSpPr>
        <p:spPr>
          <a:xfrm>
            <a:off x="822960" y="2834640"/>
            <a:ext cx="8229600" cy="457200"/>
          </a:xfrm>
          <a:prstGeom prst="rect">
            <a:avLst/>
          </a:prstGeom>
          <a:noFill/>
        </p:spPr>
        <p:txBody>
          <a:bodyPr wrap="square" lIns="0" rIns="0" tIns="0" bIns="0" anchor="t">
            <a:spAutoFit/>
          </a:bodyPr>
          <a:lstStyle/>
          <a:p>
            <a:pPr algn="l">
              <a:spcAft>
                <a:spcPts val="0"/>
              </a:spcAft>
            </a:pPr>
            <a:r>
              <a:rPr sz="2100" b="0" i="0">
                <a:solidFill>
                  <a:srgbClr val="4FD1C5"/>
                </a:solidFill>
                <a:latin typeface="Calibri"/>
              </a:rPr>
              <a:t>Tool-free reasoning over protein structures</a:t>
            </a:r>
          </a:p>
        </p:txBody>
      </p:sp>
      <p:sp>
        <p:nvSpPr>
          <p:cNvPr id="5" name="TextBox 4"/>
          <p:cNvSpPr txBox="1"/>
          <p:nvPr/>
        </p:nvSpPr>
        <p:spPr>
          <a:xfrm>
            <a:off x="822960" y="3611880"/>
            <a:ext cx="9144000" cy="822960"/>
          </a:xfrm>
          <a:prstGeom prst="rect">
            <a:avLst/>
          </a:prstGeom>
          <a:noFill/>
        </p:spPr>
        <p:txBody>
          <a:bodyPr wrap="square" lIns="0" rIns="0" tIns="0" bIns="0" anchor="t">
            <a:spAutoFit/>
          </a:bodyPr>
          <a:lstStyle/>
          <a:p>
            <a:pPr algn="l">
              <a:spcAft>
                <a:spcPts val="600"/>
              </a:spcAft>
            </a:pPr>
            <a:r>
              <a:rPr sz="1400" b="0" i="0">
                <a:solidFill>
                  <a:srgbClr val="AFC3CE"/>
                </a:solidFill>
                <a:latin typeface="Calibri"/>
              </a:rPr>
              <a:t>117 semantic instances  |  20 question families  |  49 protein groups</a:t>
            </a:r>
          </a:p>
          <a:p>
            <a:pPr algn="l">
              <a:spcAft>
                <a:spcPts val="600"/>
              </a:spcAft>
            </a:pPr>
            <a:r>
              <a:rPr sz="1400" b="0" i="0">
                <a:solidFill>
                  <a:srgbClr val="AFC3CE"/>
                </a:solidFill>
                <a:latin typeface="Calibri"/>
              </a:rPr>
              <a:t>59% of instances on structures released after 2023-01</a:t>
            </a:r>
          </a:p>
        </p:txBody>
      </p:sp>
      <p:sp>
        <p:nvSpPr>
          <p:cNvPr id="6" name="TextBox 5"/>
          <p:cNvSpPr txBox="1"/>
          <p:nvPr/>
        </p:nvSpPr>
        <p:spPr>
          <a:xfrm>
            <a:off x="822960" y="5943600"/>
            <a:ext cx="7315200" cy="274320"/>
          </a:xfrm>
          <a:prstGeom prst="rect">
            <a:avLst/>
          </a:prstGeom>
          <a:noFill/>
        </p:spPr>
        <p:txBody>
          <a:bodyPr wrap="square" lIns="0" rIns="0" tIns="0" bIns="0" anchor="t">
            <a:spAutoFit/>
          </a:bodyPr>
          <a:lstStyle/>
          <a:p>
            <a:pPr algn="l">
              <a:spcAft>
                <a:spcPts val="0"/>
              </a:spcAft>
            </a:pPr>
            <a:r>
              <a:rPr sz="1200" b="0" i="0">
                <a:solidFill>
                  <a:srgbClr val="0E7C7B"/>
                </a:solidFill>
                <a:latin typeface="Consolas"/>
              </a:rPr>
              <a:t>github.com/Open-Athena/pdbthink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4FD1C5"/>
                </a:solidFill>
                <a:latin typeface="Calibri"/>
              </a:rPr>
              <a:t>THE FINDING</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The scores are output budgets, not capabilities</a:t>
            </a:r>
          </a:p>
        </p:txBody>
      </p:sp>
      <p:sp>
        <p:nvSpPr>
          <p:cNvPr id="5" name="TextBox 4"/>
          <p:cNvSpPr txBox="1"/>
          <p:nvPr/>
        </p:nvSpPr>
        <p:spPr>
          <a:xfrm>
            <a:off x="822960" y="1783080"/>
            <a:ext cx="5943600" cy="1371600"/>
          </a:xfrm>
          <a:prstGeom prst="rect">
            <a:avLst/>
          </a:prstGeom>
          <a:noFill/>
        </p:spPr>
        <p:txBody>
          <a:bodyPr wrap="square" lIns="0" rIns="0" tIns="0" bIns="0" anchor="t">
            <a:spAutoFit/>
          </a:bodyPr>
          <a:lstStyle/>
          <a:p>
            <a:pPr algn="l">
              <a:spcAft>
                <a:spcPts val="800"/>
              </a:spcAft>
            </a:pPr>
            <a:r>
              <a:rPr sz="1700" b="0" i="0">
                <a:solidFill>
                  <a:srgbClr val="AFC3CE"/>
                </a:solidFill>
                <a:latin typeface="Calibri"/>
              </a:rPr>
              <a:t>Kimi K3 scores 0.668 across the 20 families.</a:t>
            </a:r>
          </a:p>
          <a:p>
            <a:pPr algn="l">
              <a:spcAft>
                <a:spcPts val="800"/>
              </a:spcAft>
            </a:pPr>
            <a:r>
              <a:rPr sz="1700" b="0" i="0">
                <a:solidFill>
                  <a:srgbClr val="AFC3CE"/>
                </a:solidFill>
                <a:latin typeface="Calibri"/>
              </a:rPr>
              <a:t/>
            </a:r>
          </a:p>
          <a:p>
            <a:pPr algn="l">
              <a:spcAft>
                <a:spcPts val="800"/>
              </a:spcAft>
            </a:pPr>
            <a:r>
              <a:rPr sz="1700" b="0" i="0">
                <a:solidFill>
                  <a:srgbClr val="AFC3CE"/>
                </a:solidFill>
                <a:latin typeface="Calibri"/>
              </a:rPr>
              <a:t>Restricted to responses that finished: 0.839.</a:t>
            </a:r>
          </a:p>
        </p:txBody>
      </p:sp>
      <p:sp>
        <p:nvSpPr>
          <p:cNvPr id="6" name="TextBox 5"/>
          <p:cNvSpPr txBox="1"/>
          <p:nvPr/>
        </p:nvSpPr>
        <p:spPr>
          <a:xfrm>
            <a:off x="822960" y="3383280"/>
            <a:ext cx="5943600" cy="2468880"/>
          </a:xfrm>
          <a:prstGeom prst="rect">
            <a:avLst/>
          </a:prstGeom>
          <a:noFill/>
        </p:spPr>
        <p:txBody>
          <a:bodyPr wrap="square" lIns="0" rIns="0" tIns="0" bIns="0" anchor="t">
            <a:spAutoFit/>
          </a:bodyPr>
          <a:lstStyle/>
          <a:p>
            <a:pPr algn="l">
              <a:spcAft>
                <a:spcPts val="300"/>
              </a:spcAft>
            </a:pPr>
            <a:r>
              <a:rPr sz="1350" b="0" i="0">
                <a:solidFill>
                  <a:srgbClr val="AFC3CE"/>
                </a:solidFill>
                <a:latin typeface="Calibri"/>
              </a:rPr>
              <a:t>Truncation and inability score identically — zero.</a:t>
            </a:r>
          </a:p>
          <a:p>
            <a:pPr algn="l">
              <a:spcAft>
                <a:spcPts val="300"/>
              </a:spcAft>
            </a:pPr>
            <a:r>
              <a:rPr sz="1350" b="0" i="0">
                <a:solidFill>
                  <a:srgbClr val="AFC3CE"/>
                </a:solidFill>
                <a:latin typeface="Calibri"/>
              </a:rPr>
              <a:t/>
            </a:r>
          </a:p>
          <a:p>
            <a:pPr algn="l">
              <a:spcAft>
                <a:spcPts val="300"/>
              </a:spcAft>
            </a:pPr>
            <a:r>
              <a:rPr sz="1350" b="0" i="0">
                <a:solidFill>
                  <a:srgbClr val="AFC3CE"/>
                </a:solidFill>
                <a:latin typeface="Calibri"/>
              </a:rPr>
              <a:t>In every family where this model scores badly, the format-error</a:t>
            </a:r>
          </a:p>
          <a:p>
            <a:pPr algn="l">
              <a:spcAft>
                <a:spcPts val="300"/>
              </a:spcAft>
            </a:pPr>
            <a:r>
              <a:rPr sz="1350" b="0" i="0">
                <a:solidFill>
                  <a:srgbClr val="AFC3CE"/>
                </a:solidFill>
                <a:latin typeface="Calibri"/>
              </a:rPr>
              <a:t>count equals the truncation count. It is not failing to reason</a:t>
            </a:r>
          </a:p>
          <a:p>
            <a:pPr algn="l">
              <a:spcAft>
                <a:spcPts val="300"/>
              </a:spcAft>
            </a:pPr>
            <a:r>
              <a:rPr sz="1350" b="0" i="0">
                <a:solidFill>
                  <a:srgbClr val="AFC3CE"/>
                </a:solidFill>
                <a:latin typeface="Calibri"/>
              </a:rPr>
              <a:t>about interfaces; it never finished writing the answer.</a:t>
            </a:r>
          </a:p>
          <a:p>
            <a:pPr algn="l">
              <a:spcAft>
                <a:spcPts val="300"/>
              </a:spcAft>
            </a:pPr>
            <a:r>
              <a:rPr sz="1350" b="0" i="0">
                <a:solidFill>
                  <a:srgbClr val="AFC3CE"/>
                </a:solidFill>
                <a:latin typeface="Calibri"/>
              </a:rPr>
              <a:t/>
            </a:r>
          </a:p>
          <a:p>
            <a:pPr algn="l">
              <a:spcAft>
                <a:spcPts val="300"/>
              </a:spcAft>
            </a:pPr>
            <a:r>
              <a:rPr sz="1350" b="0" i="0">
                <a:solidFill>
                  <a:srgbClr val="AFC3CE"/>
                </a:solidFill>
                <a:latin typeface="Calibri"/>
              </a:rPr>
              <a:t>A benchmark of reasoning models that does not report truncation</a:t>
            </a:r>
          </a:p>
          <a:p>
            <a:pPr algn="l">
              <a:spcAft>
                <a:spcPts val="300"/>
              </a:spcAft>
            </a:pPr>
            <a:r>
              <a:rPr sz="1350" b="0" i="0">
                <a:solidFill>
                  <a:srgbClr val="AFC3CE"/>
                </a:solidFill>
                <a:latin typeface="Calibri"/>
              </a:rPr>
              <a:t>separately is reporting an output budget.</a:t>
            </a:r>
          </a:p>
        </p:txBody>
      </p:sp>
      <p:sp>
        <p:nvSpPr>
          <p:cNvPr id="7" name="TextBox 6"/>
          <p:cNvSpPr txBox="1"/>
          <p:nvPr/>
        </p:nvSpPr>
        <p:spPr>
          <a:xfrm>
            <a:off x="7178040" y="1463040"/>
            <a:ext cx="3657600" cy="228600"/>
          </a:xfrm>
          <a:prstGeom prst="rect">
            <a:avLst/>
          </a:prstGeom>
          <a:noFill/>
        </p:spPr>
        <p:txBody>
          <a:bodyPr wrap="square" lIns="0" rIns="0" tIns="0" bIns="0" anchor="t">
            <a:spAutoFit/>
          </a:bodyPr>
          <a:lstStyle/>
          <a:p>
            <a:pPr algn="l">
              <a:spcAft>
                <a:spcPts val="0"/>
              </a:spcAft>
            </a:pPr>
            <a:r>
              <a:rPr sz="1050" b="1" i="0" spc="120">
                <a:solidFill>
                  <a:srgbClr val="5B6E7A"/>
                </a:solidFill>
                <a:latin typeface="Calibri"/>
              </a:rPr>
              <a:t>AS SCORED</a:t>
            </a:r>
          </a:p>
        </p:txBody>
      </p:sp>
      <p:graphicFrame>
        <p:nvGraphicFramePr>
          <p:cNvPr id="8" name="Chart 7"/>
          <p:cNvGraphicFramePr>
            <a:graphicFrameLocks noGrp="1"/>
          </p:cNvGraphicFramePr>
          <p:nvPr/>
        </p:nvGraphicFramePr>
        <p:xfrm>
          <a:off x="6949440" y="1691640"/>
          <a:ext cx="4572000" cy="1920240"/>
        </p:xfrm>
        <a:graphic>
          <a:graphicData uri="http://schemas.openxmlformats.org/drawingml/2006/chart">
            <c:chart xmlns:c="http://schemas.openxmlformats.org/drawingml/2006/chart" r:id="rId2"/>
          </a:graphicData>
        </a:graphic>
      </p:graphicFrame>
      <p:sp>
        <p:nvSpPr>
          <p:cNvPr id="9" name="TextBox 8"/>
          <p:cNvSpPr txBox="1"/>
          <p:nvPr/>
        </p:nvSpPr>
        <p:spPr>
          <a:xfrm>
            <a:off x="7178040" y="3840480"/>
            <a:ext cx="4114800" cy="228600"/>
          </a:xfrm>
          <a:prstGeom prst="rect">
            <a:avLst/>
          </a:prstGeom>
          <a:noFill/>
        </p:spPr>
        <p:txBody>
          <a:bodyPr wrap="square" lIns="0" rIns="0" tIns="0" bIns="0" anchor="t">
            <a:spAutoFit/>
          </a:bodyPr>
          <a:lstStyle/>
          <a:p>
            <a:pPr algn="l">
              <a:spcAft>
                <a:spcPts val="0"/>
              </a:spcAft>
            </a:pPr>
            <a:r>
              <a:rPr sz="1050" b="1" i="0" spc="120">
                <a:solidFill>
                  <a:srgbClr val="4FD1C5"/>
                </a:solidFill>
                <a:latin typeface="Calibri"/>
              </a:rPr>
              <a:t>COMPLETED RESPONSES ONLY</a:t>
            </a:r>
          </a:p>
        </p:txBody>
      </p:sp>
      <p:graphicFrame>
        <p:nvGraphicFramePr>
          <p:cNvPr id="10" name="Chart 9"/>
          <p:cNvGraphicFramePr>
            <a:graphicFrameLocks noGrp="1"/>
          </p:cNvGraphicFramePr>
          <p:nvPr/>
        </p:nvGraphicFramePr>
        <p:xfrm>
          <a:off x="6949440" y="4069080"/>
          <a:ext cx="4572000" cy="1920240"/>
        </p:xfrm>
        <a:graphic>
          <a:graphicData uri="http://schemas.openxmlformats.org/drawingml/2006/chart">
            <c:chart xmlns:c="http://schemas.openxmlformats.org/drawingml/2006/chart" r:id="rId3"/>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4FD1C5"/>
                </a:solidFill>
                <a:latin typeface="Calibri"/>
              </a:rPr>
              <a:t>THE EXPERIMENT</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Give the cut-off answers more room</a:t>
            </a:r>
          </a:p>
        </p:txBody>
      </p:sp>
      <p:sp>
        <p:nvSpPr>
          <p:cNvPr id="5" name="TextBox 4"/>
          <p:cNvSpPr txBox="1"/>
          <p:nvPr/>
        </p:nvSpPr>
        <p:spPr>
          <a:xfrm>
            <a:off x="822960" y="1691640"/>
            <a:ext cx="10515600" cy="548640"/>
          </a:xfrm>
          <a:prstGeom prst="rect">
            <a:avLst/>
          </a:prstGeom>
          <a:noFill/>
        </p:spPr>
        <p:txBody>
          <a:bodyPr wrap="square" lIns="0" rIns="0" tIns="0" bIns="0" anchor="t">
            <a:spAutoFit/>
          </a:bodyPr>
          <a:lstStyle/>
          <a:p>
            <a:pPr algn="l">
              <a:spcAft>
                <a:spcPts val="0"/>
              </a:spcAft>
            </a:pPr>
            <a:r>
              <a:rPr sz="1400" b="0" i="0">
                <a:solidFill>
                  <a:srgbClr val="AFC3CE"/>
                </a:solidFill>
                <a:latin typeface="Calibri"/>
              </a:rPr>
              <a:t>Every prompt below scored exactly 0.000 the first time, because the response hit the output cap before reaching a FINAL line. Re-run at a larger budget, unchanged in every other respect:</a:t>
            </a:r>
          </a:p>
        </p:txBody>
      </p:sp>
      <p:sp>
        <p:nvSpPr>
          <p:cNvPr id="6" name="TextBox 5"/>
          <p:cNvSpPr txBox="1"/>
          <p:nvPr/>
        </p:nvSpPr>
        <p:spPr>
          <a:xfrm>
            <a:off x="86868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MODEL</a:t>
            </a:r>
          </a:p>
        </p:txBody>
      </p:sp>
      <p:sp>
        <p:nvSpPr>
          <p:cNvPr id="7" name="TextBox 6"/>
          <p:cNvSpPr txBox="1"/>
          <p:nvPr/>
        </p:nvSpPr>
        <p:spPr>
          <a:xfrm>
            <a:off x="361188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PROMPTS</a:t>
            </a:r>
          </a:p>
        </p:txBody>
      </p:sp>
      <p:sp>
        <p:nvSpPr>
          <p:cNvPr id="8" name="TextBox 7"/>
          <p:cNvSpPr txBox="1"/>
          <p:nvPr/>
        </p:nvSpPr>
        <p:spPr>
          <a:xfrm>
            <a:off x="480060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BUDGET</a:t>
            </a:r>
          </a:p>
        </p:txBody>
      </p:sp>
      <p:sp>
        <p:nvSpPr>
          <p:cNvPr id="9" name="TextBox 8"/>
          <p:cNvSpPr txBox="1"/>
          <p:nvPr/>
        </p:nvSpPr>
        <p:spPr>
          <a:xfrm>
            <a:off x="626364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BEFORE</a:t>
            </a:r>
          </a:p>
        </p:txBody>
      </p:sp>
      <p:sp>
        <p:nvSpPr>
          <p:cNvPr id="10" name="TextBox 9"/>
          <p:cNvSpPr txBox="1"/>
          <p:nvPr/>
        </p:nvSpPr>
        <p:spPr>
          <a:xfrm>
            <a:off x="754380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AFTER</a:t>
            </a:r>
          </a:p>
        </p:txBody>
      </p:sp>
      <p:sp>
        <p:nvSpPr>
          <p:cNvPr id="11" name="TextBox 10"/>
          <p:cNvSpPr txBox="1"/>
          <p:nvPr/>
        </p:nvSpPr>
        <p:spPr>
          <a:xfrm>
            <a:off x="891540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STILL CUT OFF</a:t>
            </a:r>
          </a:p>
        </p:txBody>
      </p:sp>
      <p:sp>
        <p:nvSpPr>
          <p:cNvPr id="12" name="TextBox 11"/>
          <p:cNvSpPr txBox="1"/>
          <p:nvPr/>
        </p:nvSpPr>
        <p:spPr>
          <a:xfrm>
            <a:off x="868680" y="2880360"/>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Kimi K3</a:t>
            </a:r>
          </a:p>
        </p:txBody>
      </p:sp>
      <p:sp>
        <p:nvSpPr>
          <p:cNvPr id="13" name="TextBox 12"/>
          <p:cNvSpPr txBox="1"/>
          <p:nvPr/>
        </p:nvSpPr>
        <p:spPr>
          <a:xfrm>
            <a:off x="3611880" y="28803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63</a:t>
            </a:r>
          </a:p>
        </p:txBody>
      </p:sp>
      <p:sp>
        <p:nvSpPr>
          <p:cNvPr id="14" name="TextBox 13"/>
          <p:cNvSpPr txBox="1"/>
          <p:nvPr/>
        </p:nvSpPr>
        <p:spPr>
          <a:xfrm>
            <a:off x="4800600" y="28803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64k</a:t>
            </a:r>
          </a:p>
        </p:txBody>
      </p:sp>
      <p:sp>
        <p:nvSpPr>
          <p:cNvPr id="15" name="TextBox 14"/>
          <p:cNvSpPr txBox="1"/>
          <p:nvPr/>
        </p:nvSpPr>
        <p:spPr>
          <a:xfrm>
            <a:off x="6263640" y="2880360"/>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16" name="TextBox 15"/>
          <p:cNvSpPr txBox="1"/>
          <p:nvPr/>
        </p:nvSpPr>
        <p:spPr>
          <a:xfrm>
            <a:off x="7543800" y="2880360"/>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0.644</a:t>
            </a:r>
          </a:p>
        </p:txBody>
      </p:sp>
      <p:sp>
        <p:nvSpPr>
          <p:cNvPr id="17" name="TextBox 16"/>
          <p:cNvSpPr txBox="1"/>
          <p:nvPr/>
        </p:nvSpPr>
        <p:spPr>
          <a:xfrm>
            <a:off x="8915400" y="2880360"/>
            <a:ext cx="146304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15/63</a:t>
            </a:r>
          </a:p>
        </p:txBody>
      </p:sp>
      <p:sp>
        <p:nvSpPr>
          <p:cNvPr id="18" name="TextBox 17"/>
          <p:cNvSpPr txBox="1"/>
          <p:nvPr/>
        </p:nvSpPr>
        <p:spPr>
          <a:xfrm>
            <a:off x="868680" y="3282696"/>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MiniMax M3</a:t>
            </a:r>
          </a:p>
        </p:txBody>
      </p:sp>
      <p:sp>
        <p:nvSpPr>
          <p:cNvPr id="19" name="TextBox 18"/>
          <p:cNvSpPr txBox="1"/>
          <p:nvPr/>
        </p:nvSpPr>
        <p:spPr>
          <a:xfrm>
            <a:off x="3611880" y="3282696"/>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35</a:t>
            </a:r>
          </a:p>
        </p:txBody>
      </p:sp>
      <p:sp>
        <p:nvSpPr>
          <p:cNvPr id="20" name="TextBox 19"/>
          <p:cNvSpPr txBox="1"/>
          <p:nvPr/>
        </p:nvSpPr>
        <p:spPr>
          <a:xfrm>
            <a:off x="4800600" y="3282696"/>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128k</a:t>
            </a:r>
          </a:p>
        </p:txBody>
      </p:sp>
      <p:sp>
        <p:nvSpPr>
          <p:cNvPr id="21" name="TextBox 20"/>
          <p:cNvSpPr txBox="1"/>
          <p:nvPr/>
        </p:nvSpPr>
        <p:spPr>
          <a:xfrm>
            <a:off x="6263640" y="3282696"/>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22" name="TextBox 21"/>
          <p:cNvSpPr txBox="1"/>
          <p:nvPr/>
        </p:nvSpPr>
        <p:spPr>
          <a:xfrm>
            <a:off x="7543800" y="3282696"/>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0.591</a:t>
            </a:r>
          </a:p>
        </p:txBody>
      </p:sp>
      <p:sp>
        <p:nvSpPr>
          <p:cNvPr id="23" name="TextBox 22"/>
          <p:cNvSpPr txBox="1"/>
          <p:nvPr/>
        </p:nvSpPr>
        <p:spPr>
          <a:xfrm>
            <a:off x="8915400" y="3282696"/>
            <a:ext cx="146304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4/35</a:t>
            </a:r>
          </a:p>
        </p:txBody>
      </p:sp>
      <p:sp>
        <p:nvSpPr>
          <p:cNvPr id="24" name="TextBox 23"/>
          <p:cNvSpPr txBox="1"/>
          <p:nvPr/>
        </p:nvSpPr>
        <p:spPr>
          <a:xfrm>
            <a:off x="868680" y="3685032"/>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Qwen3.5 9B</a:t>
            </a:r>
          </a:p>
        </p:txBody>
      </p:sp>
      <p:sp>
        <p:nvSpPr>
          <p:cNvPr id="25" name="TextBox 24"/>
          <p:cNvSpPr txBox="1"/>
          <p:nvPr/>
        </p:nvSpPr>
        <p:spPr>
          <a:xfrm>
            <a:off x="3611880" y="3685032"/>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30</a:t>
            </a:r>
          </a:p>
        </p:txBody>
      </p:sp>
      <p:sp>
        <p:nvSpPr>
          <p:cNvPr id="26" name="TextBox 25"/>
          <p:cNvSpPr txBox="1"/>
          <p:nvPr/>
        </p:nvSpPr>
        <p:spPr>
          <a:xfrm>
            <a:off x="4800600" y="3685032"/>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128k</a:t>
            </a:r>
          </a:p>
        </p:txBody>
      </p:sp>
      <p:sp>
        <p:nvSpPr>
          <p:cNvPr id="27" name="TextBox 26"/>
          <p:cNvSpPr txBox="1"/>
          <p:nvPr/>
        </p:nvSpPr>
        <p:spPr>
          <a:xfrm>
            <a:off x="6263640" y="3685032"/>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28" name="TextBox 27"/>
          <p:cNvSpPr txBox="1"/>
          <p:nvPr/>
        </p:nvSpPr>
        <p:spPr>
          <a:xfrm>
            <a:off x="7543800" y="3685032"/>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0.450</a:t>
            </a:r>
          </a:p>
        </p:txBody>
      </p:sp>
      <p:sp>
        <p:nvSpPr>
          <p:cNvPr id="29" name="TextBox 28"/>
          <p:cNvSpPr txBox="1"/>
          <p:nvPr/>
        </p:nvSpPr>
        <p:spPr>
          <a:xfrm>
            <a:off x="8915400" y="3685032"/>
            <a:ext cx="146304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0/30</a:t>
            </a:r>
          </a:p>
        </p:txBody>
      </p:sp>
      <p:sp>
        <p:nvSpPr>
          <p:cNvPr id="30" name="TextBox 29"/>
          <p:cNvSpPr txBox="1"/>
          <p:nvPr/>
        </p:nvSpPr>
        <p:spPr>
          <a:xfrm>
            <a:off x="868680" y="4087368"/>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gpt-oss-120b</a:t>
            </a:r>
          </a:p>
        </p:txBody>
      </p:sp>
      <p:sp>
        <p:nvSpPr>
          <p:cNvPr id="31" name="TextBox 30"/>
          <p:cNvSpPr txBox="1"/>
          <p:nvPr/>
        </p:nvSpPr>
        <p:spPr>
          <a:xfrm>
            <a:off x="3611880" y="4087368"/>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10</a:t>
            </a:r>
          </a:p>
        </p:txBody>
      </p:sp>
      <p:sp>
        <p:nvSpPr>
          <p:cNvPr id="32" name="TextBox 31"/>
          <p:cNvSpPr txBox="1"/>
          <p:nvPr/>
        </p:nvSpPr>
        <p:spPr>
          <a:xfrm>
            <a:off x="4800600" y="4087368"/>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40k</a:t>
            </a:r>
          </a:p>
        </p:txBody>
      </p:sp>
      <p:sp>
        <p:nvSpPr>
          <p:cNvPr id="33" name="TextBox 32"/>
          <p:cNvSpPr txBox="1"/>
          <p:nvPr/>
        </p:nvSpPr>
        <p:spPr>
          <a:xfrm>
            <a:off x="6263640" y="4087368"/>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34" name="TextBox 33"/>
          <p:cNvSpPr txBox="1"/>
          <p:nvPr/>
        </p:nvSpPr>
        <p:spPr>
          <a:xfrm>
            <a:off x="7543800" y="4087368"/>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0.267</a:t>
            </a:r>
          </a:p>
        </p:txBody>
      </p:sp>
      <p:sp>
        <p:nvSpPr>
          <p:cNvPr id="35" name="TextBox 34"/>
          <p:cNvSpPr txBox="1"/>
          <p:nvPr/>
        </p:nvSpPr>
        <p:spPr>
          <a:xfrm>
            <a:off x="8915400" y="4087368"/>
            <a:ext cx="146304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3/10</a:t>
            </a:r>
          </a:p>
        </p:txBody>
      </p:sp>
      <p:sp>
        <p:nvSpPr>
          <p:cNvPr id="36" name="TextBox 35"/>
          <p:cNvSpPr txBox="1"/>
          <p:nvPr/>
        </p:nvSpPr>
        <p:spPr>
          <a:xfrm>
            <a:off x="868680" y="4489704"/>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gpt-oss-20b</a:t>
            </a:r>
          </a:p>
        </p:txBody>
      </p:sp>
      <p:sp>
        <p:nvSpPr>
          <p:cNvPr id="37" name="TextBox 36"/>
          <p:cNvSpPr txBox="1"/>
          <p:nvPr/>
        </p:nvSpPr>
        <p:spPr>
          <a:xfrm>
            <a:off x="3611880" y="4489704"/>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97</a:t>
            </a:r>
          </a:p>
        </p:txBody>
      </p:sp>
      <p:sp>
        <p:nvSpPr>
          <p:cNvPr id="38" name="TextBox 37"/>
          <p:cNvSpPr txBox="1"/>
          <p:nvPr/>
        </p:nvSpPr>
        <p:spPr>
          <a:xfrm>
            <a:off x="4800600" y="4489704"/>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40k</a:t>
            </a:r>
          </a:p>
        </p:txBody>
      </p:sp>
      <p:sp>
        <p:nvSpPr>
          <p:cNvPr id="39" name="TextBox 38"/>
          <p:cNvSpPr txBox="1"/>
          <p:nvPr/>
        </p:nvSpPr>
        <p:spPr>
          <a:xfrm>
            <a:off x="6263640" y="4489704"/>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40" name="TextBox 39"/>
          <p:cNvSpPr txBox="1"/>
          <p:nvPr/>
        </p:nvSpPr>
        <p:spPr>
          <a:xfrm>
            <a:off x="7543800" y="4489704"/>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0.034</a:t>
            </a:r>
          </a:p>
        </p:txBody>
      </p:sp>
      <p:sp>
        <p:nvSpPr>
          <p:cNvPr id="41" name="TextBox 40"/>
          <p:cNvSpPr txBox="1"/>
          <p:nvPr/>
        </p:nvSpPr>
        <p:spPr>
          <a:xfrm>
            <a:off x="8915400" y="4489704"/>
            <a:ext cx="146304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66/97</a:t>
            </a:r>
          </a:p>
        </p:txBody>
      </p:sp>
      <p:sp>
        <p:nvSpPr>
          <p:cNvPr id="42" name="TextBox 41"/>
          <p:cNvSpPr txBox="1"/>
          <p:nvPr/>
        </p:nvSpPr>
        <p:spPr>
          <a:xfrm>
            <a:off x="822960" y="5166360"/>
            <a:ext cx="10515600" cy="1463040"/>
          </a:xfrm>
          <a:prstGeom prst="rect">
            <a:avLst/>
          </a:prstGeom>
          <a:noFill/>
        </p:spPr>
        <p:txBody>
          <a:bodyPr wrap="square" lIns="0" rIns="0" tIns="0" bIns="0" anchor="t">
            <a:spAutoFit/>
          </a:bodyPr>
          <a:lstStyle/>
          <a:p>
            <a:pPr algn="l">
              <a:spcAft>
                <a:spcPts val="500"/>
              </a:spcAft>
            </a:pPr>
            <a:r>
              <a:rPr sz="1250" b="0" i="0">
                <a:solidFill>
                  <a:srgbClr val="AFC3CE"/>
                </a:solidFill>
                <a:latin typeface="Calibri"/>
              </a:rPr>
              <a:t>A zero from a cut-off answer is recoverable; a zero from a wrong answer is not. For the stronger models most of that zero was budget.</a:t>
            </a:r>
          </a:p>
          <a:p>
            <a:pPr algn="l">
              <a:spcAft>
                <a:spcPts val="500"/>
              </a:spcAft>
            </a:pPr>
            <a:r>
              <a:rPr sz="1250" b="0" i="0">
                <a:solidFill>
                  <a:srgbClr val="AFC3CE"/>
                </a:solidFill>
                <a:latin typeface="Calibri"/>
              </a:rPr>
              <a:t/>
            </a:r>
          </a:p>
          <a:p>
            <a:pPr algn="l">
              <a:spcAft>
                <a:spcPts val="500"/>
              </a:spcAft>
            </a:pPr>
            <a:r>
              <a:rPr sz="1250" b="0" i="0">
                <a:solidFill>
                  <a:srgbClr val="AFC3CE"/>
                </a:solidFill>
                <a:latin typeface="Calibri"/>
              </a:rPr>
              <a:t>The two gpt-oss rows are the control, and they are inconclusive rather than negative: their 131,072-token context sits beside an 87,500-token prompt, so the most budget they can be given is a 25% increase, and two thirds of gpt-oss-20b's prompts still run out. Nothing here says those models cannot do the task; it says the experiment cannot be run on them at this prompt length.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ALL RUNS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Results</a:t>
            </a:r>
          </a:p>
        </p:txBody>
      </p:sp>
      <p:sp>
        <p:nvSpPr>
          <p:cNvPr id="5" name="TextBox 4"/>
          <p:cNvSpPr txBox="1"/>
          <p:nvPr/>
        </p:nvSpPr>
        <p:spPr>
          <a:xfrm>
            <a:off x="105156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MODEL</a:t>
            </a:r>
          </a:p>
        </p:txBody>
      </p:sp>
      <p:sp>
        <p:nvSpPr>
          <p:cNvPr id="6" name="TextBox 5"/>
          <p:cNvSpPr txBox="1"/>
          <p:nvPr/>
        </p:nvSpPr>
        <p:spPr>
          <a:xfrm>
            <a:off x="50749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RENDERS</a:t>
            </a:r>
          </a:p>
        </p:txBody>
      </p:sp>
      <p:sp>
        <p:nvSpPr>
          <p:cNvPr id="7" name="TextBox 6"/>
          <p:cNvSpPr txBox="1"/>
          <p:nvPr/>
        </p:nvSpPr>
        <p:spPr>
          <a:xfrm>
            <a:off x="6355079"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AS SCORED</a:t>
            </a:r>
          </a:p>
        </p:txBody>
      </p:sp>
      <p:sp>
        <p:nvSpPr>
          <p:cNvPr id="8" name="TextBox 7"/>
          <p:cNvSpPr txBox="1"/>
          <p:nvPr/>
        </p:nvSpPr>
        <p:spPr>
          <a:xfrm>
            <a:off x="78181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WITH RE-RUN</a:t>
            </a:r>
          </a:p>
        </p:txBody>
      </p:sp>
      <p:sp>
        <p:nvSpPr>
          <p:cNvPr id="9" name="TextBox 8"/>
          <p:cNvSpPr txBox="1"/>
          <p:nvPr/>
        </p:nvSpPr>
        <p:spPr>
          <a:xfrm>
            <a:off x="928116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FINISHED ONLY</a:t>
            </a:r>
          </a:p>
        </p:txBody>
      </p:sp>
      <p:sp>
        <p:nvSpPr>
          <p:cNvPr id="10" name="TextBox 9"/>
          <p:cNvSpPr txBox="1"/>
          <p:nvPr/>
        </p:nvSpPr>
        <p:spPr>
          <a:xfrm>
            <a:off x="110185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1" name="Rounded Rectangle 10"/>
          <p:cNvSpPr/>
          <p:nvPr/>
        </p:nvSpPr>
        <p:spPr>
          <a:xfrm>
            <a:off x="822960" y="2039112"/>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130551"/>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Kimi K3</a:t>
            </a:r>
          </a:p>
        </p:txBody>
      </p:sp>
      <p:sp>
        <p:nvSpPr>
          <p:cNvPr id="13" name="TextBox 12"/>
          <p:cNvSpPr txBox="1"/>
          <p:nvPr/>
        </p:nvSpPr>
        <p:spPr>
          <a:xfrm>
            <a:off x="5074920" y="2130551"/>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14" name="TextBox 13"/>
          <p:cNvSpPr txBox="1"/>
          <p:nvPr/>
        </p:nvSpPr>
        <p:spPr>
          <a:xfrm>
            <a:off x="6355080" y="2130551"/>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0.668</a:t>
            </a:r>
          </a:p>
        </p:txBody>
      </p:sp>
      <p:sp>
        <p:nvSpPr>
          <p:cNvPr id="15" name="TextBox 14"/>
          <p:cNvSpPr txBox="1"/>
          <p:nvPr/>
        </p:nvSpPr>
        <p:spPr>
          <a:xfrm>
            <a:off x="7818120" y="2130551"/>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0.805</a:t>
            </a:r>
          </a:p>
        </p:txBody>
      </p:sp>
      <p:sp>
        <p:nvSpPr>
          <p:cNvPr id="16" name="TextBox 15"/>
          <p:cNvSpPr txBox="1"/>
          <p:nvPr/>
        </p:nvSpPr>
        <p:spPr>
          <a:xfrm>
            <a:off x="9281160" y="2130551"/>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0.839</a:t>
            </a:r>
          </a:p>
        </p:txBody>
      </p:sp>
      <p:sp>
        <p:nvSpPr>
          <p:cNvPr id="17" name="TextBox 16"/>
          <p:cNvSpPr txBox="1"/>
          <p:nvPr/>
        </p:nvSpPr>
        <p:spPr>
          <a:xfrm>
            <a:off x="11018520" y="2130551"/>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64/247</a:t>
            </a:r>
          </a:p>
        </p:txBody>
      </p:sp>
      <p:sp>
        <p:nvSpPr>
          <p:cNvPr id="18" name="Rounded Rectangle 17"/>
          <p:cNvSpPr/>
          <p:nvPr/>
        </p:nvSpPr>
        <p:spPr>
          <a:xfrm>
            <a:off x="822960" y="2551176"/>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2615"/>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DeepSeek V4 Flash</a:t>
            </a:r>
          </a:p>
        </p:txBody>
      </p:sp>
      <p:sp>
        <p:nvSpPr>
          <p:cNvPr id="20" name="TextBox 19"/>
          <p:cNvSpPr txBox="1"/>
          <p:nvPr/>
        </p:nvSpPr>
        <p:spPr>
          <a:xfrm>
            <a:off x="5074920" y="2642615"/>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239</a:t>
            </a:r>
          </a:p>
        </p:txBody>
      </p:sp>
      <p:sp>
        <p:nvSpPr>
          <p:cNvPr id="21" name="TextBox 20"/>
          <p:cNvSpPr txBox="1"/>
          <p:nvPr/>
        </p:nvSpPr>
        <p:spPr>
          <a:xfrm>
            <a:off x="6355080" y="2642615"/>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0.592</a:t>
            </a:r>
          </a:p>
        </p:txBody>
      </p:sp>
      <p:sp>
        <p:nvSpPr>
          <p:cNvPr id="22" name="TextBox 21"/>
          <p:cNvSpPr txBox="1"/>
          <p:nvPr/>
        </p:nvSpPr>
        <p:spPr>
          <a:xfrm>
            <a:off x="7818120" y="2642615"/>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23" name="TextBox 22"/>
          <p:cNvSpPr txBox="1"/>
          <p:nvPr/>
        </p:nvSpPr>
        <p:spPr>
          <a:xfrm>
            <a:off x="9281160" y="2642615"/>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0.761</a:t>
            </a:r>
          </a:p>
        </p:txBody>
      </p:sp>
      <p:sp>
        <p:nvSpPr>
          <p:cNvPr id="24" name="TextBox 23"/>
          <p:cNvSpPr txBox="1"/>
          <p:nvPr/>
        </p:nvSpPr>
        <p:spPr>
          <a:xfrm>
            <a:off x="11018520" y="2642615"/>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58/239</a:t>
            </a:r>
          </a:p>
        </p:txBody>
      </p:sp>
      <p:sp>
        <p:nvSpPr>
          <p:cNvPr id="25" name="Rounded Rectangle 24"/>
          <p:cNvSpPr/>
          <p:nvPr/>
        </p:nvSpPr>
        <p:spPr>
          <a:xfrm>
            <a:off x="822960" y="3063240"/>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3154679"/>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Gemma 4 31B</a:t>
            </a:r>
          </a:p>
        </p:txBody>
      </p:sp>
      <p:sp>
        <p:nvSpPr>
          <p:cNvPr id="27" name="TextBox 26"/>
          <p:cNvSpPr txBox="1"/>
          <p:nvPr/>
        </p:nvSpPr>
        <p:spPr>
          <a:xfrm>
            <a:off x="5074920" y="3154679"/>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175</a:t>
            </a:r>
          </a:p>
        </p:txBody>
      </p:sp>
      <p:sp>
        <p:nvSpPr>
          <p:cNvPr id="28" name="TextBox 27"/>
          <p:cNvSpPr txBox="1"/>
          <p:nvPr/>
        </p:nvSpPr>
        <p:spPr>
          <a:xfrm>
            <a:off x="6355080" y="3154679"/>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0.577</a:t>
            </a:r>
          </a:p>
        </p:txBody>
      </p:sp>
      <p:sp>
        <p:nvSpPr>
          <p:cNvPr id="29" name="TextBox 28"/>
          <p:cNvSpPr txBox="1"/>
          <p:nvPr/>
        </p:nvSpPr>
        <p:spPr>
          <a:xfrm>
            <a:off x="7818120" y="3154679"/>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30" name="TextBox 29"/>
          <p:cNvSpPr txBox="1"/>
          <p:nvPr/>
        </p:nvSpPr>
        <p:spPr>
          <a:xfrm>
            <a:off x="9281160" y="3154679"/>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0.736</a:t>
            </a:r>
          </a:p>
        </p:txBody>
      </p:sp>
      <p:sp>
        <p:nvSpPr>
          <p:cNvPr id="31" name="TextBox 30"/>
          <p:cNvSpPr txBox="1"/>
          <p:nvPr/>
        </p:nvSpPr>
        <p:spPr>
          <a:xfrm>
            <a:off x="11018520" y="3154679"/>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21/175</a:t>
            </a:r>
          </a:p>
        </p:txBody>
      </p:sp>
      <p:sp>
        <p:nvSpPr>
          <p:cNvPr id="32" name="Rounded Rectangle 31"/>
          <p:cNvSpPr/>
          <p:nvPr/>
        </p:nvSpPr>
        <p:spPr>
          <a:xfrm>
            <a:off x="822960" y="3575304"/>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3666744"/>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MiniMax M3</a:t>
            </a:r>
          </a:p>
        </p:txBody>
      </p:sp>
      <p:sp>
        <p:nvSpPr>
          <p:cNvPr id="34" name="TextBox 33"/>
          <p:cNvSpPr txBox="1"/>
          <p:nvPr/>
        </p:nvSpPr>
        <p:spPr>
          <a:xfrm>
            <a:off x="5074920" y="3666744"/>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35" name="TextBox 34"/>
          <p:cNvSpPr txBox="1"/>
          <p:nvPr/>
        </p:nvSpPr>
        <p:spPr>
          <a:xfrm>
            <a:off x="6355080" y="3666744"/>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0.447</a:t>
            </a:r>
          </a:p>
        </p:txBody>
      </p:sp>
      <p:sp>
        <p:nvSpPr>
          <p:cNvPr id="36" name="TextBox 35"/>
          <p:cNvSpPr txBox="1"/>
          <p:nvPr/>
        </p:nvSpPr>
        <p:spPr>
          <a:xfrm>
            <a:off x="7818120" y="3666744"/>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0.528</a:t>
            </a:r>
          </a:p>
        </p:txBody>
      </p:sp>
      <p:sp>
        <p:nvSpPr>
          <p:cNvPr id="37" name="TextBox 36"/>
          <p:cNvSpPr txBox="1"/>
          <p:nvPr/>
        </p:nvSpPr>
        <p:spPr>
          <a:xfrm>
            <a:off x="9281160" y="3666744"/>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0.755</a:t>
            </a:r>
          </a:p>
        </p:txBody>
      </p:sp>
      <p:sp>
        <p:nvSpPr>
          <p:cNvPr id="38" name="TextBox 37"/>
          <p:cNvSpPr txBox="1"/>
          <p:nvPr/>
        </p:nvSpPr>
        <p:spPr>
          <a:xfrm>
            <a:off x="11018520" y="3666744"/>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98/247</a:t>
            </a:r>
          </a:p>
        </p:txBody>
      </p:sp>
      <p:sp>
        <p:nvSpPr>
          <p:cNvPr id="39" name="Rounded Rectangle 38"/>
          <p:cNvSpPr/>
          <p:nvPr/>
        </p:nvSpPr>
        <p:spPr>
          <a:xfrm>
            <a:off x="822960" y="4087368"/>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1560" y="4178808"/>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Qwen3.5 9B</a:t>
            </a:r>
          </a:p>
        </p:txBody>
      </p:sp>
      <p:sp>
        <p:nvSpPr>
          <p:cNvPr id="41" name="TextBox 40"/>
          <p:cNvSpPr txBox="1"/>
          <p:nvPr/>
        </p:nvSpPr>
        <p:spPr>
          <a:xfrm>
            <a:off x="5074920" y="417880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42" name="TextBox 41"/>
          <p:cNvSpPr txBox="1"/>
          <p:nvPr/>
        </p:nvSpPr>
        <p:spPr>
          <a:xfrm>
            <a:off x="6355080" y="4178808"/>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0.310</a:t>
            </a:r>
          </a:p>
        </p:txBody>
      </p:sp>
      <p:sp>
        <p:nvSpPr>
          <p:cNvPr id="43" name="TextBox 42"/>
          <p:cNvSpPr txBox="1"/>
          <p:nvPr/>
        </p:nvSpPr>
        <p:spPr>
          <a:xfrm>
            <a:off x="7818120" y="4178808"/>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0.365</a:t>
            </a:r>
          </a:p>
        </p:txBody>
      </p:sp>
      <p:sp>
        <p:nvSpPr>
          <p:cNvPr id="44" name="TextBox 43"/>
          <p:cNvSpPr txBox="1"/>
          <p:nvPr/>
        </p:nvSpPr>
        <p:spPr>
          <a:xfrm>
            <a:off x="9281160" y="4178808"/>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0.579</a:t>
            </a:r>
          </a:p>
        </p:txBody>
      </p:sp>
      <p:sp>
        <p:nvSpPr>
          <p:cNvPr id="45" name="TextBox 44"/>
          <p:cNvSpPr txBox="1"/>
          <p:nvPr/>
        </p:nvSpPr>
        <p:spPr>
          <a:xfrm>
            <a:off x="11018520" y="4178808"/>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155/247</a:t>
            </a:r>
          </a:p>
        </p:txBody>
      </p:sp>
      <p:sp>
        <p:nvSpPr>
          <p:cNvPr id="46" name="Rounded Rectangle 45"/>
          <p:cNvSpPr/>
          <p:nvPr/>
        </p:nvSpPr>
        <p:spPr>
          <a:xfrm>
            <a:off x="822960" y="4599431"/>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1560" y="4690872"/>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gpt-oss-120b</a:t>
            </a:r>
          </a:p>
        </p:txBody>
      </p:sp>
      <p:sp>
        <p:nvSpPr>
          <p:cNvPr id="48" name="TextBox 47"/>
          <p:cNvSpPr txBox="1"/>
          <p:nvPr/>
        </p:nvSpPr>
        <p:spPr>
          <a:xfrm>
            <a:off x="5074920" y="4690872"/>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243</a:t>
            </a:r>
          </a:p>
        </p:txBody>
      </p:sp>
      <p:sp>
        <p:nvSpPr>
          <p:cNvPr id="49" name="TextBox 48"/>
          <p:cNvSpPr txBox="1"/>
          <p:nvPr/>
        </p:nvSpPr>
        <p:spPr>
          <a:xfrm>
            <a:off x="6355080" y="4690872"/>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0.245</a:t>
            </a:r>
          </a:p>
        </p:txBody>
      </p:sp>
      <p:sp>
        <p:nvSpPr>
          <p:cNvPr id="50" name="TextBox 49"/>
          <p:cNvSpPr txBox="1"/>
          <p:nvPr/>
        </p:nvSpPr>
        <p:spPr>
          <a:xfrm>
            <a:off x="7818120" y="4690872"/>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0.252</a:t>
            </a:r>
          </a:p>
        </p:txBody>
      </p:sp>
      <p:sp>
        <p:nvSpPr>
          <p:cNvPr id="51" name="TextBox 50"/>
          <p:cNvSpPr txBox="1"/>
          <p:nvPr/>
        </p:nvSpPr>
        <p:spPr>
          <a:xfrm>
            <a:off x="9281160" y="4690872"/>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0.258</a:t>
            </a:r>
          </a:p>
        </p:txBody>
      </p:sp>
      <p:sp>
        <p:nvSpPr>
          <p:cNvPr id="52" name="TextBox 51"/>
          <p:cNvSpPr txBox="1"/>
          <p:nvPr/>
        </p:nvSpPr>
        <p:spPr>
          <a:xfrm>
            <a:off x="11018520" y="4690872"/>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12/243</a:t>
            </a:r>
          </a:p>
        </p:txBody>
      </p:sp>
      <p:sp>
        <p:nvSpPr>
          <p:cNvPr id="53" name="Rounded Rectangle 52"/>
          <p:cNvSpPr/>
          <p:nvPr/>
        </p:nvSpPr>
        <p:spPr>
          <a:xfrm>
            <a:off x="822960" y="5111496"/>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51560" y="5202936"/>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gpt-oss-20b</a:t>
            </a:r>
          </a:p>
        </p:txBody>
      </p:sp>
      <p:sp>
        <p:nvSpPr>
          <p:cNvPr id="55" name="TextBox 54"/>
          <p:cNvSpPr txBox="1"/>
          <p:nvPr/>
        </p:nvSpPr>
        <p:spPr>
          <a:xfrm>
            <a:off x="5074920" y="5202936"/>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246</a:t>
            </a:r>
          </a:p>
        </p:txBody>
      </p:sp>
      <p:sp>
        <p:nvSpPr>
          <p:cNvPr id="56" name="TextBox 55"/>
          <p:cNvSpPr txBox="1"/>
          <p:nvPr/>
        </p:nvSpPr>
        <p:spPr>
          <a:xfrm>
            <a:off x="6355080" y="5202936"/>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0.173</a:t>
            </a:r>
          </a:p>
        </p:txBody>
      </p:sp>
      <p:sp>
        <p:nvSpPr>
          <p:cNvPr id="57" name="TextBox 56"/>
          <p:cNvSpPr txBox="1"/>
          <p:nvPr/>
        </p:nvSpPr>
        <p:spPr>
          <a:xfrm>
            <a:off x="7818120" y="5202936"/>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0.190</a:t>
            </a:r>
          </a:p>
        </p:txBody>
      </p:sp>
      <p:sp>
        <p:nvSpPr>
          <p:cNvPr id="58" name="TextBox 57"/>
          <p:cNvSpPr txBox="1"/>
          <p:nvPr/>
        </p:nvSpPr>
        <p:spPr>
          <a:xfrm>
            <a:off x="9281160" y="5202936"/>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0.246</a:t>
            </a:r>
          </a:p>
        </p:txBody>
      </p:sp>
      <p:sp>
        <p:nvSpPr>
          <p:cNvPr id="59" name="TextBox 58"/>
          <p:cNvSpPr txBox="1"/>
          <p:nvPr/>
        </p:nvSpPr>
        <p:spPr>
          <a:xfrm>
            <a:off x="11018520" y="5202936"/>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101/246</a:t>
            </a:r>
          </a:p>
        </p:txBody>
      </p:sp>
      <p:sp>
        <p:nvSpPr>
          <p:cNvPr id="60" name="Rounded Rectangle 59"/>
          <p:cNvSpPr/>
          <p:nvPr/>
        </p:nvSpPr>
        <p:spPr>
          <a:xfrm>
            <a:off x="822960" y="5623560"/>
            <a:ext cx="10607040" cy="457200"/>
          </a:xfrm>
          <a:prstGeom prst="roundRect">
            <a:avLst>
              <a:gd name="adj" fmla="val 4000"/>
            </a:avLst>
          </a:prstGeom>
          <a:solidFill>
            <a:srgbClr val="EEF2F4"/>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51560" y="5715000"/>
            <a:ext cx="438912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Marin 32B (base)   (8/20 families — not comparable)</a:t>
            </a:r>
          </a:p>
        </p:txBody>
      </p:sp>
      <p:sp>
        <p:nvSpPr>
          <p:cNvPr id="62" name="TextBox 61"/>
          <p:cNvSpPr txBox="1"/>
          <p:nvPr/>
        </p:nvSpPr>
        <p:spPr>
          <a:xfrm>
            <a:off x="507492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48</a:t>
            </a:r>
          </a:p>
        </p:txBody>
      </p:sp>
      <p:sp>
        <p:nvSpPr>
          <p:cNvPr id="63" name="TextBox 62"/>
          <p:cNvSpPr txBox="1"/>
          <p:nvPr/>
        </p:nvSpPr>
        <p:spPr>
          <a:xfrm>
            <a:off x="635508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0.053</a:t>
            </a:r>
          </a:p>
        </p:txBody>
      </p:sp>
      <p:sp>
        <p:nvSpPr>
          <p:cNvPr id="64" name="TextBox 63"/>
          <p:cNvSpPr txBox="1"/>
          <p:nvPr/>
        </p:nvSpPr>
        <p:spPr>
          <a:xfrm>
            <a:off x="781812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65" name="TextBox 64"/>
          <p:cNvSpPr txBox="1"/>
          <p:nvPr/>
        </p:nvSpPr>
        <p:spPr>
          <a:xfrm>
            <a:off x="928116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0.142</a:t>
            </a:r>
          </a:p>
        </p:txBody>
      </p:sp>
      <p:sp>
        <p:nvSpPr>
          <p:cNvPr id="66" name="TextBox 65"/>
          <p:cNvSpPr txBox="1"/>
          <p:nvPr/>
        </p:nvSpPr>
        <p:spPr>
          <a:xfrm>
            <a:off x="11018520" y="5715000"/>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34/48</a:t>
            </a:r>
          </a:p>
        </p:txBody>
      </p:sp>
      <p:sp>
        <p:nvSpPr>
          <p:cNvPr id="67" name="TextBox 66"/>
          <p:cNvSpPr txBox="1"/>
          <p:nvPr/>
        </p:nvSpPr>
        <p:spPr>
          <a:xfrm>
            <a:off x="822960" y="6382512"/>
            <a:ext cx="10607040" cy="731520"/>
          </a:xfrm>
          <a:prstGeom prst="rect">
            <a:avLst/>
          </a:prstGeom>
          <a:noFill/>
        </p:spPr>
        <p:txBody>
          <a:bodyPr wrap="square" lIns="0" rIns="0" tIns="0" bIns="0" anchor="t">
            <a:spAutoFit/>
          </a:bodyPr>
          <a:lstStyle/>
          <a:p>
            <a:pPr algn="l">
              <a:spcAft>
                <a:spcPts val="0"/>
              </a:spcAft>
            </a:pPr>
            <a:r>
              <a:rPr sz="1150" b="0" i="1">
                <a:solidFill>
                  <a:srgbClr val="5B6E7A"/>
                </a:solidFill>
                <a:latin typeface="Calibri"/>
              </a:rPr>
              <a:t>"With re-run" folds in the higher-budget answers for prompts that originally hit the output cap. "Finished only" drops every truncated response instead. The two bracket the same quantity from opposite sides: what the model scores when it is allowed to finish.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PER FAMILY</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Kimi K3: solved outright, or never finished</a:t>
            </a:r>
          </a:p>
        </p:txBody>
      </p:sp>
      <p:sp>
        <p:nvSpPr>
          <p:cNvPr id="5" name="TextBox 4"/>
          <p:cNvSpPr txBox="1"/>
          <p:nvPr/>
        </p:nvSpPr>
        <p:spPr>
          <a:xfrm>
            <a:off x="822960" y="1691640"/>
            <a:ext cx="6400800" cy="320040"/>
          </a:xfrm>
          <a:prstGeom prst="rect">
            <a:avLst/>
          </a:prstGeom>
          <a:noFill/>
        </p:spPr>
        <p:txBody>
          <a:bodyPr wrap="square" lIns="0" rIns="0" tIns="0" bIns="0" anchor="t">
            <a:spAutoFit/>
          </a:bodyPr>
          <a:lstStyle/>
          <a:p>
            <a:pPr algn="l">
              <a:spcAft>
                <a:spcPts val="0"/>
              </a:spcAft>
            </a:pPr>
            <a:r>
              <a:rPr sz="1500" b="1" i="0">
                <a:solidFill>
                  <a:srgbClr val="0E7C7B"/>
                </a:solidFill>
                <a:latin typeface="Calibri"/>
              </a:rPr>
              <a:t>9 of 20 families at 0.95 or above</a:t>
            </a:r>
          </a:p>
        </p:txBody>
      </p:sp>
      <p:sp>
        <p:nvSpPr>
          <p:cNvPr id="6" name="TextBox 5"/>
          <p:cNvSpPr txBox="1"/>
          <p:nvPr/>
        </p:nvSpPr>
        <p:spPr>
          <a:xfrm>
            <a:off x="822960" y="2048256"/>
            <a:ext cx="6583680" cy="640080"/>
          </a:xfrm>
          <a:prstGeom prst="rect">
            <a:avLst/>
          </a:prstGeom>
          <a:noFill/>
        </p:spPr>
        <p:txBody>
          <a:bodyPr wrap="square" lIns="0" rIns="0" tIns="0" bIns="0" anchor="t">
            <a:spAutoFit/>
          </a:bodyPr>
          <a:lstStyle/>
          <a:p>
            <a:pPr algn="l">
              <a:spcAft>
                <a:spcPts val="0"/>
              </a:spcAft>
            </a:pPr>
            <a:r>
              <a:rPr sz="1250" b="0" i="0">
                <a:solidFill>
                  <a:srgbClr val="15242E"/>
                </a:solidFill>
                <a:latin typeface="Consolas"/>
              </a:rPr>
              <a:t>G01   G02   G03   N01   P03   S01   S02   S07   T01</a:t>
            </a:r>
          </a:p>
        </p:txBody>
      </p:sp>
      <p:sp>
        <p:nvSpPr>
          <p:cNvPr id="7" name="TextBox 6"/>
          <p:cNvSpPr txBox="1"/>
          <p:nvPr/>
        </p:nvSpPr>
        <p:spPr>
          <a:xfrm>
            <a:off x="822960" y="2834640"/>
            <a:ext cx="6400800" cy="274320"/>
          </a:xfrm>
          <a:prstGeom prst="rect">
            <a:avLst/>
          </a:prstGeom>
          <a:noFill/>
        </p:spPr>
        <p:txBody>
          <a:bodyPr wrap="square" lIns="0" rIns="0" tIns="0" bIns="0" anchor="t">
            <a:spAutoFit/>
          </a:bodyPr>
          <a:lstStyle/>
          <a:p>
            <a:pPr algn="l">
              <a:spcAft>
                <a:spcPts val="0"/>
              </a:spcAft>
            </a:pPr>
            <a:r>
              <a:rPr sz="1300" b="1" i="0">
                <a:solidFill>
                  <a:srgbClr val="E2725B"/>
                </a:solidFill>
                <a:latin typeface="Calibri"/>
              </a:rPr>
              <a:t>the rest, and what they cost in truncation</a:t>
            </a:r>
          </a:p>
        </p:txBody>
      </p:sp>
      <p:sp>
        <p:nvSpPr>
          <p:cNvPr id="8" name="TextBox 7"/>
          <p:cNvSpPr txBox="1"/>
          <p:nvPr/>
        </p:nvSpPr>
        <p:spPr>
          <a:xfrm>
            <a:off x="86868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FAMILY</a:t>
            </a:r>
          </a:p>
        </p:txBody>
      </p:sp>
      <p:sp>
        <p:nvSpPr>
          <p:cNvPr id="9" name="TextBox 8"/>
          <p:cNvSpPr txBox="1"/>
          <p:nvPr/>
        </p:nvSpPr>
        <p:spPr>
          <a:xfrm>
            <a:off x="233172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SCORE</a:t>
            </a:r>
          </a:p>
        </p:txBody>
      </p:sp>
      <p:sp>
        <p:nvSpPr>
          <p:cNvPr id="10" name="TextBox 9"/>
          <p:cNvSpPr txBox="1"/>
          <p:nvPr/>
        </p:nvSpPr>
        <p:spPr>
          <a:xfrm>
            <a:off x="379476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FINISHED ONLY</a:t>
            </a:r>
          </a:p>
        </p:txBody>
      </p:sp>
      <p:sp>
        <p:nvSpPr>
          <p:cNvPr id="11" name="TextBox 10"/>
          <p:cNvSpPr txBox="1"/>
          <p:nvPr/>
        </p:nvSpPr>
        <p:spPr>
          <a:xfrm>
            <a:off x="580644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2" name="TextBox 11"/>
          <p:cNvSpPr txBox="1"/>
          <p:nvPr/>
        </p:nvSpPr>
        <p:spPr>
          <a:xfrm>
            <a:off x="868680" y="3529584"/>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I01</a:t>
            </a:r>
          </a:p>
        </p:txBody>
      </p:sp>
      <p:sp>
        <p:nvSpPr>
          <p:cNvPr id="13" name="TextBox 12"/>
          <p:cNvSpPr txBox="1"/>
          <p:nvPr/>
        </p:nvSpPr>
        <p:spPr>
          <a:xfrm>
            <a:off x="2331720" y="3529584"/>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14" name="TextBox 13"/>
          <p:cNvSpPr txBox="1"/>
          <p:nvPr/>
        </p:nvSpPr>
        <p:spPr>
          <a:xfrm>
            <a:off x="3794760" y="352958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a:t>
            </a:r>
          </a:p>
        </p:txBody>
      </p:sp>
      <p:sp>
        <p:nvSpPr>
          <p:cNvPr id="15" name="TextBox 14"/>
          <p:cNvSpPr txBox="1"/>
          <p:nvPr/>
        </p:nvSpPr>
        <p:spPr>
          <a:xfrm>
            <a:off x="5806440" y="3529584"/>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12/12</a:t>
            </a:r>
          </a:p>
        </p:txBody>
      </p:sp>
      <p:sp>
        <p:nvSpPr>
          <p:cNvPr id="16" name="TextBox 15"/>
          <p:cNvSpPr txBox="1"/>
          <p:nvPr/>
        </p:nvSpPr>
        <p:spPr>
          <a:xfrm>
            <a:off x="868680" y="3877056"/>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G04</a:t>
            </a:r>
          </a:p>
        </p:txBody>
      </p:sp>
      <p:sp>
        <p:nvSpPr>
          <p:cNvPr id="17" name="TextBox 16"/>
          <p:cNvSpPr txBox="1"/>
          <p:nvPr/>
        </p:nvSpPr>
        <p:spPr>
          <a:xfrm>
            <a:off x="2331720" y="3877056"/>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0.125</a:t>
            </a:r>
          </a:p>
        </p:txBody>
      </p:sp>
      <p:sp>
        <p:nvSpPr>
          <p:cNvPr id="18" name="TextBox 17"/>
          <p:cNvSpPr txBox="1"/>
          <p:nvPr/>
        </p:nvSpPr>
        <p:spPr>
          <a:xfrm>
            <a:off x="3794760" y="387705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19" name="TextBox 18"/>
          <p:cNvSpPr txBox="1"/>
          <p:nvPr/>
        </p:nvSpPr>
        <p:spPr>
          <a:xfrm>
            <a:off x="5806440" y="3877056"/>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7/8</a:t>
            </a:r>
          </a:p>
        </p:txBody>
      </p:sp>
      <p:sp>
        <p:nvSpPr>
          <p:cNvPr id="20" name="TextBox 19"/>
          <p:cNvSpPr txBox="1"/>
          <p:nvPr/>
        </p:nvSpPr>
        <p:spPr>
          <a:xfrm>
            <a:off x="868680" y="4224528"/>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S03</a:t>
            </a:r>
          </a:p>
        </p:txBody>
      </p:sp>
      <p:sp>
        <p:nvSpPr>
          <p:cNvPr id="21" name="TextBox 20"/>
          <p:cNvSpPr txBox="1"/>
          <p:nvPr/>
        </p:nvSpPr>
        <p:spPr>
          <a:xfrm>
            <a:off x="2331720" y="4224528"/>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0.143</a:t>
            </a:r>
          </a:p>
        </p:txBody>
      </p:sp>
      <p:sp>
        <p:nvSpPr>
          <p:cNvPr id="22" name="TextBox 21"/>
          <p:cNvSpPr txBox="1"/>
          <p:nvPr/>
        </p:nvSpPr>
        <p:spPr>
          <a:xfrm>
            <a:off x="3794760" y="422452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0.286</a:t>
            </a:r>
          </a:p>
        </p:txBody>
      </p:sp>
      <p:sp>
        <p:nvSpPr>
          <p:cNvPr id="23" name="TextBox 22"/>
          <p:cNvSpPr txBox="1"/>
          <p:nvPr/>
        </p:nvSpPr>
        <p:spPr>
          <a:xfrm>
            <a:off x="5806440" y="4224528"/>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7/14</a:t>
            </a:r>
          </a:p>
        </p:txBody>
      </p:sp>
      <p:sp>
        <p:nvSpPr>
          <p:cNvPr id="24" name="TextBox 23"/>
          <p:cNvSpPr txBox="1"/>
          <p:nvPr/>
        </p:nvSpPr>
        <p:spPr>
          <a:xfrm>
            <a:off x="868680" y="4572000"/>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S04</a:t>
            </a:r>
          </a:p>
        </p:txBody>
      </p:sp>
      <p:sp>
        <p:nvSpPr>
          <p:cNvPr id="25" name="TextBox 24"/>
          <p:cNvSpPr txBox="1"/>
          <p:nvPr/>
        </p:nvSpPr>
        <p:spPr>
          <a:xfrm>
            <a:off x="2331720" y="4572000"/>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0.350</a:t>
            </a:r>
          </a:p>
        </p:txBody>
      </p:sp>
      <p:sp>
        <p:nvSpPr>
          <p:cNvPr id="26" name="TextBox 25"/>
          <p:cNvSpPr txBox="1"/>
          <p:nvPr/>
        </p:nvSpPr>
        <p:spPr>
          <a:xfrm>
            <a:off x="3794760" y="4572000"/>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0.778</a:t>
            </a:r>
          </a:p>
        </p:txBody>
      </p:sp>
      <p:sp>
        <p:nvSpPr>
          <p:cNvPr id="27" name="TextBox 26"/>
          <p:cNvSpPr txBox="1"/>
          <p:nvPr/>
        </p:nvSpPr>
        <p:spPr>
          <a:xfrm>
            <a:off x="5806440" y="4572000"/>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11/20</a:t>
            </a:r>
          </a:p>
        </p:txBody>
      </p:sp>
      <p:sp>
        <p:nvSpPr>
          <p:cNvPr id="28" name="TextBox 27"/>
          <p:cNvSpPr txBox="1"/>
          <p:nvPr/>
        </p:nvSpPr>
        <p:spPr>
          <a:xfrm>
            <a:off x="868680" y="4919472"/>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S05</a:t>
            </a:r>
          </a:p>
        </p:txBody>
      </p:sp>
      <p:sp>
        <p:nvSpPr>
          <p:cNvPr id="29" name="TextBox 28"/>
          <p:cNvSpPr txBox="1"/>
          <p:nvPr/>
        </p:nvSpPr>
        <p:spPr>
          <a:xfrm>
            <a:off x="2331720" y="4919472"/>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0.400</a:t>
            </a:r>
          </a:p>
        </p:txBody>
      </p:sp>
      <p:sp>
        <p:nvSpPr>
          <p:cNvPr id="30" name="TextBox 29"/>
          <p:cNvSpPr txBox="1"/>
          <p:nvPr/>
        </p:nvSpPr>
        <p:spPr>
          <a:xfrm>
            <a:off x="3794760" y="4919472"/>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0.600</a:t>
            </a:r>
          </a:p>
        </p:txBody>
      </p:sp>
      <p:sp>
        <p:nvSpPr>
          <p:cNvPr id="31" name="TextBox 30"/>
          <p:cNvSpPr txBox="1"/>
          <p:nvPr/>
        </p:nvSpPr>
        <p:spPr>
          <a:xfrm>
            <a:off x="5806440" y="4919472"/>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5/15</a:t>
            </a:r>
          </a:p>
        </p:txBody>
      </p:sp>
      <p:sp>
        <p:nvSpPr>
          <p:cNvPr id="32" name="TextBox 31"/>
          <p:cNvSpPr txBox="1"/>
          <p:nvPr/>
        </p:nvSpPr>
        <p:spPr>
          <a:xfrm>
            <a:off x="868680" y="5266944"/>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S06</a:t>
            </a:r>
          </a:p>
        </p:txBody>
      </p:sp>
      <p:sp>
        <p:nvSpPr>
          <p:cNvPr id="33" name="TextBox 32"/>
          <p:cNvSpPr txBox="1"/>
          <p:nvPr/>
        </p:nvSpPr>
        <p:spPr>
          <a:xfrm>
            <a:off x="2331720" y="5266944"/>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0.418</a:t>
            </a:r>
          </a:p>
        </p:txBody>
      </p:sp>
      <p:sp>
        <p:nvSpPr>
          <p:cNvPr id="34" name="TextBox 33"/>
          <p:cNvSpPr txBox="1"/>
          <p:nvPr/>
        </p:nvSpPr>
        <p:spPr>
          <a:xfrm>
            <a:off x="3794760" y="526694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0.976</a:t>
            </a:r>
          </a:p>
        </p:txBody>
      </p:sp>
      <p:sp>
        <p:nvSpPr>
          <p:cNvPr id="35" name="TextBox 34"/>
          <p:cNvSpPr txBox="1"/>
          <p:nvPr/>
        </p:nvSpPr>
        <p:spPr>
          <a:xfrm>
            <a:off x="5806440" y="5266944"/>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8/14</a:t>
            </a:r>
          </a:p>
        </p:txBody>
      </p:sp>
      <p:sp>
        <p:nvSpPr>
          <p:cNvPr id="36" name="TextBox 35"/>
          <p:cNvSpPr txBox="1"/>
          <p:nvPr/>
        </p:nvSpPr>
        <p:spPr>
          <a:xfrm>
            <a:off x="868680" y="5614416"/>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MECH</a:t>
            </a:r>
          </a:p>
        </p:txBody>
      </p:sp>
      <p:sp>
        <p:nvSpPr>
          <p:cNvPr id="37" name="TextBox 36"/>
          <p:cNvSpPr txBox="1"/>
          <p:nvPr/>
        </p:nvSpPr>
        <p:spPr>
          <a:xfrm>
            <a:off x="2331720" y="5614416"/>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0.454</a:t>
            </a:r>
          </a:p>
        </p:txBody>
      </p:sp>
      <p:sp>
        <p:nvSpPr>
          <p:cNvPr id="38" name="TextBox 37"/>
          <p:cNvSpPr txBox="1"/>
          <p:nvPr/>
        </p:nvSpPr>
        <p:spPr>
          <a:xfrm>
            <a:off x="3794760" y="561441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0.757</a:t>
            </a:r>
          </a:p>
        </p:txBody>
      </p:sp>
      <p:sp>
        <p:nvSpPr>
          <p:cNvPr id="39" name="TextBox 38"/>
          <p:cNvSpPr txBox="1"/>
          <p:nvPr/>
        </p:nvSpPr>
        <p:spPr>
          <a:xfrm>
            <a:off x="5806440" y="5614416"/>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12/30</a:t>
            </a:r>
          </a:p>
        </p:txBody>
      </p:sp>
      <p:sp>
        <p:nvSpPr>
          <p:cNvPr id="40" name="TextBox 39"/>
          <p:cNvSpPr txBox="1"/>
          <p:nvPr/>
        </p:nvSpPr>
        <p:spPr>
          <a:xfrm>
            <a:off x="868680" y="5961888"/>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P02</a:t>
            </a:r>
          </a:p>
        </p:txBody>
      </p:sp>
      <p:sp>
        <p:nvSpPr>
          <p:cNvPr id="41" name="TextBox 40"/>
          <p:cNvSpPr txBox="1"/>
          <p:nvPr/>
        </p:nvSpPr>
        <p:spPr>
          <a:xfrm>
            <a:off x="2331720" y="5961888"/>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0.615</a:t>
            </a:r>
          </a:p>
        </p:txBody>
      </p:sp>
      <p:sp>
        <p:nvSpPr>
          <p:cNvPr id="42" name="TextBox 41"/>
          <p:cNvSpPr txBox="1"/>
          <p:nvPr/>
        </p:nvSpPr>
        <p:spPr>
          <a:xfrm>
            <a:off x="3794760" y="596188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0.615</a:t>
            </a:r>
          </a:p>
        </p:txBody>
      </p:sp>
      <p:sp>
        <p:nvSpPr>
          <p:cNvPr id="43" name="TextBox 42"/>
          <p:cNvSpPr txBox="1"/>
          <p:nvPr/>
        </p:nvSpPr>
        <p:spPr>
          <a:xfrm>
            <a:off x="5806440" y="5961888"/>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0/13</a:t>
            </a:r>
          </a:p>
        </p:txBody>
      </p:sp>
      <p:sp>
        <p:nvSpPr>
          <p:cNvPr id="44" name="TextBox 43"/>
          <p:cNvSpPr txBox="1"/>
          <p:nvPr/>
        </p:nvSpPr>
        <p:spPr>
          <a:xfrm>
            <a:off x="868680" y="6309359"/>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S08</a:t>
            </a:r>
          </a:p>
        </p:txBody>
      </p:sp>
      <p:sp>
        <p:nvSpPr>
          <p:cNvPr id="45" name="TextBox 44"/>
          <p:cNvSpPr txBox="1"/>
          <p:nvPr/>
        </p:nvSpPr>
        <p:spPr>
          <a:xfrm>
            <a:off x="2331720" y="6309359"/>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0.625</a:t>
            </a:r>
          </a:p>
        </p:txBody>
      </p:sp>
      <p:sp>
        <p:nvSpPr>
          <p:cNvPr id="46" name="TextBox 45"/>
          <p:cNvSpPr txBox="1"/>
          <p:nvPr/>
        </p:nvSpPr>
        <p:spPr>
          <a:xfrm>
            <a:off x="3794760" y="6309359"/>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0.714</a:t>
            </a:r>
          </a:p>
        </p:txBody>
      </p:sp>
      <p:sp>
        <p:nvSpPr>
          <p:cNvPr id="47" name="TextBox 46"/>
          <p:cNvSpPr txBox="1"/>
          <p:nvPr/>
        </p:nvSpPr>
        <p:spPr>
          <a:xfrm>
            <a:off x="5806440" y="6309359"/>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2/16</a:t>
            </a:r>
          </a:p>
        </p:txBody>
      </p:sp>
      <p:sp>
        <p:nvSpPr>
          <p:cNvPr id="48" name="TextBox 47"/>
          <p:cNvSpPr txBox="1"/>
          <p:nvPr/>
        </p:nvSpPr>
        <p:spPr>
          <a:xfrm>
            <a:off x="868680" y="6656831"/>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S09</a:t>
            </a:r>
          </a:p>
        </p:txBody>
      </p:sp>
      <p:sp>
        <p:nvSpPr>
          <p:cNvPr id="49" name="TextBox 48"/>
          <p:cNvSpPr txBox="1"/>
          <p:nvPr/>
        </p:nvSpPr>
        <p:spPr>
          <a:xfrm>
            <a:off x="2331720" y="6656831"/>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0.625</a:t>
            </a:r>
          </a:p>
        </p:txBody>
      </p:sp>
      <p:sp>
        <p:nvSpPr>
          <p:cNvPr id="50" name="TextBox 49"/>
          <p:cNvSpPr txBox="1"/>
          <p:nvPr/>
        </p:nvSpPr>
        <p:spPr>
          <a:xfrm>
            <a:off x="3794760" y="6656831"/>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0.625</a:t>
            </a:r>
          </a:p>
        </p:txBody>
      </p:sp>
      <p:sp>
        <p:nvSpPr>
          <p:cNvPr id="51" name="TextBox 50"/>
          <p:cNvSpPr txBox="1"/>
          <p:nvPr/>
        </p:nvSpPr>
        <p:spPr>
          <a:xfrm>
            <a:off x="5806440" y="6656831"/>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0/16</a:t>
            </a:r>
          </a:p>
        </p:txBody>
      </p:sp>
      <p:sp>
        <p:nvSpPr>
          <p:cNvPr id="52" name="TextBox 51"/>
          <p:cNvSpPr txBox="1"/>
          <p:nvPr/>
        </p:nvSpPr>
        <p:spPr>
          <a:xfrm>
            <a:off x="868680" y="7004303"/>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P01</a:t>
            </a:r>
          </a:p>
        </p:txBody>
      </p:sp>
      <p:sp>
        <p:nvSpPr>
          <p:cNvPr id="53" name="TextBox 52"/>
          <p:cNvSpPr txBox="1"/>
          <p:nvPr/>
        </p:nvSpPr>
        <p:spPr>
          <a:xfrm>
            <a:off x="2331720" y="7004303"/>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0.632</a:t>
            </a:r>
          </a:p>
        </p:txBody>
      </p:sp>
      <p:sp>
        <p:nvSpPr>
          <p:cNvPr id="54" name="TextBox 53"/>
          <p:cNvSpPr txBox="1"/>
          <p:nvPr/>
        </p:nvSpPr>
        <p:spPr>
          <a:xfrm>
            <a:off x="3794760" y="7004303"/>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0.632</a:t>
            </a:r>
          </a:p>
        </p:txBody>
      </p:sp>
      <p:sp>
        <p:nvSpPr>
          <p:cNvPr id="55" name="TextBox 54"/>
          <p:cNvSpPr txBox="1"/>
          <p:nvPr/>
        </p:nvSpPr>
        <p:spPr>
          <a:xfrm>
            <a:off x="5806440" y="7004303"/>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0/19</a:t>
            </a:r>
          </a:p>
        </p:txBody>
      </p:sp>
      <p:sp>
        <p:nvSpPr>
          <p:cNvPr id="56" name="Rounded Rectangle 55"/>
          <p:cNvSpPr/>
          <p:nvPr/>
        </p:nvSpPr>
        <p:spPr>
          <a:xfrm>
            <a:off x="7680960" y="1645920"/>
            <a:ext cx="3749039" cy="402336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01000" y="1874519"/>
            <a:ext cx="3291840" cy="320040"/>
          </a:xfrm>
          <a:prstGeom prst="rect">
            <a:avLst/>
          </a:prstGeom>
          <a:noFill/>
        </p:spPr>
        <p:txBody>
          <a:bodyPr wrap="square" lIns="0" rIns="0" tIns="0" bIns="0" anchor="t">
            <a:spAutoFit/>
          </a:bodyPr>
          <a:lstStyle/>
          <a:p>
            <a:pPr algn="l">
              <a:spcAft>
                <a:spcPts val="0"/>
              </a:spcAft>
            </a:pPr>
            <a:r>
              <a:rPr sz="1500" b="1" i="0">
                <a:solidFill>
                  <a:srgbClr val="15242E"/>
                </a:solidFill>
                <a:latin typeface="Calibri"/>
              </a:rPr>
              <a:t>Read the middle column</a:t>
            </a:r>
          </a:p>
        </p:txBody>
      </p:sp>
      <p:sp>
        <p:nvSpPr>
          <p:cNvPr id="58" name="TextBox 57"/>
          <p:cNvSpPr txBox="1"/>
          <p:nvPr/>
        </p:nvSpPr>
        <p:spPr>
          <a:xfrm>
            <a:off x="8001000" y="2331720"/>
            <a:ext cx="3200400" cy="3108960"/>
          </a:xfrm>
          <a:prstGeom prst="rect">
            <a:avLst/>
          </a:prstGeom>
          <a:noFill/>
        </p:spPr>
        <p:txBody>
          <a:bodyPr wrap="square" lIns="0" rIns="0" tIns="0" bIns="0" anchor="t">
            <a:spAutoFit/>
          </a:bodyPr>
          <a:lstStyle/>
          <a:p>
            <a:pPr algn="l">
              <a:spcAft>
                <a:spcPts val="300"/>
              </a:spcAft>
            </a:pPr>
            <a:r>
              <a:rPr sz="1250" b="0" i="0">
                <a:solidFill>
                  <a:srgbClr val="5B6E7A"/>
                </a:solidFill>
                <a:latin typeface="Calibri"/>
              </a:rPr>
              <a:t>Every one of these families recovers once the</a:t>
            </a:r>
          </a:p>
          <a:p>
            <a:pPr algn="l">
              <a:spcAft>
                <a:spcPts val="300"/>
              </a:spcAft>
            </a:pPr>
            <a:r>
              <a:rPr sz="1250" b="0" i="0">
                <a:solidFill>
                  <a:srgbClr val="5B6E7A"/>
                </a:solidFill>
                <a:latin typeface="Calibri"/>
              </a:rPr>
              <a:t>responses that hit the cap are removed.</a:t>
            </a:r>
          </a:p>
          <a:p>
            <a:pPr algn="l">
              <a:spcAft>
                <a:spcPts val="300"/>
              </a:spcAft>
            </a:pPr>
            <a:r>
              <a:rPr sz="1250" b="0" i="0">
                <a:solidFill>
                  <a:srgbClr val="5B6E7A"/>
                </a:solidFill>
                <a:latin typeface="Calibri"/>
              </a:rPr>
              <a:t/>
            </a:r>
          </a:p>
          <a:p>
            <a:pPr algn="l">
              <a:spcAft>
                <a:spcPts val="300"/>
              </a:spcAft>
            </a:pPr>
            <a:r>
              <a:rPr sz="1250" b="0" i="0">
                <a:solidFill>
                  <a:srgbClr val="5B6E7A"/>
                </a:solidFill>
                <a:latin typeface="Calibri"/>
              </a:rPr>
              <a:t>The apparent weakness is the 32,768-token</a:t>
            </a:r>
          </a:p>
          <a:p>
            <a:pPr algn="l">
              <a:spcAft>
                <a:spcPts val="300"/>
              </a:spcAft>
            </a:pPr>
            <a:r>
              <a:rPr sz="1250" b="0" i="0">
                <a:solidFill>
                  <a:srgbClr val="5B6E7A"/>
                </a:solidFill>
                <a:latin typeface="Calibri"/>
              </a:rPr>
              <a:t>output budget, not the geometry.</a:t>
            </a:r>
          </a:p>
          <a:p>
            <a:pPr algn="l">
              <a:spcAft>
                <a:spcPts val="300"/>
              </a:spcAft>
            </a:pPr>
            <a:r>
              <a:rPr sz="1250" b="0" i="0">
                <a:solidFill>
                  <a:srgbClr val="5B6E7A"/>
                </a:solidFill>
                <a:latin typeface="Calibri"/>
              </a:rPr>
              <a:t/>
            </a:r>
          </a:p>
          <a:p>
            <a:pPr algn="l">
              <a:spcAft>
                <a:spcPts val="300"/>
              </a:spcAft>
            </a:pPr>
            <a:r>
              <a:rPr sz="1250" b="0" i="0">
                <a:solidFill>
                  <a:srgbClr val="5B6E7A"/>
                </a:solidFill>
                <a:latin typeface="Calibri"/>
              </a:rPr>
              <a:t>This is why truncation is its own failure</a:t>
            </a:r>
          </a:p>
          <a:p>
            <a:pPr algn="l">
              <a:spcAft>
                <a:spcPts val="300"/>
              </a:spcAft>
            </a:pPr>
            <a:r>
              <a:rPr sz="1250" b="0" i="0">
                <a:solidFill>
                  <a:srgbClr val="5B6E7A"/>
                </a:solidFill>
                <a:latin typeface="Calibri"/>
              </a:rPr>
              <a:t>category rather than folded into the score:</a:t>
            </a:r>
          </a:p>
          <a:p>
            <a:pPr algn="l">
              <a:spcAft>
                <a:spcPts val="300"/>
              </a:spcAft>
            </a:pPr>
            <a:r>
              <a:rPr sz="1250" b="0" i="0">
                <a:solidFill>
                  <a:srgbClr val="5B6E7A"/>
                </a:solidFill>
                <a:latin typeface="Calibri"/>
              </a:rPr>
              <a:t>a zero from a cut-off answer and a zero from</a:t>
            </a:r>
          </a:p>
          <a:p>
            <a:pPr algn="l">
              <a:spcAft>
                <a:spcPts val="300"/>
              </a:spcAft>
            </a:pPr>
            <a:r>
              <a:rPr sz="1250" b="0" i="0">
                <a:solidFill>
                  <a:srgbClr val="5B6E7A"/>
                </a:solidFill>
                <a:latin typeface="Calibri"/>
              </a:rPr>
              <a:t>a wrong one mean opposite things.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CONTROLS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the coordinates are worth — and a trap</a:t>
            </a:r>
          </a:p>
        </p:txBody>
      </p:sp>
      <p:sp>
        <p:nvSpPr>
          <p:cNvPr id="5" name="TextBox 4"/>
          <p:cNvSpPr txBox="1"/>
          <p:nvPr/>
        </p:nvSpPr>
        <p:spPr>
          <a:xfrm>
            <a:off x="822960" y="1645920"/>
            <a:ext cx="10515600" cy="548640"/>
          </a:xfrm>
          <a:prstGeom prst="rect">
            <a:avLst/>
          </a:prstGeom>
          <a:noFill/>
        </p:spPr>
        <p:txBody>
          <a:bodyPr wrap="square" lIns="0" rIns="0" tIns="0" bIns="0" anchor="t">
            <a:spAutoFit/>
          </a:bodyPr>
          <a:lstStyle/>
          <a:p>
            <a:pPr algn="l">
              <a:spcAft>
                <a:spcPts val="0"/>
              </a:spcAft>
            </a:pPr>
            <a:r>
              <a:rPr sz="1350" b="0" i="0">
                <a:solidFill>
                  <a:srgbClr val="5B6E7A"/>
                </a:solidFill>
                <a:latin typeface="Calibri"/>
              </a:rPr>
              <a:t>Seven families and the six mechanistic episodes are also asked with the coordinates removed. For the automatic families the sanitised question names no protein, so what the control measures is the guessing floor.</a:t>
            </a:r>
          </a:p>
        </p:txBody>
      </p:sp>
      <p:sp>
        <p:nvSpPr>
          <p:cNvPr id="6" name="TextBox 5"/>
          <p:cNvSpPr txBox="1"/>
          <p:nvPr/>
        </p:nvSpPr>
        <p:spPr>
          <a:xfrm>
            <a:off x="86868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FAMILY</a:t>
            </a:r>
          </a:p>
        </p:txBody>
      </p:sp>
      <p:sp>
        <p:nvSpPr>
          <p:cNvPr id="7" name="TextBox 6"/>
          <p:cNvSpPr txBox="1"/>
          <p:nvPr/>
        </p:nvSpPr>
        <p:spPr>
          <a:xfrm>
            <a:off x="224028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FLOOR</a:t>
            </a:r>
          </a:p>
        </p:txBody>
      </p:sp>
      <p:sp>
        <p:nvSpPr>
          <p:cNvPr id="8" name="TextBox 7"/>
          <p:cNvSpPr txBox="1"/>
          <p:nvPr/>
        </p:nvSpPr>
        <p:spPr>
          <a:xfrm>
            <a:off x="3520439"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WITH COORDS</a:t>
            </a:r>
          </a:p>
        </p:txBody>
      </p:sp>
      <p:sp>
        <p:nvSpPr>
          <p:cNvPr id="9" name="TextBox 8"/>
          <p:cNvSpPr txBox="1"/>
          <p:nvPr/>
        </p:nvSpPr>
        <p:spPr>
          <a:xfrm>
            <a:off x="507492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NAIVE GAIN</a:t>
            </a:r>
          </a:p>
        </p:txBody>
      </p:sp>
      <p:sp>
        <p:nvSpPr>
          <p:cNvPr id="10" name="TextBox 9"/>
          <p:cNvSpPr txBox="1"/>
          <p:nvPr/>
        </p:nvSpPr>
        <p:spPr>
          <a:xfrm>
            <a:off x="672084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1" name="TextBox 10"/>
          <p:cNvSpPr txBox="1"/>
          <p:nvPr/>
        </p:nvSpPr>
        <p:spPr>
          <a:xfrm>
            <a:off x="8275319"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TRUE GAIN</a:t>
            </a:r>
          </a:p>
        </p:txBody>
      </p:sp>
      <p:sp>
        <p:nvSpPr>
          <p:cNvPr id="12" name="TextBox 11"/>
          <p:cNvSpPr txBox="1"/>
          <p:nvPr/>
        </p:nvSpPr>
        <p:spPr>
          <a:xfrm>
            <a:off x="868680" y="2706624"/>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P01</a:t>
            </a:r>
          </a:p>
        </p:txBody>
      </p:sp>
      <p:sp>
        <p:nvSpPr>
          <p:cNvPr id="13" name="TextBox 12"/>
          <p:cNvSpPr txBox="1"/>
          <p:nvPr/>
        </p:nvSpPr>
        <p:spPr>
          <a:xfrm>
            <a:off x="2240280" y="2706624"/>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14" name="TextBox 13"/>
          <p:cNvSpPr txBox="1"/>
          <p:nvPr/>
        </p:nvSpPr>
        <p:spPr>
          <a:xfrm>
            <a:off x="3520440" y="2706624"/>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15" name="TextBox 14"/>
          <p:cNvSpPr txBox="1"/>
          <p:nvPr/>
        </p:nvSpPr>
        <p:spPr>
          <a:xfrm>
            <a:off x="5074920" y="2706624"/>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16" name="TextBox 15"/>
          <p:cNvSpPr txBox="1"/>
          <p:nvPr/>
        </p:nvSpPr>
        <p:spPr>
          <a:xfrm>
            <a:off x="6720840" y="2706624"/>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17" name="TextBox 16"/>
          <p:cNvSpPr txBox="1"/>
          <p:nvPr/>
        </p:nvSpPr>
        <p:spPr>
          <a:xfrm>
            <a:off x="8275320" y="270662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18" name="TextBox 17"/>
          <p:cNvSpPr txBox="1"/>
          <p:nvPr/>
        </p:nvSpPr>
        <p:spPr>
          <a:xfrm>
            <a:off x="868680" y="3054096"/>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P02</a:t>
            </a:r>
          </a:p>
        </p:txBody>
      </p:sp>
      <p:sp>
        <p:nvSpPr>
          <p:cNvPr id="19" name="TextBox 18"/>
          <p:cNvSpPr txBox="1"/>
          <p:nvPr/>
        </p:nvSpPr>
        <p:spPr>
          <a:xfrm>
            <a:off x="2240280" y="3054096"/>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20" name="TextBox 19"/>
          <p:cNvSpPr txBox="1"/>
          <p:nvPr/>
        </p:nvSpPr>
        <p:spPr>
          <a:xfrm>
            <a:off x="3520440" y="3054096"/>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21" name="TextBox 20"/>
          <p:cNvSpPr txBox="1"/>
          <p:nvPr/>
        </p:nvSpPr>
        <p:spPr>
          <a:xfrm>
            <a:off x="5074920" y="3054096"/>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22" name="TextBox 21"/>
          <p:cNvSpPr txBox="1"/>
          <p:nvPr/>
        </p:nvSpPr>
        <p:spPr>
          <a:xfrm>
            <a:off x="6720840" y="3054096"/>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23" name="TextBox 22"/>
          <p:cNvSpPr txBox="1"/>
          <p:nvPr/>
        </p:nvSpPr>
        <p:spPr>
          <a:xfrm>
            <a:off x="8275320" y="305409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24" name="TextBox 23"/>
          <p:cNvSpPr txBox="1"/>
          <p:nvPr/>
        </p:nvSpPr>
        <p:spPr>
          <a:xfrm>
            <a:off x="868680" y="3401568"/>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S03</a:t>
            </a:r>
          </a:p>
        </p:txBody>
      </p:sp>
      <p:sp>
        <p:nvSpPr>
          <p:cNvPr id="25" name="TextBox 24"/>
          <p:cNvSpPr txBox="1"/>
          <p:nvPr/>
        </p:nvSpPr>
        <p:spPr>
          <a:xfrm>
            <a:off x="2240280" y="3401568"/>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0.167</a:t>
            </a:r>
          </a:p>
        </p:txBody>
      </p:sp>
      <p:sp>
        <p:nvSpPr>
          <p:cNvPr id="26" name="TextBox 25"/>
          <p:cNvSpPr txBox="1"/>
          <p:nvPr/>
        </p:nvSpPr>
        <p:spPr>
          <a:xfrm>
            <a:off x="3520440" y="3401568"/>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0.167</a:t>
            </a:r>
          </a:p>
        </p:txBody>
      </p:sp>
      <p:sp>
        <p:nvSpPr>
          <p:cNvPr id="27" name="TextBox 26"/>
          <p:cNvSpPr txBox="1"/>
          <p:nvPr/>
        </p:nvSpPr>
        <p:spPr>
          <a:xfrm>
            <a:off x="5074920" y="3401568"/>
            <a:ext cx="109728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28" name="TextBox 27"/>
          <p:cNvSpPr txBox="1"/>
          <p:nvPr/>
        </p:nvSpPr>
        <p:spPr>
          <a:xfrm>
            <a:off x="6720840" y="3401568"/>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83%</a:t>
            </a:r>
          </a:p>
        </p:txBody>
      </p:sp>
      <p:sp>
        <p:nvSpPr>
          <p:cNvPr id="29" name="TextBox 28"/>
          <p:cNvSpPr txBox="1"/>
          <p:nvPr/>
        </p:nvSpPr>
        <p:spPr>
          <a:xfrm>
            <a:off x="8275320" y="340156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+0.833</a:t>
            </a:r>
          </a:p>
        </p:txBody>
      </p:sp>
      <p:sp>
        <p:nvSpPr>
          <p:cNvPr id="30" name="TextBox 29"/>
          <p:cNvSpPr txBox="1"/>
          <p:nvPr/>
        </p:nvSpPr>
        <p:spPr>
          <a:xfrm>
            <a:off x="868680" y="3749039"/>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S04</a:t>
            </a:r>
          </a:p>
        </p:txBody>
      </p:sp>
      <p:sp>
        <p:nvSpPr>
          <p:cNvPr id="31" name="TextBox 30"/>
          <p:cNvSpPr txBox="1"/>
          <p:nvPr/>
        </p:nvSpPr>
        <p:spPr>
          <a:xfrm>
            <a:off x="2240280" y="3749039"/>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0.667</a:t>
            </a:r>
          </a:p>
        </p:txBody>
      </p:sp>
      <p:sp>
        <p:nvSpPr>
          <p:cNvPr id="32" name="TextBox 31"/>
          <p:cNvSpPr txBox="1"/>
          <p:nvPr/>
        </p:nvSpPr>
        <p:spPr>
          <a:xfrm>
            <a:off x="3520440" y="3749039"/>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0.167</a:t>
            </a:r>
          </a:p>
        </p:txBody>
      </p:sp>
      <p:sp>
        <p:nvSpPr>
          <p:cNvPr id="33" name="TextBox 32"/>
          <p:cNvSpPr txBox="1"/>
          <p:nvPr/>
        </p:nvSpPr>
        <p:spPr>
          <a:xfrm>
            <a:off x="5074920" y="3749039"/>
            <a:ext cx="1097280" cy="274320"/>
          </a:xfrm>
          <a:prstGeom prst="rect">
            <a:avLst/>
          </a:prstGeom>
          <a:noFill/>
        </p:spPr>
        <p:txBody>
          <a:bodyPr wrap="square" lIns="0" rIns="0" tIns="0" bIns="0" anchor="t">
            <a:spAutoFit/>
          </a:bodyPr>
          <a:lstStyle/>
          <a:p>
            <a:pPr algn="l">
              <a:spcAft>
                <a:spcPts val="0"/>
              </a:spcAft>
            </a:pPr>
            <a:r>
              <a:rPr sz="1300" b="1" i="0">
                <a:solidFill>
                  <a:srgbClr val="E2725B"/>
                </a:solidFill>
                <a:latin typeface="Consolas"/>
              </a:rPr>
              <a:t>-0.500</a:t>
            </a:r>
          </a:p>
        </p:txBody>
      </p:sp>
      <p:sp>
        <p:nvSpPr>
          <p:cNvPr id="34" name="TextBox 33"/>
          <p:cNvSpPr txBox="1"/>
          <p:nvPr/>
        </p:nvSpPr>
        <p:spPr>
          <a:xfrm>
            <a:off x="6720840" y="3749039"/>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83%</a:t>
            </a:r>
          </a:p>
        </p:txBody>
      </p:sp>
      <p:sp>
        <p:nvSpPr>
          <p:cNvPr id="35" name="TextBox 34"/>
          <p:cNvSpPr txBox="1"/>
          <p:nvPr/>
        </p:nvSpPr>
        <p:spPr>
          <a:xfrm>
            <a:off x="8275320" y="3749039"/>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+0.333</a:t>
            </a:r>
          </a:p>
        </p:txBody>
      </p:sp>
      <p:sp>
        <p:nvSpPr>
          <p:cNvPr id="36" name="TextBox 35"/>
          <p:cNvSpPr txBox="1"/>
          <p:nvPr/>
        </p:nvSpPr>
        <p:spPr>
          <a:xfrm>
            <a:off x="868680" y="4096511"/>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S05</a:t>
            </a:r>
          </a:p>
        </p:txBody>
      </p:sp>
      <p:sp>
        <p:nvSpPr>
          <p:cNvPr id="37" name="TextBox 36"/>
          <p:cNvSpPr txBox="1"/>
          <p:nvPr/>
        </p:nvSpPr>
        <p:spPr>
          <a:xfrm>
            <a:off x="2240280" y="4096511"/>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0.333</a:t>
            </a:r>
          </a:p>
        </p:txBody>
      </p:sp>
      <p:sp>
        <p:nvSpPr>
          <p:cNvPr id="38" name="TextBox 37"/>
          <p:cNvSpPr txBox="1"/>
          <p:nvPr/>
        </p:nvSpPr>
        <p:spPr>
          <a:xfrm>
            <a:off x="3520440" y="4096511"/>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0.500</a:t>
            </a:r>
          </a:p>
        </p:txBody>
      </p:sp>
      <p:sp>
        <p:nvSpPr>
          <p:cNvPr id="39" name="TextBox 38"/>
          <p:cNvSpPr txBox="1"/>
          <p:nvPr/>
        </p:nvSpPr>
        <p:spPr>
          <a:xfrm>
            <a:off x="5074920" y="4096511"/>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+0.167</a:t>
            </a:r>
          </a:p>
        </p:txBody>
      </p:sp>
      <p:sp>
        <p:nvSpPr>
          <p:cNvPr id="40" name="TextBox 39"/>
          <p:cNvSpPr txBox="1"/>
          <p:nvPr/>
        </p:nvSpPr>
        <p:spPr>
          <a:xfrm>
            <a:off x="6720840" y="4096511"/>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50%</a:t>
            </a:r>
          </a:p>
        </p:txBody>
      </p:sp>
      <p:sp>
        <p:nvSpPr>
          <p:cNvPr id="41" name="TextBox 40"/>
          <p:cNvSpPr txBox="1"/>
          <p:nvPr/>
        </p:nvSpPr>
        <p:spPr>
          <a:xfrm>
            <a:off x="8275320" y="4096511"/>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+0.667</a:t>
            </a:r>
          </a:p>
        </p:txBody>
      </p:sp>
      <p:sp>
        <p:nvSpPr>
          <p:cNvPr id="42" name="TextBox 41"/>
          <p:cNvSpPr txBox="1"/>
          <p:nvPr/>
        </p:nvSpPr>
        <p:spPr>
          <a:xfrm>
            <a:off x="868680" y="4443983"/>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S08</a:t>
            </a:r>
          </a:p>
        </p:txBody>
      </p:sp>
      <p:sp>
        <p:nvSpPr>
          <p:cNvPr id="43" name="TextBox 42"/>
          <p:cNvSpPr txBox="1"/>
          <p:nvPr/>
        </p:nvSpPr>
        <p:spPr>
          <a:xfrm>
            <a:off x="2240280" y="4443983"/>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44" name="TextBox 43"/>
          <p:cNvSpPr txBox="1"/>
          <p:nvPr/>
        </p:nvSpPr>
        <p:spPr>
          <a:xfrm>
            <a:off x="3520440" y="4443983"/>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45" name="TextBox 44"/>
          <p:cNvSpPr txBox="1"/>
          <p:nvPr/>
        </p:nvSpPr>
        <p:spPr>
          <a:xfrm>
            <a:off x="5074920" y="4443983"/>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46" name="TextBox 45"/>
          <p:cNvSpPr txBox="1"/>
          <p:nvPr/>
        </p:nvSpPr>
        <p:spPr>
          <a:xfrm>
            <a:off x="6720840" y="4443983"/>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47" name="TextBox 46"/>
          <p:cNvSpPr txBox="1"/>
          <p:nvPr/>
        </p:nvSpPr>
        <p:spPr>
          <a:xfrm>
            <a:off x="8275320" y="4443983"/>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48" name="TextBox 47"/>
          <p:cNvSpPr txBox="1"/>
          <p:nvPr/>
        </p:nvSpPr>
        <p:spPr>
          <a:xfrm>
            <a:off x="868680" y="4791455"/>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S09</a:t>
            </a:r>
          </a:p>
        </p:txBody>
      </p:sp>
      <p:sp>
        <p:nvSpPr>
          <p:cNvPr id="49" name="TextBox 48"/>
          <p:cNvSpPr txBox="1"/>
          <p:nvPr/>
        </p:nvSpPr>
        <p:spPr>
          <a:xfrm>
            <a:off x="2240280" y="4791455"/>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50" name="TextBox 49"/>
          <p:cNvSpPr txBox="1"/>
          <p:nvPr/>
        </p:nvSpPr>
        <p:spPr>
          <a:xfrm>
            <a:off x="3520440" y="4791455"/>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51" name="TextBox 50"/>
          <p:cNvSpPr txBox="1"/>
          <p:nvPr/>
        </p:nvSpPr>
        <p:spPr>
          <a:xfrm>
            <a:off x="5074920" y="4791455"/>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52" name="TextBox 51"/>
          <p:cNvSpPr txBox="1"/>
          <p:nvPr/>
        </p:nvSpPr>
        <p:spPr>
          <a:xfrm>
            <a:off x="6720840" y="4791455"/>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53" name="TextBox 52"/>
          <p:cNvSpPr txBox="1"/>
          <p:nvPr/>
        </p:nvSpPr>
        <p:spPr>
          <a:xfrm>
            <a:off x="8275320" y="4791455"/>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54" name="Rounded Rectangle 53"/>
          <p:cNvSpPr/>
          <p:nvPr/>
        </p:nvSpPr>
        <p:spPr>
          <a:xfrm>
            <a:off x="822960" y="5321807"/>
            <a:ext cx="10607040" cy="1325880"/>
          </a:xfrm>
          <a:prstGeom prst="roundRect">
            <a:avLst>
              <a:gd name="adj" fmla="val 4000"/>
            </a:avLst>
          </a:prstGeom>
          <a:solidFill>
            <a:srgbClr val="FFFFFF"/>
          </a:solidFill>
          <a:ln w="9525">
            <a:solidFill>
              <a:srgbClr val="E27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97280" y="5504688"/>
            <a:ext cx="7315200" cy="274320"/>
          </a:xfrm>
          <a:prstGeom prst="rect">
            <a:avLst/>
          </a:prstGeom>
          <a:noFill/>
        </p:spPr>
        <p:txBody>
          <a:bodyPr wrap="square" lIns="0" rIns="0" tIns="0" bIns="0" anchor="t">
            <a:spAutoFit/>
          </a:bodyPr>
          <a:lstStyle/>
          <a:p>
            <a:pPr algn="l">
              <a:spcAft>
                <a:spcPts val="0"/>
              </a:spcAft>
            </a:pPr>
            <a:r>
              <a:rPr sz="1400" b="1" i="0">
                <a:solidFill>
                  <a:srgbClr val="E2725B"/>
                </a:solidFill>
                <a:latin typeface="Calibri"/>
              </a:rPr>
              <a:t>The naive gain can invert its own sign</a:t>
            </a:r>
          </a:p>
        </p:txBody>
      </p:sp>
      <p:sp>
        <p:nvSpPr>
          <p:cNvPr id="56" name="TextBox 55"/>
          <p:cNvSpPr txBox="1"/>
          <p:nvPr/>
        </p:nvSpPr>
        <p:spPr>
          <a:xfrm>
            <a:off x="1097280" y="5824727"/>
            <a:ext cx="10058400" cy="731520"/>
          </a:xfrm>
          <a:prstGeom prst="rect">
            <a:avLst/>
          </a:prstGeom>
          <a:noFill/>
        </p:spPr>
        <p:txBody>
          <a:bodyPr wrap="square" lIns="0" rIns="0" tIns="0" bIns="0" anchor="t">
            <a:spAutoFit/>
          </a:bodyPr>
          <a:lstStyle/>
          <a:p>
            <a:pPr algn="l">
              <a:spcAft>
                <a:spcPts val="400"/>
              </a:spcAft>
            </a:pPr>
            <a:r>
              <a:rPr sz="1250" b="0" i="0">
                <a:solidFill>
                  <a:srgbClr val="5B6E7A"/>
                </a:solidFill>
                <a:latin typeface="Calibri"/>
              </a:rPr>
              <a:t>A context-only prompt is ~200 tokens and never truncates. A coordinate prompt runs to 87,500 tokens and truncates at up to 83%. Comparing them directly pits a finished cheap answer against a cut-off expensive one, and</a:t>
            </a:r>
          </a:p>
          <a:p>
            <a:pPr algn="l">
              <a:spcAft>
                <a:spcPts val="400"/>
              </a:spcAft>
            </a:pPr>
            <a:r>
              <a:rPr sz="1250" b="0" i="0">
                <a:solidFill>
                  <a:srgbClr val="5B6E7A"/>
                </a:solidFill>
                <a:latin typeface="Calibri"/>
              </a:rPr>
              <a:t>reports that coordinates make the model worse. Conditioned on completion, the same families show the gain the control was built to measure.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E8A33D"/>
                </a:solidFill>
                <a:latin typeface="Calibri"/>
              </a:rPr>
              <a:t>A NULL RESULT</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Marin 32B: the benchmark does not fit in it</a:t>
            </a:r>
          </a:p>
        </p:txBody>
      </p:sp>
      <p:sp>
        <p:nvSpPr>
          <p:cNvPr id="5" name="TextBox 4"/>
          <p:cNvSpPr txBox="1"/>
          <p:nvPr/>
        </p:nvSpPr>
        <p:spPr>
          <a:xfrm>
            <a:off x="822960" y="1965960"/>
            <a:ext cx="5120640" cy="822960"/>
          </a:xfrm>
          <a:prstGeom prst="rect">
            <a:avLst/>
          </a:prstGeom>
          <a:noFill/>
        </p:spPr>
        <p:txBody>
          <a:bodyPr wrap="square" lIns="0" rIns="0" tIns="0" bIns="0" anchor="t">
            <a:spAutoFit/>
          </a:bodyPr>
          <a:lstStyle/>
          <a:p>
            <a:pPr algn="l">
              <a:spcAft>
                <a:spcPts val="1400"/>
              </a:spcAft>
            </a:pPr>
            <a:r>
              <a:rPr sz="1500" b="0" i="0">
                <a:solidFill>
                  <a:srgbClr val="AFC3CE"/>
                </a:solidFill>
                <a:latin typeface="Calibri"/>
              </a:rPr>
              <a:t>Smallest prompt containing any coordinates</a:t>
            </a:r>
          </a:p>
          <a:p>
            <a:pPr algn="l">
              <a:spcAft>
                <a:spcPts val="1400"/>
              </a:spcAft>
            </a:pPr>
            <a:r>
              <a:rPr sz="1500" b="0" i="0">
                <a:solidFill>
                  <a:srgbClr val="AFC3CE"/>
                </a:solidFill>
                <a:latin typeface="Calibri"/>
              </a:rPr>
              <a:t>Marin 32B context window</a:t>
            </a:r>
          </a:p>
        </p:txBody>
      </p:sp>
      <p:sp>
        <p:nvSpPr>
          <p:cNvPr id="6" name="TextBox 5"/>
          <p:cNvSpPr txBox="1"/>
          <p:nvPr/>
        </p:nvSpPr>
        <p:spPr>
          <a:xfrm>
            <a:off x="6035040" y="1965960"/>
            <a:ext cx="2743200" cy="822960"/>
          </a:xfrm>
          <a:prstGeom prst="rect">
            <a:avLst/>
          </a:prstGeom>
          <a:noFill/>
        </p:spPr>
        <p:txBody>
          <a:bodyPr wrap="square" lIns="0" rIns="0" tIns="0" bIns="0" anchor="t">
            <a:spAutoFit/>
          </a:bodyPr>
          <a:lstStyle/>
          <a:p>
            <a:pPr algn="l">
              <a:spcAft>
                <a:spcPts val="1400"/>
              </a:spcAft>
            </a:pPr>
            <a:r>
              <a:rPr sz="1500" b="1" i="0">
                <a:solidFill>
                  <a:srgbClr val="4FD1C5"/>
                </a:solidFill>
                <a:latin typeface="Consolas"/>
              </a:rPr>
              <a:t>7,132 tokens</a:t>
            </a:r>
          </a:p>
          <a:p>
            <a:pPr algn="l">
              <a:spcAft>
                <a:spcPts val="1400"/>
              </a:spcAft>
            </a:pPr>
            <a:r>
              <a:rPr sz="1500" b="1" i="0">
                <a:solidFill>
                  <a:srgbClr val="4FD1C5"/>
                </a:solidFill>
                <a:latin typeface="Consolas"/>
              </a:rPr>
              <a:t>4,096 tokens</a:t>
            </a:r>
          </a:p>
        </p:txBody>
      </p:sp>
      <p:sp>
        <p:nvSpPr>
          <p:cNvPr id="7" name="TextBox 6"/>
          <p:cNvSpPr txBox="1"/>
          <p:nvPr/>
        </p:nvSpPr>
        <p:spPr>
          <a:xfrm>
            <a:off x="822960" y="3063240"/>
            <a:ext cx="10515600" cy="640080"/>
          </a:xfrm>
          <a:prstGeom prst="rect">
            <a:avLst/>
          </a:prstGeom>
          <a:noFill/>
        </p:spPr>
        <p:txBody>
          <a:bodyPr wrap="square" lIns="0" rIns="0" tIns="0" bIns="0" anchor="t">
            <a:spAutoFit/>
          </a:bodyPr>
          <a:lstStyle/>
          <a:p>
            <a:pPr algn="l">
              <a:spcAft>
                <a:spcPts val="0"/>
              </a:spcAft>
            </a:pPr>
            <a:r>
              <a:rPr sz="1400" b="0" i="0">
                <a:solidFill>
                  <a:srgbClr val="AFC3CE"/>
                </a:solidFill>
                <a:latin typeface="Calibri"/>
              </a:rPr>
              <a:t>Not one structural question fits. All 48 renders that do are context-only controls, which by construction show no structure — so the run measures a guessing floor and nothing else.</a:t>
            </a:r>
          </a:p>
        </p:txBody>
      </p:sp>
      <p:sp>
        <p:nvSpPr>
          <p:cNvPr id="8" name="TextBox 7"/>
          <p:cNvSpPr txBox="1"/>
          <p:nvPr/>
        </p:nvSpPr>
        <p:spPr>
          <a:xfrm>
            <a:off x="822960" y="3886200"/>
            <a:ext cx="10515600" cy="2011680"/>
          </a:xfrm>
          <a:prstGeom prst="rect">
            <a:avLst/>
          </a:prstGeom>
          <a:noFill/>
        </p:spPr>
        <p:txBody>
          <a:bodyPr wrap="square" lIns="0" rIns="0" tIns="0" bIns="0" anchor="t">
            <a:spAutoFit/>
          </a:bodyPr>
          <a:lstStyle/>
          <a:p>
            <a:pPr algn="l">
              <a:spcAft>
                <a:spcPts val="700"/>
              </a:spcAft>
            </a:pPr>
            <a:r>
              <a:rPr sz="1300" b="0" i="0">
                <a:solidFill>
                  <a:srgbClr val="AFC3CE"/>
                </a:solidFill>
                <a:latin typeface="Calibri"/>
              </a:rPr>
              <a:t>Two things make it unevaluable, both properties of the model:</a:t>
            </a:r>
          </a:p>
          <a:p>
            <a:pPr algn="l">
              <a:spcAft>
                <a:spcPts val="700"/>
              </a:spcAft>
            </a:pPr>
            <a:r>
              <a:rPr sz="1300" b="0" i="0">
                <a:solidFill>
                  <a:srgbClr val="AFC3CE"/>
                </a:solidFill>
                <a:latin typeface="Calibri"/>
              </a:rPr>
              <a:t/>
            </a:r>
          </a:p>
          <a:p>
            <a:pPr algn="l">
              <a:spcAft>
                <a:spcPts val="700"/>
              </a:spcAft>
            </a:pPr>
            <a:r>
              <a:rPr sz="1300" b="0" i="0">
                <a:solidFill>
                  <a:srgbClr val="AFC3CE"/>
                </a:solidFill>
                <a:latin typeface="Calibri"/>
              </a:rPr>
              <a:t>It is a base model. marin-32b-instruct does not exist. It answered P01 with the entire alphabet, and elsewhere repeated the prompt until it hit the cap — all 34 truncations.</a:t>
            </a:r>
          </a:p>
          <a:p>
            <a:pPr algn="l">
              <a:spcAft>
                <a:spcPts val="700"/>
              </a:spcAft>
            </a:pPr>
            <a:r>
              <a:rPr sz="1300" b="0" i="0">
                <a:solidFill>
                  <a:srgbClr val="AFC3CE"/>
                </a:solidFill>
                <a:latin typeface="Calibri"/>
              </a:rPr>
              <a:t/>
            </a:r>
          </a:p>
          <a:p>
            <a:pPr algn="l">
              <a:spcAft>
                <a:spcPts val="700"/>
              </a:spcAft>
            </a:pPr>
            <a:r>
              <a:rPr sz="1300" b="0" i="0">
                <a:solidFill>
                  <a:srgbClr val="AFC3CE"/>
                </a:solidFill>
                <a:latin typeface="Calibri"/>
              </a:rPr>
              <a:t>config.json claims rope_scaling to 65k; the model card says 4,096. vLLM overrides only behind a flag whose warning is that RoPE past the derived length returns NaN — and a zero from NaN is indistinguishable from a zero from inability.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METHOD</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makes these numbers reproducible</a:t>
            </a:r>
          </a:p>
        </p:txBody>
      </p:sp>
      <p:sp>
        <p:nvSpPr>
          <p:cNvPr id="5" name="Rounded Rectangle 4"/>
          <p:cNvSpPr/>
          <p:nvPr/>
        </p:nvSpPr>
        <p:spPr>
          <a:xfrm>
            <a:off x="822960" y="173736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88366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Gold answers are recomputed, never stored</a:t>
            </a:r>
          </a:p>
        </p:txBody>
      </p:sp>
      <p:sp>
        <p:nvSpPr>
          <p:cNvPr id="7" name="TextBox 6"/>
          <p:cNvSpPr txBox="1"/>
          <p:nvPr/>
        </p:nvSpPr>
        <p:spPr>
          <a:xfrm>
            <a:off x="1143000" y="221284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Every label comes from an oracle run on the coordinates the model was shown. A rotated variant, a cropped variant and a table variant must agree or the build fails.</a:t>
            </a:r>
          </a:p>
        </p:txBody>
      </p:sp>
      <p:sp>
        <p:nvSpPr>
          <p:cNvPr id="8" name="Rounded Rectangle 7"/>
          <p:cNvSpPr/>
          <p:nvPr/>
        </p:nvSpPr>
        <p:spPr>
          <a:xfrm>
            <a:off x="822960" y="292608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07238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The answers are not in the repository</a:t>
            </a:r>
          </a:p>
        </p:txBody>
      </p:sp>
      <p:sp>
        <p:nvSpPr>
          <p:cNvPr id="10" name="TextBox 9"/>
          <p:cNvSpPr txBox="1"/>
          <p:nvPr/>
        </p:nvSpPr>
        <p:spPr>
          <a:xfrm>
            <a:off x="1143000" y="340156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build regenerates them byte-identically and validate checks them against committed hashes. Two independent rebuilds were byte-identical.</a:t>
            </a:r>
          </a:p>
        </p:txBody>
      </p:sp>
      <p:sp>
        <p:nvSpPr>
          <p:cNvPr id="11" name="Rounded Rectangle 10"/>
          <p:cNvSpPr/>
          <p:nvPr/>
        </p:nvSpPr>
        <p:spPr>
          <a:xfrm>
            <a:off x="822960" y="411480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26110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Responses are content-addressed, not run-addressed</a:t>
            </a:r>
          </a:p>
        </p:txBody>
      </p:sp>
      <p:sp>
        <p:nvSpPr>
          <p:cNvPr id="13" name="TextBox 12"/>
          <p:cNvSpPr txBox="1"/>
          <p:nvPr/>
        </p:nvSpPr>
        <p:spPr>
          <a:xfrm>
            <a:off x="1143000" y="459028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Keyed on model, output budget and exact prompt text — not on render id. Adding a question costs the calls for that question. Full provider bodies are kept, so reasoning traces survive for inspection.</a:t>
            </a:r>
          </a:p>
        </p:txBody>
      </p:sp>
      <p:sp>
        <p:nvSpPr>
          <p:cNvPr id="14" name="Rounded Rectangle 13"/>
          <p:cNvSpPr/>
          <p:nvPr/>
        </p:nvSpPr>
        <p:spPr>
          <a:xfrm>
            <a:off x="822960" y="530352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544982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Truncation is a category, not a score</a:t>
            </a:r>
          </a:p>
        </p:txBody>
      </p:sp>
      <p:sp>
        <p:nvSpPr>
          <p:cNvPr id="16" name="TextBox 15"/>
          <p:cNvSpPr txBox="1"/>
          <p:nvPr/>
        </p:nvSpPr>
        <p:spPr>
          <a:xfrm>
            <a:off x="1143000" y="577900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Reported next to every number. An earlier model moved 0.475 → 0.710 with nothing changed but its output budget.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CAVEATS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these numbers are not</a:t>
            </a:r>
          </a:p>
        </p:txBody>
      </p:sp>
      <p:sp>
        <p:nvSpPr>
          <p:cNvPr id="5" name="TextBox 4"/>
          <p:cNvSpPr txBox="1"/>
          <p:nvPr/>
        </p:nvSpPr>
        <p:spPr>
          <a:xfrm>
            <a:off x="1051560" y="1737360"/>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Not curator-reviewed</a:t>
            </a:r>
          </a:p>
        </p:txBody>
      </p:sp>
      <p:sp>
        <p:nvSpPr>
          <p:cNvPr id="6" name="TextBox 5"/>
          <p:cNvSpPr txBox="1"/>
          <p:nvPr/>
        </p:nvSpPr>
        <p:spPr>
          <a:xfrm>
            <a:off x="4480560" y="1737360"/>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The 117-instance set is proposed, not accepted. A curator interface exists and decisions are being recorded; most of the set is pending.</a:t>
            </a:r>
          </a:p>
        </p:txBody>
      </p:sp>
      <p:sp>
        <p:nvSpPr>
          <p:cNvPr id="7" name="TextBox 6"/>
          <p:cNvSpPr txBox="1"/>
          <p:nvPr/>
        </p:nvSpPr>
        <p:spPr>
          <a:xfrm>
            <a:off x="1051560" y="2596896"/>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One completion per prompt</a:t>
            </a:r>
          </a:p>
        </p:txBody>
      </p:sp>
      <p:sp>
        <p:nvSpPr>
          <p:cNvPr id="8" name="TextBox 7"/>
          <p:cNvSpPr txBox="1"/>
          <p:nvPr/>
        </p:nvSpPr>
        <p:spPr>
          <a:xfrm>
            <a:off x="4480560" y="2596896"/>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The protocol calls for three, and ten on a reliability subset. Intervals here cover benchmark composition only, not model stochasticity.</a:t>
            </a:r>
          </a:p>
        </p:txBody>
      </p:sp>
      <p:sp>
        <p:nvSpPr>
          <p:cNvPr id="9" name="TextBox 8"/>
          <p:cNvSpPr txBox="1"/>
          <p:nvPr/>
        </p:nvSpPr>
        <p:spPr>
          <a:xfrm>
            <a:off x="1051560" y="3456432"/>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Three runs are incomplete</a:t>
            </a:r>
          </a:p>
        </p:txBody>
      </p:sp>
      <p:sp>
        <p:nvSpPr>
          <p:cNvPr id="10" name="TextBox 9"/>
          <p:cNvSpPr txBox="1"/>
          <p:nvPr/>
        </p:nvSpPr>
        <p:spPr>
          <a:xfrm>
            <a:off x="4480560" y="3456432"/>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A credit limit cut them off mid-batch. They cover different family subsets and are excluded from comparison rather than presented.</a:t>
            </a:r>
          </a:p>
        </p:txBody>
      </p:sp>
      <p:sp>
        <p:nvSpPr>
          <p:cNvPr id="11" name="TextBox 10"/>
          <p:cNvSpPr txBox="1"/>
          <p:nvPr/>
        </p:nvSpPr>
        <p:spPr>
          <a:xfrm>
            <a:off x="1051560" y="4315968"/>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Budgets differ by model</a:t>
            </a:r>
          </a:p>
        </p:txBody>
      </p:sp>
      <p:sp>
        <p:nvSpPr>
          <p:cNvPr id="12" name="TextBox 11"/>
          <p:cNvSpPr txBox="1"/>
          <p:nvPr/>
        </p:nvSpPr>
        <p:spPr>
          <a:xfrm>
            <a:off x="4480560" y="4315968"/>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Each model got the largest output budget its context allows beside an 87,500-token prompt — gpt-oss 32,768 against Kimi's 65,536. Compare truncation counts, not only scores.</a:t>
            </a:r>
          </a:p>
        </p:txBody>
      </p:sp>
      <p:sp>
        <p:nvSpPr>
          <p:cNvPr id="13" name="TextBox 12"/>
          <p:cNvSpPr txBox="1"/>
          <p:nvPr/>
        </p:nvSpPr>
        <p:spPr>
          <a:xfrm>
            <a:off x="1051560" y="5175504"/>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S02 is thin</a:t>
            </a:r>
          </a:p>
        </p:txBody>
      </p:sp>
      <p:sp>
        <p:nvSpPr>
          <p:cNvPr id="14" name="TextBox 13"/>
          <p:cNvSpPr txBox="1"/>
          <p:nvPr/>
        </p:nvSpPr>
        <p:spPr>
          <a:xfrm>
            <a:off x="4480560" y="5175504"/>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Two instances against a target of four: phosphorylation is rare in the pool and absent from all 49 FoldBench entries.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