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dPt>
            <c:idx val="4"/>
            <c:spPr>
              <a:solidFill>
                <a:srgbClr val="0E7C7B"/>
              </a:solidFill>
              <a:ln>
                <a:noFill/>
              </a:ln>
            </c:spPr>
          </c:dPt>
          <c:dPt>
            <c:idx val="5"/>
            <c:spPr>
              <a:solidFill>
                <a:srgbClr val="0E7C7B"/>
              </a:solidFill>
              <a:ln>
                <a:noFill/>
              </a:ln>
            </c:spPr>
          </c:dPt>
          <c:dPt>
            <c:idx val="6"/>
            <c:spPr>
              <a:solidFill>
                <a:srgbClr val="0E7C7B"/>
              </a:solidFill>
              <a:ln>
                <a:noFill/>
              </a:ln>
            </c:spPr>
          </c:dPt>
          <c:dPt>
            <c:idx val="7"/>
            <c:spPr>
              <a:solidFill>
                <a:srgbClr val="0E7C7B"/>
              </a:solidFill>
              <a:ln>
                <a:noFill/>
              </a:ln>
            </c:spPr>
          </c:dPt>
          <c:dPt>
            <c:idx val="8"/>
            <c:spPr>
              <a:solidFill>
                <a:srgbClr val="0E7C7B"/>
              </a:solidFill>
              <a:ln>
                <a:noFill/>
              </a:ln>
            </c:spPr>
          </c:dPt>
          <c:cat>
            <c:strRef>
              <c:f>Sheet1!$A$2:$A$10</c:f>
              <c:strCache>
                <c:ptCount val="9"/>
                <c:pt idx="0">
                  <c:v>gpt-oss-20b</c:v>
                </c:pt>
                <c:pt idx="1">
                  <c:v>gpt-oss-120b</c:v>
                </c:pt>
                <c:pt idx="2">
                  <c:v>Qwen3.5 9B</c:v>
                </c:pt>
                <c:pt idx="3">
                  <c:v>MiniMax M3</c:v>
                </c:pt>
                <c:pt idx="4">
                  <c:v>Gemma 4 31B</c:v>
                </c:pt>
                <c:pt idx="5">
                  <c:v>DeepSeek V4 Flash</c:v>
                </c:pt>
                <c:pt idx="6">
                  <c:v>Kimi K3</c:v>
                </c:pt>
                <c:pt idx="7">
                  <c:v>Claude Opus 5</c:v>
                </c:pt>
                <c:pt idx="8">
                  <c:v>GPT-6 Astra</c:v>
                </c:pt>
              </c:strCache>
            </c:strRef>
          </c:cat>
          <c:val>
            <c:numRef>
              <c:f>Sheet1!$B$2:$B$10</c:f>
              <c:numCache>
                <c:formatCode>General</c:formatCode>
                <c:ptCount val="9"/>
                <c:pt idx="0">
                  <c:v>0.18024685683990194</c:v>
                </c:pt>
                <c:pt idx="1">
                  <c:v>0.2571471708116445</c:v>
                </c:pt>
                <c:pt idx="2">
                  <c:v>0.2938461940106677</c:v>
                </c:pt>
                <c:pt idx="3">
                  <c:v>0.45261170627617997</c:v>
                </c:pt>
                <c:pt idx="4">
                  <c:v>0.5776639734534471</c:v>
                </c:pt>
                <c:pt idx="5">
                  <c:v>0.6153140586787204</c:v>
                </c:pt>
                <c:pt idx="6">
                  <c:v>0.6844022292452744</c:v>
                </c:pt>
                <c:pt idx="7">
                  <c:v>0.81400686776101</c:v>
                </c:pt>
                <c:pt idx="8">
                  <c:v>0.856880652208919</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dPt>
            <c:idx val="4"/>
            <c:spPr>
              <a:solidFill>
                <a:srgbClr val="4FD1C5"/>
              </a:solidFill>
              <a:ln>
                <a:noFill/>
              </a:ln>
            </c:spPr>
          </c:dPt>
          <c:dPt>
            <c:idx val="5"/>
            <c:spPr>
              <a:solidFill>
                <a:srgbClr val="4FD1C5"/>
              </a:solidFill>
              <a:ln>
                <a:noFill/>
              </a:ln>
            </c:spPr>
          </c:dPt>
          <c:dPt>
            <c:idx val="6"/>
            <c:spPr>
              <a:solidFill>
                <a:srgbClr val="4FD1C5"/>
              </a:solidFill>
              <a:ln>
                <a:noFill/>
              </a:ln>
            </c:spPr>
          </c:dPt>
          <c:dPt>
            <c:idx val="7"/>
            <c:spPr>
              <a:solidFill>
                <a:srgbClr val="4FD1C5"/>
              </a:solidFill>
              <a:ln>
                <a:noFill/>
              </a:ln>
            </c:spPr>
          </c:dPt>
          <c:dPt>
            <c:idx val="8"/>
            <c:spPr>
              <a:solidFill>
                <a:srgbClr val="4FD1C5"/>
              </a:solidFill>
              <a:ln>
                <a:noFill/>
              </a:ln>
            </c:spPr>
          </c:dPt>
          <c:cat>
            <c:strRef>
              <c:f>Sheet1!$A$2:$A$10</c:f>
              <c:strCache>
                <c:ptCount val="9"/>
                <c:pt idx="0">
                  <c:v>gpt-oss-20b</c:v>
                </c:pt>
                <c:pt idx="1">
                  <c:v>gpt-oss-120b</c:v>
                </c:pt>
                <c:pt idx="2">
                  <c:v>Qwen3.5 9B</c:v>
                </c:pt>
                <c:pt idx="3">
                  <c:v>MiniMax M3</c:v>
                </c:pt>
                <c:pt idx="4">
                  <c:v>Gemma 4 31B</c:v>
                </c:pt>
                <c:pt idx="5">
                  <c:v>DeepSeek V4 Flash</c:v>
                </c:pt>
                <c:pt idx="6">
                  <c:v>Kimi K3</c:v>
                </c:pt>
                <c:pt idx="7">
                  <c:v>Claude Opus 5</c:v>
                </c:pt>
                <c:pt idx="8">
                  <c:v>GPT-6 Astra</c:v>
                </c:pt>
              </c:strCache>
            </c:strRef>
          </c:cat>
          <c:val>
            <c:numRef>
              <c:f>Sheet1!$B$2:$B$10</c:f>
              <c:numCache>
                <c:formatCode>General</c:formatCode>
                <c:ptCount val="9"/>
                <c:pt idx="0">
                  <c:v>0.25574572384513905</c:v>
                </c:pt>
                <c:pt idx="1">
                  <c:v>0.26982726849174216</c:v>
                </c:pt>
                <c:pt idx="2">
                  <c:v>0.5830988455988456</c:v>
                </c:pt>
                <c:pt idx="3">
                  <c:v>0.7565568074856001</c:v>
                </c:pt>
                <c:pt idx="4">
                  <c:v>0.7298285664952332</c:v>
                </c:pt>
                <c:pt idx="5">
                  <c:v>0.7563988630999694</c:v>
                </c:pt>
                <c:pt idx="6">
                  <c:v>0.8296341329236065</c:v>
                </c:pt>
                <c:pt idx="7">
                  <c:v>0.8615800258242702</c:v>
                </c:pt>
                <c:pt idx="8">
                  <c:v>0.856880652208919</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GPT-6 Astra scores 0.857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0.857.</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EXPERIMENT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Give the cut-off answers more room</a:t>
            </a:r>
          </a:p>
        </p:txBody>
      </p:sp>
      <p:sp>
        <p:nvSpPr>
          <p:cNvPr id="5" name="TextBox 4"/>
          <p:cNvSpPr txBox="1"/>
          <p:nvPr/>
        </p:nvSpPr>
        <p:spPr>
          <a:xfrm>
            <a:off x="822960" y="1691640"/>
            <a:ext cx="10515600" cy="54864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Every prompt below scored exactly 0.000 the first time, because the response hit the output cap before reaching a FINAL line. Re-run at a larger budget, unchanged in every other respect:</a:t>
            </a:r>
          </a:p>
        </p:txBody>
      </p:sp>
      <p:sp>
        <p:nvSpPr>
          <p:cNvPr id="6" name="TextBox 5"/>
          <p:cNvSpPr txBox="1"/>
          <p:nvPr/>
        </p:nvSpPr>
        <p:spPr>
          <a:xfrm>
            <a:off x="8686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MODEL</a:t>
            </a:r>
          </a:p>
        </p:txBody>
      </p:sp>
      <p:sp>
        <p:nvSpPr>
          <p:cNvPr id="7" name="TextBox 6"/>
          <p:cNvSpPr txBox="1"/>
          <p:nvPr/>
        </p:nvSpPr>
        <p:spPr>
          <a:xfrm>
            <a:off x="36118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PROMPTS</a:t>
            </a:r>
          </a:p>
        </p:txBody>
      </p:sp>
      <p:sp>
        <p:nvSpPr>
          <p:cNvPr id="8" name="TextBox 7"/>
          <p:cNvSpPr txBox="1"/>
          <p:nvPr/>
        </p:nvSpPr>
        <p:spPr>
          <a:xfrm>
            <a:off x="48006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BUDGET</a:t>
            </a:r>
          </a:p>
        </p:txBody>
      </p:sp>
      <p:sp>
        <p:nvSpPr>
          <p:cNvPr id="9" name="TextBox 8"/>
          <p:cNvSpPr txBox="1"/>
          <p:nvPr/>
        </p:nvSpPr>
        <p:spPr>
          <a:xfrm>
            <a:off x="626364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BEFORE</a:t>
            </a:r>
          </a:p>
        </p:txBody>
      </p:sp>
      <p:sp>
        <p:nvSpPr>
          <p:cNvPr id="10" name="TextBox 9"/>
          <p:cNvSpPr txBox="1"/>
          <p:nvPr/>
        </p:nvSpPr>
        <p:spPr>
          <a:xfrm>
            <a:off x="75438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AFTER</a:t>
            </a:r>
          </a:p>
        </p:txBody>
      </p:sp>
      <p:sp>
        <p:nvSpPr>
          <p:cNvPr id="11" name="TextBox 10"/>
          <p:cNvSpPr txBox="1"/>
          <p:nvPr/>
        </p:nvSpPr>
        <p:spPr>
          <a:xfrm>
            <a:off x="87325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IN TIER</a:t>
            </a:r>
          </a:p>
        </p:txBody>
      </p:sp>
      <p:sp>
        <p:nvSpPr>
          <p:cNvPr id="12" name="TextBox 11"/>
          <p:cNvSpPr txBox="1"/>
          <p:nvPr/>
        </p:nvSpPr>
        <p:spPr>
          <a:xfrm>
            <a:off x="101041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OVERALL</a:t>
            </a:r>
          </a:p>
        </p:txBody>
      </p:sp>
      <p:sp>
        <p:nvSpPr>
          <p:cNvPr id="13" name="TextBox 12"/>
          <p:cNvSpPr txBox="1"/>
          <p:nvPr/>
        </p:nvSpPr>
        <p:spPr>
          <a:xfrm>
            <a:off x="868680" y="28803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Kimi K3</a:t>
            </a:r>
          </a:p>
        </p:txBody>
      </p:sp>
      <p:sp>
        <p:nvSpPr>
          <p:cNvPr id="14" name="TextBox 13"/>
          <p:cNvSpPr txBox="1"/>
          <p:nvPr/>
        </p:nvSpPr>
        <p:spPr>
          <a:xfrm>
            <a:off x="361188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58</a:t>
            </a:r>
          </a:p>
        </p:txBody>
      </p:sp>
      <p:sp>
        <p:nvSpPr>
          <p:cNvPr id="15" name="TextBox 14"/>
          <p:cNvSpPr txBox="1"/>
          <p:nvPr/>
        </p:nvSpPr>
        <p:spPr>
          <a:xfrm>
            <a:off x="480060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64k</a:t>
            </a:r>
          </a:p>
        </p:txBody>
      </p:sp>
      <p:sp>
        <p:nvSpPr>
          <p:cNvPr id="16" name="TextBox 15"/>
          <p:cNvSpPr txBox="1"/>
          <p:nvPr/>
        </p:nvSpPr>
        <p:spPr>
          <a:xfrm>
            <a:off x="6263640" y="28803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17" name="TextBox 16"/>
          <p:cNvSpPr txBox="1"/>
          <p:nvPr/>
        </p:nvSpPr>
        <p:spPr>
          <a:xfrm>
            <a:off x="7543800" y="28803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0.619</a:t>
            </a:r>
          </a:p>
        </p:txBody>
      </p:sp>
      <p:sp>
        <p:nvSpPr>
          <p:cNvPr id="18" name="TextBox 17"/>
          <p:cNvSpPr txBox="1"/>
          <p:nvPr/>
        </p:nvSpPr>
        <p:spPr>
          <a:xfrm>
            <a:off x="8732520" y="28803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13/58</a:t>
            </a:r>
          </a:p>
        </p:txBody>
      </p:sp>
      <p:sp>
        <p:nvSpPr>
          <p:cNvPr id="19" name="TextBox 18"/>
          <p:cNvSpPr txBox="1"/>
          <p:nvPr/>
        </p:nvSpPr>
        <p:spPr>
          <a:xfrm>
            <a:off x="10104120" y="28803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15/247</a:t>
            </a:r>
          </a:p>
        </p:txBody>
      </p:sp>
      <p:sp>
        <p:nvSpPr>
          <p:cNvPr id="20" name="TextBox 19"/>
          <p:cNvSpPr txBox="1"/>
          <p:nvPr/>
        </p:nvSpPr>
        <p:spPr>
          <a:xfrm>
            <a:off x="868680" y="32461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
            </a:r>
          </a:p>
        </p:txBody>
      </p:sp>
      <p:sp>
        <p:nvSpPr>
          <p:cNvPr id="21" name="TextBox 20"/>
          <p:cNvSpPr txBox="1"/>
          <p:nvPr/>
        </p:nvSpPr>
        <p:spPr>
          <a:xfrm>
            <a:off x="361188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a:t>
            </a:r>
          </a:p>
        </p:txBody>
      </p:sp>
      <p:sp>
        <p:nvSpPr>
          <p:cNvPr id="22" name="TextBox 21"/>
          <p:cNvSpPr txBox="1"/>
          <p:nvPr/>
        </p:nvSpPr>
        <p:spPr>
          <a:xfrm>
            <a:off x="480060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256k</a:t>
            </a:r>
          </a:p>
        </p:txBody>
      </p:sp>
      <p:sp>
        <p:nvSpPr>
          <p:cNvPr id="23" name="TextBox 22"/>
          <p:cNvSpPr txBox="1"/>
          <p:nvPr/>
        </p:nvSpPr>
        <p:spPr>
          <a:xfrm>
            <a:off x="6263640" y="32461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4" name="TextBox 23"/>
          <p:cNvSpPr txBox="1"/>
          <p:nvPr/>
        </p:nvSpPr>
        <p:spPr>
          <a:xfrm>
            <a:off x="7543800" y="32461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0.685</a:t>
            </a:r>
          </a:p>
        </p:txBody>
      </p:sp>
      <p:sp>
        <p:nvSpPr>
          <p:cNvPr id="25" name="TextBox 24"/>
          <p:cNvSpPr txBox="1"/>
          <p:nvPr/>
        </p:nvSpPr>
        <p:spPr>
          <a:xfrm>
            <a:off x="8732520" y="324612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0/11</a:t>
            </a:r>
          </a:p>
        </p:txBody>
      </p:sp>
      <p:sp>
        <p:nvSpPr>
          <p:cNvPr id="26" name="TextBox 25"/>
          <p:cNvSpPr txBox="1"/>
          <p:nvPr/>
        </p:nvSpPr>
        <p:spPr>
          <a:xfrm>
            <a:off x="10104120" y="324612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4/247</a:t>
            </a:r>
          </a:p>
        </p:txBody>
      </p:sp>
      <p:sp>
        <p:nvSpPr>
          <p:cNvPr id="27" name="TextBox 26"/>
          <p:cNvSpPr txBox="1"/>
          <p:nvPr/>
        </p:nvSpPr>
        <p:spPr>
          <a:xfrm>
            <a:off x="868680" y="361187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MiniMax M3</a:t>
            </a:r>
          </a:p>
        </p:txBody>
      </p:sp>
      <p:sp>
        <p:nvSpPr>
          <p:cNvPr id="28" name="TextBox 27"/>
          <p:cNvSpPr txBox="1"/>
          <p:nvPr/>
        </p:nvSpPr>
        <p:spPr>
          <a:xfrm>
            <a:off x="361188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31</a:t>
            </a:r>
          </a:p>
        </p:txBody>
      </p:sp>
      <p:sp>
        <p:nvSpPr>
          <p:cNvPr id="29" name="TextBox 28"/>
          <p:cNvSpPr txBox="1"/>
          <p:nvPr/>
        </p:nvSpPr>
        <p:spPr>
          <a:xfrm>
            <a:off x="480060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0" name="TextBox 29"/>
          <p:cNvSpPr txBox="1"/>
          <p:nvPr/>
        </p:nvSpPr>
        <p:spPr>
          <a:xfrm>
            <a:off x="6263640" y="361187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1" name="TextBox 30"/>
          <p:cNvSpPr txBox="1"/>
          <p:nvPr/>
        </p:nvSpPr>
        <p:spPr>
          <a:xfrm>
            <a:off x="7543800" y="361187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0.614</a:t>
            </a:r>
          </a:p>
        </p:txBody>
      </p:sp>
      <p:sp>
        <p:nvSpPr>
          <p:cNvPr id="32" name="TextBox 31"/>
          <p:cNvSpPr txBox="1"/>
          <p:nvPr/>
        </p:nvSpPr>
        <p:spPr>
          <a:xfrm>
            <a:off x="8732520" y="361187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4/31</a:t>
            </a:r>
          </a:p>
        </p:txBody>
      </p:sp>
      <p:sp>
        <p:nvSpPr>
          <p:cNvPr id="33" name="TextBox 32"/>
          <p:cNvSpPr txBox="1"/>
          <p:nvPr/>
        </p:nvSpPr>
        <p:spPr>
          <a:xfrm>
            <a:off x="10104120" y="361187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75/247</a:t>
            </a:r>
          </a:p>
        </p:txBody>
      </p:sp>
      <p:sp>
        <p:nvSpPr>
          <p:cNvPr id="34" name="TextBox 33"/>
          <p:cNvSpPr txBox="1"/>
          <p:nvPr/>
        </p:nvSpPr>
        <p:spPr>
          <a:xfrm>
            <a:off x="868680" y="397763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Qwen3.5 9B</a:t>
            </a:r>
          </a:p>
        </p:txBody>
      </p:sp>
      <p:sp>
        <p:nvSpPr>
          <p:cNvPr id="35" name="TextBox 34"/>
          <p:cNvSpPr txBox="1"/>
          <p:nvPr/>
        </p:nvSpPr>
        <p:spPr>
          <a:xfrm>
            <a:off x="361188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26</a:t>
            </a:r>
          </a:p>
        </p:txBody>
      </p:sp>
      <p:sp>
        <p:nvSpPr>
          <p:cNvPr id="36" name="TextBox 35"/>
          <p:cNvSpPr txBox="1"/>
          <p:nvPr/>
        </p:nvSpPr>
        <p:spPr>
          <a:xfrm>
            <a:off x="480060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7" name="TextBox 36"/>
          <p:cNvSpPr txBox="1"/>
          <p:nvPr/>
        </p:nvSpPr>
        <p:spPr>
          <a:xfrm>
            <a:off x="6263640" y="397763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8" name="TextBox 37"/>
          <p:cNvSpPr txBox="1"/>
          <p:nvPr/>
        </p:nvSpPr>
        <p:spPr>
          <a:xfrm>
            <a:off x="7543800" y="397763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0.365</a:t>
            </a:r>
          </a:p>
        </p:txBody>
      </p:sp>
      <p:sp>
        <p:nvSpPr>
          <p:cNvPr id="39" name="TextBox 38"/>
          <p:cNvSpPr txBox="1"/>
          <p:nvPr/>
        </p:nvSpPr>
        <p:spPr>
          <a:xfrm>
            <a:off x="8732520" y="397763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0/26</a:t>
            </a:r>
          </a:p>
        </p:txBody>
      </p:sp>
      <p:sp>
        <p:nvSpPr>
          <p:cNvPr id="40" name="TextBox 39"/>
          <p:cNvSpPr txBox="1"/>
          <p:nvPr/>
        </p:nvSpPr>
        <p:spPr>
          <a:xfrm>
            <a:off x="10104120" y="397763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133/246</a:t>
            </a:r>
          </a:p>
        </p:txBody>
      </p:sp>
      <p:sp>
        <p:nvSpPr>
          <p:cNvPr id="41" name="TextBox 40"/>
          <p:cNvSpPr txBox="1"/>
          <p:nvPr/>
        </p:nvSpPr>
        <p:spPr>
          <a:xfrm>
            <a:off x="868680" y="434340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gpt-oss-120b</a:t>
            </a:r>
          </a:p>
        </p:txBody>
      </p:sp>
      <p:sp>
        <p:nvSpPr>
          <p:cNvPr id="42" name="TextBox 41"/>
          <p:cNvSpPr txBox="1"/>
          <p:nvPr/>
        </p:nvSpPr>
        <p:spPr>
          <a:xfrm>
            <a:off x="361188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a:t>
            </a:r>
          </a:p>
        </p:txBody>
      </p:sp>
      <p:sp>
        <p:nvSpPr>
          <p:cNvPr id="43" name="TextBox 42"/>
          <p:cNvSpPr txBox="1"/>
          <p:nvPr/>
        </p:nvSpPr>
        <p:spPr>
          <a:xfrm>
            <a:off x="480060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44" name="TextBox 43"/>
          <p:cNvSpPr txBox="1"/>
          <p:nvPr/>
        </p:nvSpPr>
        <p:spPr>
          <a:xfrm>
            <a:off x="6263640" y="434340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5" name="TextBox 44"/>
          <p:cNvSpPr txBox="1"/>
          <p:nvPr/>
        </p:nvSpPr>
        <p:spPr>
          <a:xfrm>
            <a:off x="7543800" y="434340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0.083</a:t>
            </a:r>
          </a:p>
        </p:txBody>
      </p:sp>
      <p:sp>
        <p:nvSpPr>
          <p:cNvPr id="46" name="TextBox 45"/>
          <p:cNvSpPr txBox="1"/>
          <p:nvPr/>
        </p:nvSpPr>
        <p:spPr>
          <a:xfrm>
            <a:off x="8732520" y="434340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3/8</a:t>
            </a:r>
          </a:p>
        </p:txBody>
      </p:sp>
      <p:sp>
        <p:nvSpPr>
          <p:cNvPr id="47" name="TextBox 46"/>
          <p:cNvSpPr txBox="1"/>
          <p:nvPr/>
        </p:nvSpPr>
        <p:spPr>
          <a:xfrm>
            <a:off x="10104120" y="434340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6/229</a:t>
            </a:r>
          </a:p>
        </p:txBody>
      </p:sp>
      <p:sp>
        <p:nvSpPr>
          <p:cNvPr id="48" name="TextBox 47"/>
          <p:cNvSpPr txBox="1"/>
          <p:nvPr/>
        </p:nvSpPr>
        <p:spPr>
          <a:xfrm>
            <a:off x="868680" y="47091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gpt-oss-20b</a:t>
            </a:r>
          </a:p>
        </p:txBody>
      </p:sp>
      <p:sp>
        <p:nvSpPr>
          <p:cNvPr id="49" name="TextBox 48"/>
          <p:cNvSpPr txBox="1"/>
          <p:nvPr/>
        </p:nvSpPr>
        <p:spPr>
          <a:xfrm>
            <a:off x="361188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86</a:t>
            </a:r>
          </a:p>
        </p:txBody>
      </p:sp>
      <p:sp>
        <p:nvSpPr>
          <p:cNvPr id="50" name="TextBox 49"/>
          <p:cNvSpPr txBox="1"/>
          <p:nvPr/>
        </p:nvSpPr>
        <p:spPr>
          <a:xfrm>
            <a:off x="480060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51" name="TextBox 50"/>
          <p:cNvSpPr txBox="1"/>
          <p:nvPr/>
        </p:nvSpPr>
        <p:spPr>
          <a:xfrm>
            <a:off x="6263640" y="47091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52" name="TextBox 51"/>
          <p:cNvSpPr txBox="1"/>
          <p:nvPr/>
        </p:nvSpPr>
        <p:spPr>
          <a:xfrm>
            <a:off x="7543800" y="47091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0.038</a:t>
            </a:r>
          </a:p>
        </p:txBody>
      </p:sp>
      <p:sp>
        <p:nvSpPr>
          <p:cNvPr id="53" name="TextBox 52"/>
          <p:cNvSpPr txBox="1"/>
          <p:nvPr/>
        </p:nvSpPr>
        <p:spPr>
          <a:xfrm>
            <a:off x="8732520" y="47091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60/86</a:t>
            </a:r>
          </a:p>
        </p:txBody>
      </p:sp>
      <p:sp>
        <p:nvSpPr>
          <p:cNvPr id="54" name="TextBox 53"/>
          <p:cNvSpPr txBox="1"/>
          <p:nvPr/>
        </p:nvSpPr>
        <p:spPr>
          <a:xfrm>
            <a:off x="10104120" y="47091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71/242</a:t>
            </a:r>
          </a:p>
        </p:txBody>
      </p:sp>
      <p:sp>
        <p:nvSpPr>
          <p:cNvPr id="55" name="TextBox 54"/>
          <p:cNvSpPr txBox="1"/>
          <p:nvPr/>
        </p:nvSpPr>
        <p:spPr>
          <a:xfrm>
            <a:off x="822960" y="5349240"/>
            <a:ext cx="10515600" cy="1463040"/>
          </a:xfrm>
          <a:prstGeom prst="rect">
            <a:avLst/>
          </a:prstGeom>
          <a:noFill/>
        </p:spPr>
        <p:txBody>
          <a:bodyPr wrap="square" lIns="0" rIns="0" tIns="0" bIns="0" anchor="t">
            <a:spAutoFit/>
          </a:bodyPr>
          <a:lstStyle/>
          <a:p>
            <a:pPr algn="l">
              <a:spcAft>
                <a:spcPts val="500"/>
              </a:spcAft>
            </a:pPr>
            <a:r>
              <a:rPr sz="1250" b="0" i="0">
                <a:solidFill>
                  <a:srgbClr val="AFC3CE"/>
                </a:solidFill>
                <a:latin typeface="Calibri"/>
              </a:rPr>
              <a:t>A zero from a cut-off answer is recoverable; a zero from a wrong answer is not. For the stronger models most of that zero was budget. The two right-hand columns differ because the ladder is incomplete: not every truncated prompt was re-run, so the overall count is the honest one.</a:t>
            </a:r>
          </a:p>
          <a:p>
            <a:pPr algn="l">
              <a:spcAft>
                <a:spcPts val="500"/>
              </a:spcAft>
            </a:pPr>
            <a:r>
              <a:rPr sz="1250" b="0" i="0">
                <a:solidFill>
                  <a:srgbClr val="AFC3CE"/>
                </a:solidFill>
                <a:latin typeface="Calibri"/>
              </a:rPr>
              <a:t/>
            </a:r>
          </a:p>
          <a:p>
            <a:pPr algn="l">
              <a:spcAft>
                <a:spcPts val="500"/>
              </a:spcAft>
            </a:pPr>
            <a:r>
              <a:rPr sz="1250" b="0" i="0">
                <a:solidFill>
                  <a:srgbClr val="AFC3CE"/>
                </a:solidFill>
                <a:latin typeface="Calibri"/>
              </a:rPr>
              <a:t>The two gpt-oss rows are the control, and they are inconclusive rather than negative: their 131,072-token context sits beside an 87,500-token prompt, so the most budget they can be given is a 25% increase, and two thirds of gpt-oss-20b's prompts still run out. Nothing here says those models cannot do the task; it says the experiment cannot be run on them at this prompt length.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0749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355079"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AS SCORED</a:t>
            </a:r>
          </a:p>
        </p:txBody>
      </p:sp>
      <p:sp>
        <p:nvSpPr>
          <p:cNvPr id="8" name="TextBox 7"/>
          <p:cNvSpPr txBox="1"/>
          <p:nvPr/>
        </p:nvSpPr>
        <p:spPr>
          <a:xfrm>
            <a:off x="7818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RE-RUN</a:t>
            </a:r>
          </a:p>
        </p:txBody>
      </p:sp>
      <p:sp>
        <p:nvSpPr>
          <p:cNvPr id="9" name="TextBox 8"/>
          <p:cNvSpPr txBox="1"/>
          <p:nvPr/>
        </p:nvSpPr>
        <p:spPr>
          <a:xfrm>
            <a:off x="9281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0" name="TextBox 9"/>
          <p:cNvSpPr txBox="1"/>
          <p:nvPr/>
        </p:nvSpPr>
        <p:spPr>
          <a:xfrm>
            <a:off x="110185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Rounded Rectangle 10"/>
          <p:cNvSpPr/>
          <p:nvPr/>
        </p:nvSpPr>
        <p:spPr>
          <a:xfrm>
            <a:off x="822960" y="2039112"/>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GPT-6 Astra</a:t>
            </a:r>
          </a:p>
        </p:txBody>
      </p:sp>
      <p:sp>
        <p:nvSpPr>
          <p:cNvPr id="13" name="TextBox 12"/>
          <p:cNvSpPr txBox="1"/>
          <p:nvPr/>
        </p:nvSpPr>
        <p:spPr>
          <a:xfrm>
            <a:off x="50749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14" name="TextBox 13"/>
          <p:cNvSpPr txBox="1"/>
          <p:nvPr/>
        </p:nvSpPr>
        <p:spPr>
          <a:xfrm>
            <a:off x="6355080" y="2130551"/>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0.857</a:t>
            </a:r>
          </a:p>
        </p:txBody>
      </p:sp>
      <p:sp>
        <p:nvSpPr>
          <p:cNvPr id="15" name="TextBox 14"/>
          <p:cNvSpPr txBox="1"/>
          <p:nvPr/>
        </p:nvSpPr>
        <p:spPr>
          <a:xfrm>
            <a:off x="78181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16" name="TextBox 15"/>
          <p:cNvSpPr txBox="1"/>
          <p:nvPr/>
        </p:nvSpPr>
        <p:spPr>
          <a:xfrm>
            <a:off x="9281160" y="2130551"/>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0.857</a:t>
            </a:r>
          </a:p>
        </p:txBody>
      </p:sp>
      <p:sp>
        <p:nvSpPr>
          <p:cNvPr id="17" name="TextBox 16"/>
          <p:cNvSpPr txBox="1"/>
          <p:nvPr/>
        </p:nvSpPr>
        <p:spPr>
          <a:xfrm>
            <a:off x="11018520" y="2130551"/>
            <a:ext cx="137160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0/247</a:t>
            </a:r>
          </a:p>
        </p:txBody>
      </p:sp>
      <p:sp>
        <p:nvSpPr>
          <p:cNvPr id="18" name="Rounded Rectangle 17"/>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Claude Opus 5</a:t>
            </a:r>
          </a:p>
        </p:txBody>
      </p:sp>
      <p:sp>
        <p:nvSpPr>
          <p:cNvPr id="20" name="TextBox 19"/>
          <p:cNvSpPr txBox="1"/>
          <p:nvPr/>
        </p:nvSpPr>
        <p:spPr>
          <a:xfrm>
            <a:off x="50749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21" name="TextBox 20"/>
          <p:cNvSpPr txBox="1"/>
          <p:nvPr/>
        </p:nvSpPr>
        <p:spPr>
          <a:xfrm>
            <a:off x="635508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0.814</a:t>
            </a:r>
          </a:p>
        </p:txBody>
      </p:sp>
      <p:sp>
        <p:nvSpPr>
          <p:cNvPr id="22" name="TextBox 21"/>
          <p:cNvSpPr txBox="1"/>
          <p:nvPr/>
        </p:nvSpPr>
        <p:spPr>
          <a:xfrm>
            <a:off x="78181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23" name="TextBox 22"/>
          <p:cNvSpPr txBox="1"/>
          <p:nvPr/>
        </p:nvSpPr>
        <p:spPr>
          <a:xfrm>
            <a:off x="928116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0.862</a:t>
            </a:r>
          </a:p>
        </p:txBody>
      </p:sp>
      <p:sp>
        <p:nvSpPr>
          <p:cNvPr id="24" name="TextBox 23"/>
          <p:cNvSpPr txBox="1"/>
          <p:nvPr/>
        </p:nvSpPr>
        <p:spPr>
          <a:xfrm>
            <a:off x="1101852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13/247</a:t>
            </a:r>
          </a:p>
        </p:txBody>
      </p:sp>
      <p:sp>
        <p:nvSpPr>
          <p:cNvPr id="25" name="Rounded Rectangle 24"/>
          <p:cNvSpPr/>
          <p:nvPr/>
        </p:nvSpPr>
        <p:spPr>
          <a:xfrm>
            <a:off x="822960" y="306324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27" name="TextBox 26"/>
          <p:cNvSpPr txBox="1"/>
          <p:nvPr/>
        </p:nvSpPr>
        <p:spPr>
          <a:xfrm>
            <a:off x="50749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28" name="TextBox 27"/>
          <p:cNvSpPr txBox="1"/>
          <p:nvPr/>
        </p:nvSpPr>
        <p:spPr>
          <a:xfrm>
            <a:off x="6355080" y="3154679"/>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0.684</a:t>
            </a:r>
          </a:p>
        </p:txBody>
      </p:sp>
      <p:sp>
        <p:nvSpPr>
          <p:cNvPr id="29" name="TextBox 28"/>
          <p:cNvSpPr txBox="1"/>
          <p:nvPr/>
        </p:nvSpPr>
        <p:spPr>
          <a:xfrm>
            <a:off x="7818120" y="3154679"/>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0.829</a:t>
            </a:r>
          </a:p>
        </p:txBody>
      </p:sp>
      <p:sp>
        <p:nvSpPr>
          <p:cNvPr id="30" name="TextBox 29"/>
          <p:cNvSpPr txBox="1"/>
          <p:nvPr/>
        </p:nvSpPr>
        <p:spPr>
          <a:xfrm>
            <a:off x="9281160" y="3154679"/>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0.830</a:t>
            </a:r>
          </a:p>
        </p:txBody>
      </p:sp>
      <p:sp>
        <p:nvSpPr>
          <p:cNvPr id="31" name="TextBox 30"/>
          <p:cNvSpPr txBox="1"/>
          <p:nvPr/>
        </p:nvSpPr>
        <p:spPr>
          <a:xfrm>
            <a:off x="1101852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60/247</a:t>
            </a:r>
          </a:p>
        </p:txBody>
      </p:sp>
      <p:sp>
        <p:nvSpPr>
          <p:cNvPr id="32" name="Rounded Rectangle 31"/>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DeepSeek V4 Flash</a:t>
            </a:r>
          </a:p>
        </p:txBody>
      </p:sp>
      <p:sp>
        <p:nvSpPr>
          <p:cNvPr id="34" name="TextBox 33"/>
          <p:cNvSpPr txBox="1"/>
          <p:nvPr/>
        </p:nvSpPr>
        <p:spPr>
          <a:xfrm>
            <a:off x="50749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222</a:t>
            </a:r>
          </a:p>
        </p:txBody>
      </p:sp>
      <p:sp>
        <p:nvSpPr>
          <p:cNvPr id="35" name="TextBox 34"/>
          <p:cNvSpPr txBox="1"/>
          <p:nvPr/>
        </p:nvSpPr>
        <p:spPr>
          <a:xfrm>
            <a:off x="635508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0.615</a:t>
            </a:r>
          </a:p>
        </p:txBody>
      </p:sp>
      <p:sp>
        <p:nvSpPr>
          <p:cNvPr id="36" name="TextBox 35"/>
          <p:cNvSpPr txBox="1"/>
          <p:nvPr/>
        </p:nvSpPr>
        <p:spPr>
          <a:xfrm>
            <a:off x="78181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37" name="TextBox 36"/>
          <p:cNvSpPr txBox="1"/>
          <p:nvPr/>
        </p:nvSpPr>
        <p:spPr>
          <a:xfrm>
            <a:off x="928116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0.756</a:t>
            </a:r>
          </a:p>
        </p:txBody>
      </p:sp>
      <p:sp>
        <p:nvSpPr>
          <p:cNvPr id="38" name="TextBox 37"/>
          <p:cNvSpPr txBox="1"/>
          <p:nvPr/>
        </p:nvSpPr>
        <p:spPr>
          <a:xfrm>
            <a:off x="1101852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45/222</a:t>
            </a:r>
          </a:p>
        </p:txBody>
      </p:sp>
      <p:sp>
        <p:nvSpPr>
          <p:cNvPr id="39" name="Rounded Rectangle 38"/>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Gemma 4 31B</a:t>
            </a:r>
          </a:p>
        </p:txBody>
      </p:sp>
      <p:sp>
        <p:nvSpPr>
          <p:cNvPr id="41" name="TextBox 40"/>
          <p:cNvSpPr txBox="1"/>
          <p:nvPr/>
        </p:nvSpPr>
        <p:spPr>
          <a:xfrm>
            <a:off x="50749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155</a:t>
            </a:r>
          </a:p>
        </p:txBody>
      </p:sp>
      <p:sp>
        <p:nvSpPr>
          <p:cNvPr id="42" name="TextBox 41"/>
          <p:cNvSpPr txBox="1"/>
          <p:nvPr/>
        </p:nvSpPr>
        <p:spPr>
          <a:xfrm>
            <a:off x="635508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0.578</a:t>
            </a:r>
          </a:p>
        </p:txBody>
      </p:sp>
      <p:sp>
        <p:nvSpPr>
          <p:cNvPr id="43" name="TextBox 42"/>
          <p:cNvSpPr txBox="1"/>
          <p:nvPr/>
        </p:nvSpPr>
        <p:spPr>
          <a:xfrm>
            <a:off x="78181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44" name="TextBox 43"/>
          <p:cNvSpPr txBox="1"/>
          <p:nvPr/>
        </p:nvSpPr>
        <p:spPr>
          <a:xfrm>
            <a:off x="928116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0.730</a:t>
            </a:r>
          </a:p>
        </p:txBody>
      </p:sp>
      <p:sp>
        <p:nvSpPr>
          <p:cNvPr id="45" name="TextBox 44"/>
          <p:cNvSpPr txBox="1"/>
          <p:nvPr/>
        </p:nvSpPr>
        <p:spPr>
          <a:xfrm>
            <a:off x="1101852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19/155</a:t>
            </a:r>
          </a:p>
        </p:txBody>
      </p:sp>
      <p:sp>
        <p:nvSpPr>
          <p:cNvPr id="46" name="Rounded Rectangle 45"/>
          <p:cNvSpPr/>
          <p:nvPr/>
        </p:nvSpPr>
        <p:spPr>
          <a:xfrm>
            <a:off x="822960" y="4599431"/>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48" name="TextBox 47"/>
          <p:cNvSpPr txBox="1"/>
          <p:nvPr/>
        </p:nvSpPr>
        <p:spPr>
          <a:xfrm>
            <a:off x="50749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49" name="TextBox 48"/>
          <p:cNvSpPr txBox="1"/>
          <p:nvPr/>
        </p:nvSpPr>
        <p:spPr>
          <a:xfrm>
            <a:off x="6355080" y="4690872"/>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0.453</a:t>
            </a:r>
          </a:p>
        </p:txBody>
      </p:sp>
      <p:sp>
        <p:nvSpPr>
          <p:cNvPr id="50" name="TextBox 49"/>
          <p:cNvSpPr txBox="1"/>
          <p:nvPr/>
        </p:nvSpPr>
        <p:spPr>
          <a:xfrm>
            <a:off x="7818120" y="4690872"/>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0.528</a:t>
            </a:r>
          </a:p>
        </p:txBody>
      </p:sp>
      <p:sp>
        <p:nvSpPr>
          <p:cNvPr id="51" name="TextBox 50"/>
          <p:cNvSpPr txBox="1"/>
          <p:nvPr/>
        </p:nvSpPr>
        <p:spPr>
          <a:xfrm>
            <a:off x="9281160" y="4690872"/>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0.757</a:t>
            </a:r>
          </a:p>
        </p:txBody>
      </p:sp>
      <p:sp>
        <p:nvSpPr>
          <p:cNvPr id="52" name="TextBox 51"/>
          <p:cNvSpPr txBox="1"/>
          <p:nvPr/>
        </p:nvSpPr>
        <p:spPr>
          <a:xfrm>
            <a:off x="1101852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102/247</a:t>
            </a:r>
          </a:p>
        </p:txBody>
      </p:sp>
      <p:sp>
        <p:nvSpPr>
          <p:cNvPr id="53" name="Rounded Rectangle 52"/>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55" name="TextBox 54"/>
          <p:cNvSpPr txBox="1"/>
          <p:nvPr/>
        </p:nvSpPr>
        <p:spPr>
          <a:xfrm>
            <a:off x="50749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246</a:t>
            </a:r>
          </a:p>
        </p:txBody>
      </p:sp>
      <p:sp>
        <p:nvSpPr>
          <p:cNvPr id="56" name="TextBox 55"/>
          <p:cNvSpPr txBox="1"/>
          <p:nvPr/>
        </p:nvSpPr>
        <p:spPr>
          <a:xfrm>
            <a:off x="635508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0.294</a:t>
            </a:r>
          </a:p>
        </p:txBody>
      </p:sp>
      <p:sp>
        <p:nvSpPr>
          <p:cNvPr id="57" name="TextBox 56"/>
          <p:cNvSpPr txBox="1"/>
          <p:nvPr/>
        </p:nvSpPr>
        <p:spPr>
          <a:xfrm>
            <a:off x="7818120" y="5202936"/>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0.337</a:t>
            </a:r>
          </a:p>
        </p:txBody>
      </p:sp>
      <p:sp>
        <p:nvSpPr>
          <p:cNvPr id="58" name="TextBox 57"/>
          <p:cNvSpPr txBox="1"/>
          <p:nvPr/>
        </p:nvSpPr>
        <p:spPr>
          <a:xfrm>
            <a:off x="928116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0.583</a:t>
            </a:r>
          </a:p>
        </p:txBody>
      </p:sp>
      <p:sp>
        <p:nvSpPr>
          <p:cNvPr id="59" name="TextBox 58"/>
          <p:cNvSpPr txBox="1"/>
          <p:nvPr/>
        </p:nvSpPr>
        <p:spPr>
          <a:xfrm>
            <a:off x="1101852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159/246</a:t>
            </a:r>
          </a:p>
        </p:txBody>
      </p:sp>
      <p:sp>
        <p:nvSpPr>
          <p:cNvPr id="60" name="Rounded Rectangle 59"/>
          <p:cNvSpPr/>
          <p:nvPr/>
        </p:nvSpPr>
        <p:spPr>
          <a:xfrm>
            <a:off x="822960" y="562356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gpt-oss-120b</a:t>
            </a:r>
          </a:p>
        </p:txBody>
      </p:sp>
      <p:sp>
        <p:nvSpPr>
          <p:cNvPr id="62" name="TextBox 61"/>
          <p:cNvSpPr txBox="1"/>
          <p:nvPr/>
        </p:nvSpPr>
        <p:spPr>
          <a:xfrm>
            <a:off x="50749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229</a:t>
            </a:r>
          </a:p>
        </p:txBody>
      </p:sp>
      <p:sp>
        <p:nvSpPr>
          <p:cNvPr id="63" name="TextBox 62"/>
          <p:cNvSpPr txBox="1"/>
          <p:nvPr/>
        </p:nvSpPr>
        <p:spPr>
          <a:xfrm>
            <a:off x="6355080" y="5715000"/>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0.257</a:t>
            </a:r>
          </a:p>
        </p:txBody>
      </p:sp>
      <p:sp>
        <p:nvSpPr>
          <p:cNvPr id="64" name="TextBox 63"/>
          <p:cNvSpPr txBox="1"/>
          <p:nvPr/>
        </p:nvSpPr>
        <p:spPr>
          <a:xfrm>
            <a:off x="7818120" y="5715000"/>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0.259</a:t>
            </a:r>
          </a:p>
        </p:txBody>
      </p:sp>
      <p:sp>
        <p:nvSpPr>
          <p:cNvPr id="65" name="TextBox 64"/>
          <p:cNvSpPr txBox="1"/>
          <p:nvPr/>
        </p:nvSpPr>
        <p:spPr>
          <a:xfrm>
            <a:off x="9281160" y="5715000"/>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0.270</a:t>
            </a:r>
          </a:p>
        </p:txBody>
      </p:sp>
      <p:sp>
        <p:nvSpPr>
          <p:cNvPr id="66" name="TextBox 65"/>
          <p:cNvSpPr txBox="1"/>
          <p:nvPr/>
        </p:nvSpPr>
        <p:spPr>
          <a:xfrm>
            <a:off x="1101852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11/229</a:t>
            </a:r>
          </a:p>
        </p:txBody>
      </p:sp>
      <p:sp>
        <p:nvSpPr>
          <p:cNvPr id="67" name="Rounded Rectangle 66"/>
          <p:cNvSpPr/>
          <p:nvPr/>
        </p:nvSpPr>
        <p:spPr>
          <a:xfrm>
            <a:off x="822960" y="613562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51560" y="622706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69" name="TextBox 68"/>
          <p:cNvSpPr txBox="1"/>
          <p:nvPr/>
        </p:nvSpPr>
        <p:spPr>
          <a:xfrm>
            <a:off x="5074920" y="622706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242</a:t>
            </a:r>
          </a:p>
        </p:txBody>
      </p:sp>
      <p:sp>
        <p:nvSpPr>
          <p:cNvPr id="70" name="TextBox 69"/>
          <p:cNvSpPr txBox="1"/>
          <p:nvPr/>
        </p:nvSpPr>
        <p:spPr>
          <a:xfrm>
            <a:off x="6355080" y="622706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0.180</a:t>
            </a:r>
          </a:p>
        </p:txBody>
      </p:sp>
      <p:sp>
        <p:nvSpPr>
          <p:cNvPr id="71" name="TextBox 70"/>
          <p:cNvSpPr txBox="1"/>
          <p:nvPr/>
        </p:nvSpPr>
        <p:spPr>
          <a:xfrm>
            <a:off x="7818120" y="6227064"/>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0.197</a:t>
            </a:r>
          </a:p>
        </p:txBody>
      </p:sp>
      <p:sp>
        <p:nvSpPr>
          <p:cNvPr id="72" name="TextBox 71"/>
          <p:cNvSpPr txBox="1"/>
          <p:nvPr/>
        </p:nvSpPr>
        <p:spPr>
          <a:xfrm>
            <a:off x="9281160" y="622706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0.256</a:t>
            </a:r>
          </a:p>
        </p:txBody>
      </p:sp>
      <p:sp>
        <p:nvSpPr>
          <p:cNvPr id="73" name="TextBox 72"/>
          <p:cNvSpPr txBox="1"/>
          <p:nvPr/>
        </p:nvSpPr>
        <p:spPr>
          <a:xfrm>
            <a:off x="11018520" y="622706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97/242</a:t>
            </a:r>
          </a:p>
        </p:txBody>
      </p:sp>
      <p:sp>
        <p:nvSpPr>
          <p:cNvPr id="74" name="Rounded Rectangle 73"/>
          <p:cNvSpPr/>
          <p:nvPr/>
        </p:nvSpPr>
        <p:spPr>
          <a:xfrm>
            <a:off x="822960" y="6647688"/>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51560" y="6739128"/>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(8/20 families — not comparable)</a:t>
            </a:r>
          </a:p>
        </p:txBody>
      </p:sp>
      <p:sp>
        <p:nvSpPr>
          <p:cNvPr id="76" name="TextBox 75"/>
          <p:cNvSpPr txBox="1"/>
          <p:nvPr/>
        </p:nvSpPr>
        <p:spPr>
          <a:xfrm>
            <a:off x="507492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36</a:t>
            </a:r>
          </a:p>
        </p:txBody>
      </p:sp>
      <p:sp>
        <p:nvSpPr>
          <p:cNvPr id="77" name="TextBox 76"/>
          <p:cNvSpPr txBox="1"/>
          <p:nvPr/>
        </p:nvSpPr>
        <p:spPr>
          <a:xfrm>
            <a:off x="635508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0.053</a:t>
            </a:r>
          </a:p>
        </p:txBody>
      </p:sp>
      <p:sp>
        <p:nvSpPr>
          <p:cNvPr id="78" name="TextBox 77"/>
          <p:cNvSpPr txBox="1"/>
          <p:nvPr/>
        </p:nvSpPr>
        <p:spPr>
          <a:xfrm>
            <a:off x="781812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79" name="TextBox 78"/>
          <p:cNvSpPr txBox="1"/>
          <p:nvPr/>
        </p:nvSpPr>
        <p:spPr>
          <a:xfrm>
            <a:off x="9281160" y="673912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0.142</a:t>
            </a:r>
          </a:p>
        </p:txBody>
      </p:sp>
      <p:sp>
        <p:nvSpPr>
          <p:cNvPr id="80" name="TextBox 79"/>
          <p:cNvSpPr txBox="1"/>
          <p:nvPr/>
        </p:nvSpPr>
        <p:spPr>
          <a:xfrm>
            <a:off x="11018520" y="673912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22/36</a:t>
            </a:r>
          </a:p>
        </p:txBody>
      </p:sp>
      <p:sp>
        <p:nvSpPr>
          <p:cNvPr id="81" name="TextBox 80"/>
          <p:cNvSpPr txBox="1"/>
          <p:nvPr/>
        </p:nvSpPr>
        <p:spPr>
          <a:xfrm>
            <a:off x="822960" y="7406640"/>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"With re-run" folds in the higher-budget answers for prompts that originally hit the output cap. "Finished only" drops every truncated response instead. The two bracket the same quantity from opposite sides: what the model scores when it is allowed to finish.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GPT-6 Astra: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11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G04   N01   P03   S01   S02   S06   S07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0.533</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0.533</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0/15</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0.615</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0.615</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0.625</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0/16</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0.632</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0.632</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0/19</a:t>
            </a:r>
          </a:p>
        </p:txBody>
      </p:sp>
      <p:sp>
        <p:nvSpPr>
          <p:cNvPr id="28" name="TextBox 27"/>
          <p:cNvSpPr txBox="1"/>
          <p:nvPr/>
        </p:nvSpPr>
        <p:spPr>
          <a:xfrm>
            <a:off x="868680" y="4919472"/>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29" name="TextBox 28"/>
          <p:cNvSpPr txBox="1"/>
          <p:nvPr/>
        </p:nvSpPr>
        <p:spPr>
          <a:xfrm>
            <a:off x="2331720" y="4919472"/>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0.667</a:t>
            </a:r>
          </a:p>
        </p:txBody>
      </p:sp>
      <p:sp>
        <p:nvSpPr>
          <p:cNvPr id="30" name="TextBox 29"/>
          <p:cNvSpPr txBox="1"/>
          <p:nvPr/>
        </p:nvSpPr>
        <p:spPr>
          <a:xfrm>
            <a:off x="3794760" y="4919472"/>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0.667</a:t>
            </a:r>
          </a:p>
        </p:txBody>
      </p:sp>
      <p:sp>
        <p:nvSpPr>
          <p:cNvPr id="31" name="TextBox 30"/>
          <p:cNvSpPr txBox="1"/>
          <p:nvPr/>
        </p:nvSpPr>
        <p:spPr>
          <a:xfrm>
            <a:off x="5806440" y="4919472"/>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0/15</a:t>
            </a:r>
          </a:p>
        </p:txBody>
      </p:sp>
      <p:sp>
        <p:nvSpPr>
          <p:cNvPr id="32" name="TextBox 31"/>
          <p:cNvSpPr txBox="1"/>
          <p:nvPr/>
        </p:nvSpPr>
        <p:spPr>
          <a:xfrm>
            <a:off x="868680" y="526694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33" name="TextBox 32"/>
          <p:cNvSpPr txBox="1"/>
          <p:nvPr/>
        </p:nvSpPr>
        <p:spPr>
          <a:xfrm>
            <a:off x="2331720" y="526694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0.733</a:t>
            </a:r>
          </a:p>
        </p:txBody>
      </p:sp>
      <p:sp>
        <p:nvSpPr>
          <p:cNvPr id="34" name="TextBox 33"/>
          <p:cNvSpPr txBox="1"/>
          <p:nvPr/>
        </p:nvSpPr>
        <p:spPr>
          <a:xfrm>
            <a:off x="3794760" y="526694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0.733</a:t>
            </a:r>
          </a:p>
        </p:txBody>
      </p:sp>
      <p:sp>
        <p:nvSpPr>
          <p:cNvPr id="35" name="TextBox 34"/>
          <p:cNvSpPr txBox="1"/>
          <p:nvPr/>
        </p:nvSpPr>
        <p:spPr>
          <a:xfrm>
            <a:off x="5806440" y="526694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0/30</a:t>
            </a:r>
          </a:p>
        </p:txBody>
      </p:sp>
      <p:sp>
        <p:nvSpPr>
          <p:cNvPr id="36" name="TextBox 35"/>
          <p:cNvSpPr txBox="1"/>
          <p:nvPr/>
        </p:nvSpPr>
        <p:spPr>
          <a:xfrm>
            <a:off x="868680" y="561441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37" name="TextBox 36"/>
          <p:cNvSpPr txBox="1"/>
          <p:nvPr/>
        </p:nvSpPr>
        <p:spPr>
          <a:xfrm>
            <a:off x="2331720" y="561441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0.750</a:t>
            </a:r>
          </a:p>
        </p:txBody>
      </p:sp>
      <p:sp>
        <p:nvSpPr>
          <p:cNvPr id="38" name="TextBox 37"/>
          <p:cNvSpPr txBox="1"/>
          <p:nvPr/>
        </p:nvSpPr>
        <p:spPr>
          <a:xfrm>
            <a:off x="3794760" y="561441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0.750</a:t>
            </a:r>
          </a:p>
        </p:txBody>
      </p:sp>
      <p:sp>
        <p:nvSpPr>
          <p:cNvPr id="39" name="TextBox 38"/>
          <p:cNvSpPr txBox="1"/>
          <p:nvPr/>
        </p:nvSpPr>
        <p:spPr>
          <a:xfrm>
            <a:off x="5806440" y="561441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0/16</a:t>
            </a:r>
          </a:p>
        </p:txBody>
      </p:sp>
      <p:sp>
        <p:nvSpPr>
          <p:cNvPr id="40" name="TextBox 39"/>
          <p:cNvSpPr txBox="1"/>
          <p:nvPr/>
        </p:nvSpPr>
        <p:spPr>
          <a:xfrm>
            <a:off x="868680" y="596188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41" name="TextBox 40"/>
          <p:cNvSpPr txBox="1"/>
          <p:nvPr/>
        </p:nvSpPr>
        <p:spPr>
          <a:xfrm>
            <a:off x="2331720" y="596188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0.795</a:t>
            </a:r>
          </a:p>
        </p:txBody>
      </p:sp>
      <p:sp>
        <p:nvSpPr>
          <p:cNvPr id="42" name="TextBox 41"/>
          <p:cNvSpPr txBox="1"/>
          <p:nvPr/>
        </p:nvSpPr>
        <p:spPr>
          <a:xfrm>
            <a:off x="3794760" y="596188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0.795</a:t>
            </a:r>
          </a:p>
        </p:txBody>
      </p:sp>
      <p:sp>
        <p:nvSpPr>
          <p:cNvPr id="43" name="TextBox 42"/>
          <p:cNvSpPr txBox="1"/>
          <p:nvPr/>
        </p:nvSpPr>
        <p:spPr>
          <a:xfrm>
            <a:off x="5806440" y="596188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44" name="TextBox 43"/>
          <p:cNvSpPr txBox="1"/>
          <p:nvPr/>
        </p:nvSpPr>
        <p:spPr>
          <a:xfrm>
            <a:off x="868680" y="6309359"/>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45" name="TextBox 44"/>
          <p:cNvSpPr txBox="1"/>
          <p:nvPr/>
        </p:nvSpPr>
        <p:spPr>
          <a:xfrm>
            <a:off x="2331720" y="6309359"/>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0.812</a:t>
            </a:r>
          </a:p>
        </p:txBody>
      </p:sp>
      <p:sp>
        <p:nvSpPr>
          <p:cNvPr id="46" name="TextBox 45"/>
          <p:cNvSpPr txBox="1"/>
          <p:nvPr/>
        </p:nvSpPr>
        <p:spPr>
          <a:xfrm>
            <a:off x="3794760" y="630935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0.812</a:t>
            </a:r>
          </a:p>
        </p:txBody>
      </p:sp>
      <p:sp>
        <p:nvSpPr>
          <p:cNvPr id="47" name="TextBox 46"/>
          <p:cNvSpPr txBox="1"/>
          <p:nvPr/>
        </p:nvSpPr>
        <p:spPr>
          <a:xfrm>
            <a:off x="5806440" y="6309359"/>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0/16</a:t>
            </a:r>
          </a:p>
        </p:txBody>
      </p:sp>
      <p:sp>
        <p:nvSpPr>
          <p:cNvPr id="48" name="Rounded Rectangle 47"/>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50" name="TextBox 49"/>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0.833</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+0.333</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+0.333</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+0.500</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0.667</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+0.333</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+0.333</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+0.833</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A refusal is not a wrong answer</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GPT-6 Astra produced no unparseable answer in 247 renders. Its eleven zeros are refusals on context-only controls — asked a question with no coordinates supplied, it replied that the answer cannot be determined, which is correct. Its floor on those families measures declining to guess, not guessing badly.</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5" name="TextBox 14"/>
          <p:cNvSpPr txBox="1"/>
          <p:nvPr/>
        </p:nvSpPr>
        <p:spPr>
          <a:xfrm>
            <a:off x="1051560" y="603504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 and narrow</a:t>
            </a:r>
          </a:p>
        </p:txBody>
      </p:sp>
      <p:sp>
        <p:nvSpPr>
          <p:cNvPr id="16" name="TextBox 15"/>
          <p:cNvSpPr txBox="1"/>
          <p:nvPr/>
        </p:nvSpPr>
        <p:spPr>
          <a:xfrm>
            <a:off x="4480560" y="603504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Four of its six candidate proteins are on the burned list — their answers reached a public commit before gold was split out. Underneath that, only 8 of 181 cached structures carry a phosphorylated residue and every one is a phosphotyrosine in an SH2 domain, so the question offers three options and the answer is always the same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